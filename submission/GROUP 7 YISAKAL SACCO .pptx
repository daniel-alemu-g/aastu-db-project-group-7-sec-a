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Canva Sans Bold" charset="1" panose="020B0803030501040103"/>
      <p:regular r:id="rId32"/>
    </p:embeddedFont>
    <p:embeddedFont>
      <p:font typeface="Arimo Bold" charset="1" panose="020B0704020202020204"/>
      <p:regular r:id="rId33"/>
    </p:embeddedFont>
    <p:embeddedFont>
      <p:font typeface="Poppins Bold" charset="1" panose="00000800000000000000"/>
      <p:regular r:id="rId34"/>
    </p:embeddedFont>
    <p:embeddedFont>
      <p:font typeface="Poppins" charset="1" panose="00000500000000000000"/>
      <p:regular r:id="rId35"/>
    </p:embeddedFont>
    <p:embeddedFont>
      <p:font typeface="DM Sans Bold" charset="1" panose="00000000000000000000"/>
      <p:regular r:id="rId36"/>
    </p:embeddedFont>
    <p:embeddedFont>
      <p:font typeface="DM Sans" charset="1" panose="00000000000000000000"/>
      <p:regular r:id="rId37"/>
    </p:embeddedFont>
    <p:embeddedFont>
      <p:font typeface="Canva Sans" charset="1" panose="020B0503030501040103"/>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0.png" Type="http://schemas.openxmlformats.org/officeDocument/2006/relationships/image"/><Relationship Id="rId13" Target="../media/image21.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26.png" Type="http://schemas.openxmlformats.org/officeDocument/2006/relationships/image"/><Relationship Id="rId19" Target="../media/image27.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12" Target="../media/image34.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44.png" Type="http://schemas.openxmlformats.org/officeDocument/2006/relationships/image"/><Relationship Id="rId13" Target="../media/image45.png" Type="http://schemas.openxmlformats.org/officeDocument/2006/relationships/image"/><Relationship Id="rId14" Target="../media/image46.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44.png" Type="http://schemas.openxmlformats.org/officeDocument/2006/relationships/image"/><Relationship Id="rId13" Target="../media/image47.png" Type="http://schemas.openxmlformats.org/officeDocument/2006/relationships/image"/><Relationship Id="rId14" Target="../media/image48.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49.png" Type="http://schemas.openxmlformats.org/officeDocument/2006/relationships/image"/><Relationship Id="rId13" Target="../media/image50.png" Type="http://schemas.openxmlformats.org/officeDocument/2006/relationships/image"/><Relationship Id="rId14" Target="../media/image51.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52.png" Type="http://schemas.openxmlformats.org/officeDocument/2006/relationships/image"/><Relationship Id="rId13" Target="../media/image53.png" Type="http://schemas.openxmlformats.org/officeDocument/2006/relationships/image"/><Relationship Id="rId14" Target="../media/image54.pn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5493C"/>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8288000" cy="8148196"/>
            <a:chOff x="0" y="0"/>
            <a:chExt cx="4816593" cy="2146027"/>
          </a:xfrm>
        </p:grpSpPr>
        <p:sp>
          <p:nvSpPr>
            <p:cNvPr name="Freeform 3" id="3"/>
            <p:cNvSpPr/>
            <p:nvPr/>
          </p:nvSpPr>
          <p:spPr>
            <a:xfrm flipH="false" flipV="false" rot="0">
              <a:off x="0" y="0"/>
              <a:ext cx="4816592" cy="2146027"/>
            </a:xfrm>
            <a:custGeom>
              <a:avLst/>
              <a:gdLst/>
              <a:ahLst/>
              <a:cxnLst/>
              <a:rect r="r" b="b" t="t" l="l"/>
              <a:pathLst>
                <a:path h="2146027" w="4816592">
                  <a:moveTo>
                    <a:pt x="0" y="0"/>
                  </a:moveTo>
                  <a:lnTo>
                    <a:pt x="4816592" y="0"/>
                  </a:lnTo>
                  <a:lnTo>
                    <a:pt x="4816592" y="2146027"/>
                  </a:lnTo>
                  <a:lnTo>
                    <a:pt x="0" y="2146027"/>
                  </a:lnTo>
                  <a:close/>
                </a:path>
              </a:pathLst>
            </a:custGeom>
            <a:solidFill>
              <a:srgbClr val="F2E2C6"/>
            </a:solidFill>
            <a:ln w="38100" cap="sq">
              <a:solidFill>
                <a:srgbClr val="000000"/>
              </a:solidFill>
              <a:prstDash val="solid"/>
              <a:miter/>
            </a:ln>
          </p:spPr>
        </p:sp>
        <p:sp>
          <p:nvSpPr>
            <p:cNvPr name="TextBox 4" id="4"/>
            <p:cNvSpPr txBox="true"/>
            <p:nvPr/>
          </p:nvSpPr>
          <p:spPr>
            <a:xfrm>
              <a:off x="0" y="-66675"/>
              <a:ext cx="4816593" cy="2212702"/>
            </a:xfrm>
            <a:prstGeom prst="rect">
              <a:avLst/>
            </a:prstGeom>
          </p:spPr>
          <p:txBody>
            <a:bodyPr anchor="ctr" rtlCol="false" tIns="50800" lIns="50800" bIns="50800" rIns="50800"/>
            <a:lstStyle/>
            <a:p>
              <a:pPr algn="ctr">
                <a:lnSpc>
                  <a:spcPts val="4759"/>
                </a:lnSpc>
                <a:spcBef>
                  <a:spcPct val="0"/>
                </a:spcBef>
              </a:pPr>
            </a:p>
          </p:txBody>
        </p:sp>
      </p:grpSp>
      <p:grpSp>
        <p:nvGrpSpPr>
          <p:cNvPr name="Group 5" id="5"/>
          <p:cNvGrpSpPr/>
          <p:nvPr/>
        </p:nvGrpSpPr>
        <p:grpSpPr>
          <a:xfrm rot="0">
            <a:off x="217894" y="6261711"/>
            <a:ext cx="810806" cy="81080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5493C"/>
            </a:solidFill>
            <a:ln w="38100" cap="sq">
              <a:solidFill>
                <a:srgbClr val="0000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7602" y="6556729"/>
            <a:ext cx="715525" cy="71552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794255" y="5885956"/>
            <a:ext cx="1028535" cy="1028535"/>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5493C"/>
            </a:solidFill>
            <a:ln w="38100" cap="sq">
              <a:solidFill>
                <a:srgbClr val="0000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695810" y="6261711"/>
            <a:ext cx="1126981" cy="11269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623297" y="4742478"/>
            <a:ext cx="4235997" cy="720640"/>
            <a:chOff x="0" y="0"/>
            <a:chExt cx="1115654" cy="189798"/>
          </a:xfrm>
        </p:grpSpPr>
        <p:sp>
          <p:nvSpPr>
            <p:cNvPr name="Freeform 18" id="18"/>
            <p:cNvSpPr/>
            <p:nvPr/>
          </p:nvSpPr>
          <p:spPr>
            <a:xfrm flipH="false" flipV="false" rot="0">
              <a:off x="0" y="0"/>
              <a:ext cx="1115654" cy="189798"/>
            </a:xfrm>
            <a:custGeom>
              <a:avLst/>
              <a:gdLst/>
              <a:ahLst/>
              <a:cxnLst/>
              <a:rect r="r" b="b" t="t" l="l"/>
              <a:pathLst>
                <a:path h="189798" w="1115654">
                  <a:moveTo>
                    <a:pt x="0" y="0"/>
                  </a:moveTo>
                  <a:lnTo>
                    <a:pt x="1115654" y="0"/>
                  </a:lnTo>
                  <a:lnTo>
                    <a:pt x="1115654" y="189798"/>
                  </a:lnTo>
                  <a:lnTo>
                    <a:pt x="0" y="189798"/>
                  </a:lnTo>
                  <a:close/>
                </a:path>
              </a:pathLst>
            </a:custGeom>
            <a:solidFill>
              <a:srgbClr val="35493C"/>
            </a:solidFill>
            <a:ln w="38100" cap="sq">
              <a:solidFill>
                <a:srgbClr val="000000"/>
              </a:solidFill>
              <a:prstDash val="solid"/>
              <a:miter/>
            </a:ln>
          </p:spPr>
        </p:sp>
        <p:sp>
          <p:nvSpPr>
            <p:cNvPr name="TextBox 19" id="19"/>
            <p:cNvSpPr txBox="true"/>
            <p:nvPr/>
          </p:nvSpPr>
          <p:spPr>
            <a:xfrm>
              <a:off x="0" y="-38100"/>
              <a:ext cx="1115654" cy="22789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0086880" y="4474401"/>
            <a:ext cx="8002600" cy="928146"/>
            <a:chOff x="0" y="0"/>
            <a:chExt cx="2107681" cy="244450"/>
          </a:xfrm>
        </p:grpSpPr>
        <p:sp>
          <p:nvSpPr>
            <p:cNvPr name="Freeform 21" id="21"/>
            <p:cNvSpPr/>
            <p:nvPr/>
          </p:nvSpPr>
          <p:spPr>
            <a:xfrm flipH="false" flipV="false" rot="0">
              <a:off x="0" y="0"/>
              <a:ext cx="2107681" cy="244450"/>
            </a:xfrm>
            <a:custGeom>
              <a:avLst/>
              <a:gdLst/>
              <a:ahLst/>
              <a:cxnLst/>
              <a:rect r="r" b="b" t="t" l="l"/>
              <a:pathLst>
                <a:path h="244450" w="2107681">
                  <a:moveTo>
                    <a:pt x="0" y="0"/>
                  </a:moveTo>
                  <a:lnTo>
                    <a:pt x="2107681" y="0"/>
                  </a:lnTo>
                  <a:lnTo>
                    <a:pt x="2107681" y="244450"/>
                  </a:lnTo>
                  <a:lnTo>
                    <a:pt x="0" y="244450"/>
                  </a:lnTo>
                  <a:close/>
                </a:path>
              </a:pathLst>
            </a:custGeom>
            <a:solidFill>
              <a:srgbClr val="35493C"/>
            </a:solidFill>
            <a:ln w="38100" cap="sq">
              <a:solidFill>
                <a:srgbClr val="000000"/>
              </a:solidFill>
              <a:prstDash val="solid"/>
              <a:miter/>
            </a:ln>
          </p:spPr>
        </p:sp>
        <p:sp>
          <p:nvSpPr>
            <p:cNvPr name="TextBox 22" id="22"/>
            <p:cNvSpPr txBox="true"/>
            <p:nvPr/>
          </p:nvSpPr>
          <p:spPr>
            <a:xfrm>
              <a:off x="0" y="-38100"/>
              <a:ext cx="2107681" cy="28255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287751" y="5916897"/>
            <a:ext cx="17020772" cy="2690368"/>
          </a:xfrm>
          <a:prstGeom prst="rect">
            <a:avLst/>
          </a:prstGeom>
        </p:spPr>
        <p:txBody>
          <a:bodyPr anchor="t" rtlCol="false" tIns="0" lIns="0" bIns="0" rIns="0">
            <a:spAutoFit/>
          </a:bodyPr>
          <a:lstStyle/>
          <a:p>
            <a:pPr algn="ctr">
              <a:lnSpc>
                <a:spcPts val="5104"/>
              </a:lnSpc>
            </a:pPr>
            <a:r>
              <a:rPr lang="en-US" sz="4640" b="true">
                <a:solidFill>
                  <a:srgbClr val="000000"/>
                </a:solidFill>
                <a:latin typeface="Canva Sans Bold"/>
                <a:ea typeface="Canva Sans Bold"/>
                <a:cs typeface="Canva Sans Bold"/>
                <a:sym typeface="Canva Sans Bold"/>
              </a:rPr>
              <a:t>PROJECT TITLE: </a:t>
            </a:r>
            <a:r>
              <a:rPr lang="en-US" sz="4640" b="true">
                <a:solidFill>
                  <a:srgbClr val="298445"/>
                </a:solidFill>
                <a:latin typeface="Canva Sans Bold"/>
                <a:ea typeface="Canva Sans Bold"/>
                <a:cs typeface="Canva Sans Bold"/>
                <a:sym typeface="Canva Sans Bold"/>
              </a:rPr>
              <a:t>YISAKAL SAVING AND CREDIT COOPERATIVE ORGANIZATION DB SYSTEMS.</a:t>
            </a:r>
          </a:p>
          <a:p>
            <a:pPr algn="ctr">
              <a:lnSpc>
                <a:spcPts val="3674"/>
              </a:lnSpc>
            </a:pPr>
            <a:r>
              <a:rPr lang="en-US" sz="3340" b="true">
                <a:solidFill>
                  <a:srgbClr val="298445"/>
                </a:solidFill>
                <a:latin typeface="Canva Sans Bold"/>
                <a:ea typeface="Canva Sans Bold"/>
                <a:cs typeface="Canva Sans Bold"/>
                <a:sym typeface="Canva Sans Bold"/>
              </a:rPr>
              <a:t>(YISAKAL SACCO)</a:t>
            </a:r>
          </a:p>
          <a:p>
            <a:pPr algn="ctr">
              <a:lnSpc>
                <a:spcPts val="7193"/>
              </a:lnSpc>
            </a:pPr>
          </a:p>
        </p:txBody>
      </p:sp>
      <p:sp>
        <p:nvSpPr>
          <p:cNvPr name="AutoShape 24" id="24"/>
          <p:cNvSpPr/>
          <p:nvPr/>
        </p:nvSpPr>
        <p:spPr>
          <a:xfrm>
            <a:off x="866777" y="9817673"/>
            <a:ext cx="16230600" cy="0"/>
          </a:xfrm>
          <a:prstGeom prst="line">
            <a:avLst/>
          </a:prstGeom>
          <a:ln cap="flat" w="133350">
            <a:solidFill>
              <a:srgbClr val="F2E2C6"/>
            </a:solidFill>
            <a:prstDash val="solid"/>
            <a:headEnd type="none" len="sm" w="sm"/>
            <a:tailEnd type="none" len="sm" w="sm"/>
          </a:ln>
        </p:spPr>
      </p:sp>
      <p:sp>
        <p:nvSpPr>
          <p:cNvPr name="Freeform 25" id="25"/>
          <p:cNvSpPr/>
          <p:nvPr/>
        </p:nvSpPr>
        <p:spPr>
          <a:xfrm flipH="false" flipV="false" rot="0">
            <a:off x="2331318" y="1219474"/>
            <a:ext cx="6931100" cy="1920710"/>
          </a:xfrm>
          <a:custGeom>
            <a:avLst/>
            <a:gdLst/>
            <a:ahLst/>
            <a:cxnLst/>
            <a:rect r="r" b="b" t="t" l="l"/>
            <a:pathLst>
              <a:path h="1920710" w="6931100">
                <a:moveTo>
                  <a:pt x="0" y="0"/>
                </a:moveTo>
                <a:lnTo>
                  <a:pt x="6931100" y="0"/>
                </a:lnTo>
                <a:lnTo>
                  <a:pt x="6931100" y="1920710"/>
                </a:lnTo>
                <a:lnTo>
                  <a:pt x="0" y="1920710"/>
                </a:lnTo>
                <a:lnTo>
                  <a:pt x="0" y="0"/>
                </a:lnTo>
                <a:close/>
              </a:path>
            </a:pathLst>
          </a:custGeom>
          <a:blipFill>
            <a:blip r:embed="rId2"/>
            <a:stretch>
              <a:fillRect l="0" t="-1873" r="0" b="-1873"/>
            </a:stretch>
          </a:blipFill>
        </p:spPr>
      </p:sp>
      <p:grpSp>
        <p:nvGrpSpPr>
          <p:cNvPr name="Group 26" id="26"/>
          <p:cNvGrpSpPr/>
          <p:nvPr/>
        </p:nvGrpSpPr>
        <p:grpSpPr>
          <a:xfrm rot="0">
            <a:off x="11024067" y="7687974"/>
            <a:ext cx="6073311" cy="928146"/>
            <a:chOff x="0" y="0"/>
            <a:chExt cx="1599555" cy="244450"/>
          </a:xfrm>
        </p:grpSpPr>
        <p:sp>
          <p:nvSpPr>
            <p:cNvPr name="Freeform 27" id="27"/>
            <p:cNvSpPr/>
            <p:nvPr/>
          </p:nvSpPr>
          <p:spPr>
            <a:xfrm flipH="false" flipV="false" rot="0">
              <a:off x="0" y="0"/>
              <a:ext cx="1599555" cy="244450"/>
            </a:xfrm>
            <a:custGeom>
              <a:avLst/>
              <a:gdLst/>
              <a:ahLst/>
              <a:cxnLst/>
              <a:rect r="r" b="b" t="t" l="l"/>
              <a:pathLst>
                <a:path h="244450" w="1599555">
                  <a:moveTo>
                    <a:pt x="0" y="0"/>
                  </a:moveTo>
                  <a:lnTo>
                    <a:pt x="1599555" y="0"/>
                  </a:lnTo>
                  <a:lnTo>
                    <a:pt x="1599555" y="244450"/>
                  </a:lnTo>
                  <a:lnTo>
                    <a:pt x="0" y="244450"/>
                  </a:lnTo>
                  <a:close/>
                </a:path>
              </a:pathLst>
            </a:custGeom>
            <a:solidFill>
              <a:srgbClr val="35493C"/>
            </a:solidFill>
            <a:ln w="38100" cap="sq">
              <a:solidFill>
                <a:srgbClr val="000000"/>
              </a:solidFill>
              <a:prstDash val="solid"/>
              <a:miter/>
            </a:ln>
          </p:spPr>
        </p:sp>
        <p:sp>
          <p:nvSpPr>
            <p:cNvPr name="TextBox 28" id="28"/>
            <p:cNvSpPr txBox="true"/>
            <p:nvPr/>
          </p:nvSpPr>
          <p:spPr>
            <a:xfrm>
              <a:off x="0" y="-38100"/>
              <a:ext cx="1599555" cy="282550"/>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1273127" y="7272253"/>
            <a:ext cx="2263504" cy="1436296"/>
          </a:xfrm>
          <a:custGeom>
            <a:avLst/>
            <a:gdLst/>
            <a:ahLst/>
            <a:cxnLst/>
            <a:rect r="r" b="b" t="t" l="l"/>
            <a:pathLst>
              <a:path h="1436296" w="2263504">
                <a:moveTo>
                  <a:pt x="0" y="0"/>
                </a:moveTo>
                <a:lnTo>
                  <a:pt x="2263504" y="0"/>
                </a:lnTo>
                <a:lnTo>
                  <a:pt x="2263504" y="1436296"/>
                </a:lnTo>
                <a:lnTo>
                  <a:pt x="0" y="1436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0" id="30"/>
          <p:cNvSpPr txBox="true"/>
          <p:nvPr/>
        </p:nvSpPr>
        <p:spPr>
          <a:xfrm rot="0">
            <a:off x="623297" y="4756406"/>
            <a:ext cx="4235997" cy="575364"/>
          </a:xfrm>
          <a:prstGeom prst="rect">
            <a:avLst/>
          </a:prstGeom>
        </p:spPr>
        <p:txBody>
          <a:bodyPr anchor="t" rtlCol="false" tIns="0" lIns="0" bIns="0" rIns="0">
            <a:spAutoFit/>
          </a:bodyPr>
          <a:lstStyle/>
          <a:p>
            <a:pPr algn="ctr">
              <a:lnSpc>
                <a:spcPts val="4512"/>
              </a:lnSpc>
            </a:pPr>
            <a:r>
              <a:rPr lang="en-US" b="true" sz="3222">
                <a:solidFill>
                  <a:srgbClr val="FFFFFF"/>
                </a:solidFill>
                <a:latin typeface="Arimo Bold"/>
                <a:ea typeface="Arimo Bold"/>
                <a:cs typeface="Arimo Bold"/>
                <a:sym typeface="Arimo Bold"/>
              </a:rPr>
              <a:t>[Da</a:t>
            </a:r>
            <a:r>
              <a:rPr lang="en-US" b="true" sz="3222">
                <a:solidFill>
                  <a:srgbClr val="FFFFFF"/>
                </a:solidFill>
                <a:latin typeface="Arimo Bold"/>
                <a:ea typeface="Arimo Bold"/>
                <a:cs typeface="Arimo Bold"/>
                <a:sym typeface="Arimo Bold"/>
              </a:rPr>
              <a:t>tabaseSystems]</a:t>
            </a:r>
          </a:p>
        </p:txBody>
      </p:sp>
      <p:sp>
        <p:nvSpPr>
          <p:cNvPr name="TextBox 31" id="31"/>
          <p:cNvSpPr txBox="true"/>
          <p:nvPr/>
        </p:nvSpPr>
        <p:spPr>
          <a:xfrm rot="0">
            <a:off x="2331318" y="3485124"/>
            <a:ext cx="4235997" cy="714429"/>
          </a:xfrm>
          <a:prstGeom prst="rect">
            <a:avLst/>
          </a:prstGeom>
        </p:spPr>
        <p:txBody>
          <a:bodyPr anchor="t" rtlCol="false" tIns="0" lIns="0" bIns="0" rIns="0">
            <a:spAutoFit/>
          </a:bodyPr>
          <a:lstStyle/>
          <a:p>
            <a:pPr algn="ctr">
              <a:lnSpc>
                <a:spcPts val="5772"/>
              </a:lnSpc>
            </a:pPr>
            <a:r>
              <a:rPr lang="en-US" b="true" sz="4122">
                <a:solidFill>
                  <a:srgbClr val="000000"/>
                </a:solidFill>
                <a:latin typeface="Arimo Bold"/>
                <a:ea typeface="Arimo Bold"/>
                <a:cs typeface="Arimo Bold"/>
                <a:sym typeface="Arimo Bold"/>
              </a:rPr>
              <a:t>[SWEG2108]</a:t>
            </a:r>
          </a:p>
        </p:txBody>
      </p:sp>
      <p:sp>
        <p:nvSpPr>
          <p:cNvPr name="TextBox 32" id="32"/>
          <p:cNvSpPr txBox="true"/>
          <p:nvPr/>
        </p:nvSpPr>
        <p:spPr>
          <a:xfrm rot="0">
            <a:off x="10316556" y="4449992"/>
            <a:ext cx="7488333" cy="736653"/>
          </a:xfrm>
          <a:prstGeom prst="rect">
            <a:avLst/>
          </a:prstGeom>
        </p:spPr>
        <p:txBody>
          <a:bodyPr anchor="t" rtlCol="false" tIns="0" lIns="0" bIns="0" rIns="0">
            <a:spAutoFit/>
          </a:bodyPr>
          <a:lstStyle/>
          <a:p>
            <a:pPr algn="ctr">
              <a:lnSpc>
                <a:spcPts val="2972"/>
              </a:lnSpc>
            </a:pPr>
            <a:r>
              <a:rPr lang="en-US" b="true" sz="2122">
                <a:solidFill>
                  <a:srgbClr val="FFFFFF"/>
                </a:solidFill>
                <a:latin typeface="Arimo Bold"/>
                <a:ea typeface="Arimo Bold"/>
                <a:cs typeface="Arimo Bold"/>
                <a:sym typeface="Arimo Bold"/>
              </a:rPr>
              <a:t>College of [Engineering]Department of [</a:t>
            </a:r>
            <a:r>
              <a:rPr lang="en-US" b="true" sz="2122">
                <a:solidFill>
                  <a:srgbClr val="FFFFFF"/>
                </a:solidFill>
                <a:latin typeface="Arimo Bold"/>
                <a:ea typeface="Arimo Bold"/>
                <a:cs typeface="Arimo Bold"/>
                <a:sym typeface="Arimo Bold"/>
              </a:rPr>
              <a:t>Software Engineering]</a:t>
            </a:r>
          </a:p>
        </p:txBody>
      </p:sp>
      <p:sp>
        <p:nvSpPr>
          <p:cNvPr name="TextBox 33" id="33"/>
          <p:cNvSpPr txBox="true"/>
          <p:nvPr/>
        </p:nvSpPr>
        <p:spPr>
          <a:xfrm rot="0">
            <a:off x="11382104" y="7777178"/>
            <a:ext cx="5412151" cy="598859"/>
          </a:xfrm>
          <a:prstGeom prst="rect">
            <a:avLst/>
          </a:prstGeom>
        </p:spPr>
        <p:txBody>
          <a:bodyPr anchor="t" rtlCol="false" tIns="0" lIns="0" bIns="0" rIns="0">
            <a:spAutoFit/>
          </a:bodyPr>
          <a:lstStyle/>
          <a:p>
            <a:pPr algn="ctr">
              <a:lnSpc>
                <a:spcPts val="4792"/>
              </a:lnSpc>
            </a:pPr>
            <a:r>
              <a:rPr lang="en-US" b="true" sz="3422">
                <a:solidFill>
                  <a:srgbClr val="FFFFFF"/>
                </a:solidFill>
                <a:latin typeface="Arimo Bold"/>
                <a:ea typeface="Arimo Bold"/>
                <a:cs typeface="Arimo Bold"/>
                <a:sym typeface="Arimo Bold"/>
              </a:rPr>
              <a:t>21/05/</a:t>
            </a:r>
            <a:r>
              <a:rPr lang="en-US" b="true" sz="3422">
                <a:solidFill>
                  <a:srgbClr val="FFFFFF"/>
                </a:solidFill>
                <a:latin typeface="Arimo Bold"/>
                <a:ea typeface="Arimo Bold"/>
                <a:cs typeface="Arimo Bold"/>
                <a:sym typeface="Arimo Bold"/>
              </a:rPr>
              <a:t>2026</a:t>
            </a:r>
          </a:p>
        </p:txBody>
      </p:sp>
      <p:sp>
        <p:nvSpPr>
          <p:cNvPr name="Freeform 34" id="34"/>
          <p:cNvSpPr/>
          <p:nvPr/>
        </p:nvSpPr>
        <p:spPr>
          <a:xfrm flipH="false" flipV="false" rot="0">
            <a:off x="13187284" y="1904630"/>
            <a:ext cx="2263504" cy="1436296"/>
          </a:xfrm>
          <a:custGeom>
            <a:avLst/>
            <a:gdLst/>
            <a:ahLst/>
            <a:cxnLst/>
            <a:rect r="r" b="b" t="t" l="l"/>
            <a:pathLst>
              <a:path h="1436296" w="2263504">
                <a:moveTo>
                  <a:pt x="0" y="0"/>
                </a:moveTo>
                <a:lnTo>
                  <a:pt x="2263504" y="0"/>
                </a:lnTo>
                <a:lnTo>
                  <a:pt x="2263504" y="1436296"/>
                </a:lnTo>
                <a:lnTo>
                  <a:pt x="0" y="1436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0" y="351414"/>
            <a:ext cx="17463305" cy="9584172"/>
            <a:chOff x="0" y="0"/>
            <a:chExt cx="4599389" cy="2524226"/>
          </a:xfrm>
        </p:grpSpPr>
        <p:sp>
          <p:nvSpPr>
            <p:cNvPr name="Freeform 3" id="3"/>
            <p:cNvSpPr/>
            <p:nvPr/>
          </p:nvSpPr>
          <p:spPr>
            <a:xfrm flipH="false" flipV="false" rot="0">
              <a:off x="0" y="0"/>
              <a:ext cx="4599389" cy="2524226"/>
            </a:xfrm>
            <a:custGeom>
              <a:avLst/>
              <a:gdLst/>
              <a:ahLst/>
              <a:cxnLst/>
              <a:rect r="r" b="b" t="t" l="l"/>
              <a:pathLst>
                <a:path h="2524226" w="4599389">
                  <a:moveTo>
                    <a:pt x="22610" y="0"/>
                  </a:moveTo>
                  <a:lnTo>
                    <a:pt x="4576780" y="0"/>
                  </a:lnTo>
                  <a:cubicBezTo>
                    <a:pt x="4589266" y="0"/>
                    <a:pt x="4599389" y="10123"/>
                    <a:pt x="4599389" y="22610"/>
                  </a:cubicBezTo>
                  <a:lnTo>
                    <a:pt x="4599389" y="2501617"/>
                  </a:lnTo>
                  <a:cubicBezTo>
                    <a:pt x="4599389" y="2507613"/>
                    <a:pt x="4597007" y="2513364"/>
                    <a:pt x="4592767" y="2517604"/>
                  </a:cubicBezTo>
                  <a:cubicBezTo>
                    <a:pt x="4588527" y="2521844"/>
                    <a:pt x="4582776" y="2524226"/>
                    <a:pt x="4576780" y="2524226"/>
                  </a:cubicBezTo>
                  <a:lnTo>
                    <a:pt x="22610" y="2524226"/>
                  </a:lnTo>
                  <a:cubicBezTo>
                    <a:pt x="10123" y="2524226"/>
                    <a:pt x="0" y="2514104"/>
                    <a:pt x="0" y="2501617"/>
                  </a:cubicBezTo>
                  <a:lnTo>
                    <a:pt x="0" y="22610"/>
                  </a:lnTo>
                  <a:cubicBezTo>
                    <a:pt x="0" y="10123"/>
                    <a:pt x="10123" y="0"/>
                    <a:pt x="22610" y="0"/>
                  </a:cubicBezTo>
                  <a:close/>
                </a:path>
              </a:pathLst>
            </a:custGeom>
            <a:solidFill>
              <a:srgbClr val="FFFFFF"/>
            </a:solidFill>
          </p:spPr>
        </p:sp>
        <p:sp>
          <p:nvSpPr>
            <p:cNvPr name="TextBox 4" id="4"/>
            <p:cNvSpPr txBox="true"/>
            <p:nvPr/>
          </p:nvSpPr>
          <p:spPr>
            <a:xfrm>
              <a:off x="0" y="-57150"/>
              <a:ext cx="4599389" cy="2581376"/>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427376" y="2054947"/>
            <a:ext cx="13584751" cy="3088553"/>
            <a:chOff x="0" y="0"/>
            <a:chExt cx="3577877" cy="813446"/>
          </a:xfrm>
        </p:grpSpPr>
        <p:sp>
          <p:nvSpPr>
            <p:cNvPr name="Freeform 6" id="6"/>
            <p:cNvSpPr/>
            <p:nvPr/>
          </p:nvSpPr>
          <p:spPr>
            <a:xfrm flipH="false" flipV="false" rot="0">
              <a:off x="0" y="0"/>
              <a:ext cx="3577877" cy="813446"/>
            </a:xfrm>
            <a:custGeom>
              <a:avLst/>
              <a:gdLst/>
              <a:ahLst/>
              <a:cxnLst/>
              <a:rect r="r" b="b" t="t" l="l"/>
              <a:pathLst>
                <a:path h="813446" w="3577877">
                  <a:moveTo>
                    <a:pt x="29065" y="0"/>
                  </a:moveTo>
                  <a:lnTo>
                    <a:pt x="3548812" y="0"/>
                  </a:lnTo>
                  <a:cubicBezTo>
                    <a:pt x="3556520" y="0"/>
                    <a:pt x="3563913" y="3062"/>
                    <a:pt x="3569364" y="8513"/>
                  </a:cubicBezTo>
                  <a:cubicBezTo>
                    <a:pt x="3574814" y="13964"/>
                    <a:pt x="3577877" y="21356"/>
                    <a:pt x="3577877" y="29065"/>
                  </a:cubicBezTo>
                  <a:lnTo>
                    <a:pt x="3577877" y="784381"/>
                  </a:lnTo>
                  <a:cubicBezTo>
                    <a:pt x="3577877" y="800433"/>
                    <a:pt x="3564864" y="813446"/>
                    <a:pt x="3548812" y="813446"/>
                  </a:cubicBezTo>
                  <a:lnTo>
                    <a:pt x="29065" y="813446"/>
                  </a:lnTo>
                  <a:cubicBezTo>
                    <a:pt x="13013" y="813446"/>
                    <a:pt x="0" y="800433"/>
                    <a:pt x="0" y="784381"/>
                  </a:cubicBezTo>
                  <a:lnTo>
                    <a:pt x="0" y="29065"/>
                  </a:lnTo>
                  <a:cubicBezTo>
                    <a:pt x="0" y="13013"/>
                    <a:pt x="13013" y="0"/>
                    <a:pt x="29065" y="0"/>
                  </a:cubicBezTo>
                  <a:close/>
                </a:path>
              </a:pathLst>
            </a:custGeom>
            <a:solidFill>
              <a:srgbClr val="3A5A9A"/>
            </a:solidFill>
          </p:spPr>
        </p:sp>
        <p:sp>
          <p:nvSpPr>
            <p:cNvPr name="TextBox 7" id="7"/>
            <p:cNvSpPr txBox="true"/>
            <p:nvPr/>
          </p:nvSpPr>
          <p:spPr>
            <a:xfrm>
              <a:off x="0" y="-57150"/>
              <a:ext cx="3577877" cy="870596"/>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1096677" y="9096988"/>
            <a:ext cx="6162623" cy="1190012"/>
            <a:chOff x="0" y="0"/>
            <a:chExt cx="1623078" cy="313419"/>
          </a:xfrm>
        </p:grpSpPr>
        <p:sp>
          <p:nvSpPr>
            <p:cNvPr name="Freeform 9" id="9"/>
            <p:cNvSpPr/>
            <p:nvPr/>
          </p:nvSpPr>
          <p:spPr>
            <a:xfrm flipH="false" flipV="false" rot="0">
              <a:off x="22942" y="0"/>
              <a:ext cx="1577193" cy="313419"/>
            </a:xfrm>
            <a:custGeom>
              <a:avLst/>
              <a:gdLst/>
              <a:ahLst/>
              <a:cxnLst/>
              <a:rect r="r" b="b" t="t" l="l"/>
              <a:pathLst>
                <a:path h="313419" w="1577193">
                  <a:moveTo>
                    <a:pt x="230509" y="0"/>
                  </a:moveTo>
                  <a:lnTo>
                    <a:pt x="1346685" y="0"/>
                  </a:lnTo>
                  <a:cubicBezTo>
                    <a:pt x="1378021" y="0"/>
                    <a:pt x="1407225" y="15871"/>
                    <a:pt x="1424272" y="42165"/>
                  </a:cubicBezTo>
                  <a:lnTo>
                    <a:pt x="1572799" y="271254"/>
                  </a:lnTo>
                  <a:cubicBezTo>
                    <a:pt x="1578244" y="279652"/>
                    <a:pt x="1578658" y="290356"/>
                    <a:pt x="1573879" y="299150"/>
                  </a:cubicBezTo>
                  <a:cubicBezTo>
                    <a:pt x="1569100" y="307944"/>
                    <a:pt x="1559893" y="313419"/>
                    <a:pt x="1549885" y="313419"/>
                  </a:cubicBezTo>
                  <a:lnTo>
                    <a:pt x="27309" y="313419"/>
                  </a:lnTo>
                  <a:cubicBezTo>
                    <a:pt x="17300" y="313419"/>
                    <a:pt x="8094" y="307944"/>
                    <a:pt x="3315" y="299150"/>
                  </a:cubicBezTo>
                  <a:cubicBezTo>
                    <a:pt x="-1464" y="290356"/>
                    <a:pt x="-1050" y="279652"/>
                    <a:pt x="4395" y="271254"/>
                  </a:cubicBezTo>
                  <a:lnTo>
                    <a:pt x="152921" y="42165"/>
                  </a:lnTo>
                  <a:cubicBezTo>
                    <a:pt x="169968" y="15871"/>
                    <a:pt x="199172" y="0"/>
                    <a:pt x="230509" y="0"/>
                  </a:cubicBezTo>
                  <a:close/>
                </a:path>
              </a:pathLst>
            </a:custGeom>
            <a:solidFill>
              <a:srgbClr val="C8E5EB"/>
            </a:solidFill>
          </p:spPr>
        </p:sp>
        <p:sp>
          <p:nvSpPr>
            <p:cNvPr name="TextBox 10" id="10"/>
            <p:cNvSpPr txBox="true"/>
            <p:nvPr/>
          </p:nvSpPr>
          <p:spPr>
            <a:xfrm>
              <a:off x="127000" y="-57150"/>
              <a:ext cx="1369078" cy="370569"/>
            </a:xfrm>
            <a:prstGeom prst="rect">
              <a:avLst/>
            </a:prstGeom>
          </p:spPr>
          <p:txBody>
            <a:bodyPr anchor="ctr" rtlCol="false" tIns="50800" lIns="50800" bIns="50800" rIns="50800"/>
            <a:lstStyle/>
            <a:p>
              <a:pPr algn="ctr">
                <a:lnSpc>
                  <a:spcPts val="2940"/>
                </a:lnSpc>
              </a:pPr>
            </a:p>
          </p:txBody>
        </p:sp>
      </p:grpSp>
      <p:sp>
        <p:nvSpPr>
          <p:cNvPr name="Freeform 11" id="11"/>
          <p:cNvSpPr/>
          <p:nvPr/>
        </p:nvSpPr>
        <p:spPr>
          <a:xfrm flipH="false" flipV="false" rot="0">
            <a:off x="15720724" y="9258300"/>
            <a:ext cx="733551" cy="678868"/>
          </a:xfrm>
          <a:custGeom>
            <a:avLst/>
            <a:gdLst/>
            <a:ahLst/>
            <a:cxnLst/>
            <a:rect r="r" b="b" t="t" l="l"/>
            <a:pathLst>
              <a:path h="678868" w="733551">
                <a:moveTo>
                  <a:pt x="0" y="0"/>
                </a:moveTo>
                <a:lnTo>
                  <a:pt x="733551" y="0"/>
                </a:lnTo>
                <a:lnTo>
                  <a:pt x="733551" y="678868"/>
                </a:lnTo>
                <a:lnTo>
                  <a:pt x="0" y="678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5817372" y="305271"/>
            <a:ext cx="4116561" cy="5440088"/>
          </a:xfrm>
          <a:custGeom>
            <a:avLst/>
            <a:gdLst/>
            <a:ahLst/>
            <a:cxnLst/>
            <a:rect r="r" b="b" t="t" l="l"/>
            <a:pathLst>
              <a:path h="5440088" w="4116561">
                <a:moveTo>
                  <a:pt x="4116561" y="0"/>
                </a:moveTo>
                <a:lnTo>
                  <a:pt x="0" y="0"/>
                </a:lnTo>
                <a:lnTo>
                  <a:pt x="0" y="5440088"/>
                </a:lnTo>
                <a:lnTo>
                  <a:pt x="4116561" y="5440088"/>
                </a:lnTo>
                <a:lnTo>
                  <a:pt x="411656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079664" y="5549181"/>
            <a:ext cx="7725705" cy="4048553"/>
            <a:chOff x="0" y="0"/>
            <a:chExt cx="2034753" cy="1066285"/>
          </a:xfrm>
        </p:grpSpPr>
        <p:sp>
          <p:nvSpPr>
            <p:cNvPr name="Freeform 14" id="14"/>
            <p:cNvSpPr/>
            <p:nvPr/>
          </p:nvSpPr>
          <p:spPr>
            <a:xfrm flipH="false" flipV="false" rot="0">
              <a:off x="0" y="0"/>
              <a:ext cx="2034754" cy="1066285"/>
            </a:xfrm>
            <a:custGeom>
              <a:avLst/>
              <a:gdLst/>
              <a:ahLst/>
              <a:cxnLst/>
              <a:rect r="r" b="b" t="t" l="l"/>
              <a:pathLst>
                <a:path h="1066285" w="2034754">
                  <a:moveTo>
                    <a:pt x="51107" y="0"/>
                  </a:moveTo>
                  <a:lnTo>
                    <a:pt x="1983647" y="0"/>
                  </a:lnTo>
                  <a:cubicBezTo>
                    <a:pt x="1997201" y="0"/>
                    <a:pt x="2010200" y="5384"/>
                    <a:pt x="2019785" y="14969"/>
                  </a:cubicBezTo>
                  <a:cubicBezTo>
                    <a:pt x="2029369" y="24553"/>
                    <a:pt x="2034754" y="37553"/>
                    <a:pt x="2034754" y="51107"/>
                  </a:cubicBezTo>
                  <a:lnTo>
                    <a:pt x="2034754" y="1015178"/>
                  </a:lnTo>
                  <a:cubicBezTo>
                    <a:pt x="2034754" y="1028733"/>
                    <a:pt x="2029369" y="1041732"/>
                    <a:pt x="2019785" y="1051317"/>
                  </a:cubicBezTo>
                  <a:cubicBezTo>
                    <a:pt x="2010200" y="1060901"/>
                    <a:pt x="1997201" y="1066285"/>
                    <a:pt x="1983647" y="1066285"/>
                  </a:cubicBezTo>
                  <a:lnTo>
                    <a:pt x="51107" y="1066285"/>
                  </a:lnTo>
                  <a:cubicBezTo>
                    <a:pt x="37553" y="1066285"/>
                    <a:pt x="24553" y="1060901"/>
                    <a:pt x="14969" y="1051317"/>
                  </a:cubicBezTo>
                  <a:cubicBezTo>
                    <a:pt x="5384" y="1041732"/>
                    <a:pt x="0" y="1028733"/>
                    <a:pt x="0" y="1015178"/>
                  </a:cubicBezTo>
                  <a:lnTo>
                    <a:pt x="0" y="51107"/>
                  </a:lnTo>
                  <a:cubicBezTo>
                    <a:pt x="0" y="37553"/>
                    <a:pt x="5384" y="24553"/>
                    <a:pt x="14969" y="14969"/>
                  </a:cubicBezTo>
                  <a:cubicBezTo>
                    <a:pt x="24553" y="5384"/>
                    <a:pt x="37553" y="0"/>
                    <a:pt x="51107" y="0"/>
                  </a:cubicBezTo>
                  <a:close/>
                </a:path>
              </a:pathLst>
            </a:custGeom>
            <a:solidFill>
              <a:srgbClr val="3A5A9A"/>
            </a:solidFill>
          </p:spPr>
        </p:sp>
        <p:sp>
          <p:nvSpPr>
            <p:cNvPr name="TextBox 15" id="15"/>
            <p:cNvSpPr txBox="true"/>
            <p:nvPr/>
          </p:nvSpPr>
          <p:spPr>
            <a:xfrm>
              <a:off x="0" y="-57150"/>
              <a:ext cx="2034753" cy="1123435"/>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9144000" y="5745359"/>
            <a:ext cx="8137330" cy="4036436"/>
            <a:chOff x="0" y="0"/>
            <a:chExt cx="2143165" cy="1063094"/>
          </a:xfrm>
        </p:grpSpPr>
        <p:sp>
          <p:nvSpPr>
            <p:cNvPr name="Freeform 17" id="17"/>
            <p:cNvSpPr/>
            <p:nvPr/>
          </p:nvSpPr>
          <p:spPr>
            <a:xfrm flipH="false" flipV="false" rot="0">
              <a:off x="0" y="0"/>
              <a:ext cx="2143165" cy="1063094"/>
            </a:xfrm>
            <a:custGeom>
              <a:avLst/>
              <a:gdLst/>
              <a:ahLst/>
              <a:cxnLst/>
              <a:rect r="r" b="b" t="t" l="l"/>
              <a:pathLst>
                <a:path h="1063094" w="2143165">
                  <a:moveTo>
                    <a:pt x="48522" y="0"/>
                  </a:moveTo>
                  <a:lnTo>
                    <a:pt x="2094643" y="0"/>
                  </a:lnTo>
                  <a:cubicBezTo>
                    <a:pt x="2107512" y="0"/>
                    <a:pt x="2119854" y="5112"/>
                    <a:pt x="2128953" y="14212"/>
                  </a:cubicBezTo>
                  <a:cubicBezTo>
                    <a:pt x="2138053" y="23311"/>
                    <a:pt x="2143165" y="35653"/>
                    <a:pt x="2143165" y="48522"/>
                  </a:cubicBezTo>
                  <a:lnTo>
                    <a:pt x="2143165" y="1014573"/>
                  </a:lnTo>
                  <a:cubicBezTo>
                    <a:pt x="2143165" y="1027441"/>
                    <a:pt x="2138053" y="1039783"/>
                    <a:pt x="2128953" y="1048883"/>
                  </a:cubicBezTo>
                  <a:cubicBezTo>
                    <a:pt x="2119854" y="1057982"/>
                    <a:pt x="2107512" y="1063094"/>
                    <a:pt x="2094643" y="1063094"/>
                  </a:cubicBezTo>
                  <a:lnTo>
                    <a:pt x="48522" y="1063094"/>
                  </a:lnTo>
                  <a:cubicBezTo>
                    <a:pt x="35653" y="1063094"/>
                    <a:pt x="23311" y="1057982"/>
                    <a:pt x="14212" y="1048883"/>
                  </a:cubicBezTo>
                  <a:cubicBezTo>
                    <a:pt x="5112" y="1039783"/>
                    <a:pt x="0" y="1027441"/>
                    <a:pt x="0" y="1014573"/>
                  </a:cubicBezTo>
                  <a:lnTo>
                    <a:pt x="0" y="48522"/>
                  </a:lnTo>
                  <a:cubicBezTo>
                    <a:pt x="0" y="35653"/>
                    <a:pt x="5112" y="23311"/>
                    <a:pt x="14212" y="14212"/>
                  </a:cubicBezTo>
                  <a:cubicBezTo>
                    <a:pt x="23311" y="5112"/>
                    <a:pt x="35653" y="0"/>
                    <a:pt x="48522" y="0"/>
                  </a:cubicBezTo>
                  <a:close/>
                </a:path>
              </a:pathLst>
            </a:custGeom>
            <a:solidFill>
              <a:srgbClr val="3A5A9A"/>
            </a:solidFill>
          </p:spPr>
        </p:sp>
        <p:sp>
          <p:nvSpPr>
            <p:cNvPr name="TextBox 18" id="18"/>
            <p:cNvSpPr txBox="true"/>
            <p:nvPr/>
          </p:nvSpPr>
          <p:spPr>
            <a:xfrm>
              <a:off x="0" y="-57150"/>
              <a:ext cx="2143165" cy="1120244"/>
            </a:xfrm>
            <a:prstGeom prst="rect">
              <a:avLst/>
            </a:prstGeom>
          </p:spPr>
          <p:txBody>
            <a:bodyPr anchor="ctr" rtlCol="false" tIns="50800" lIns="50800" bIns="50800" rIns="50800"/>
            <a:lstStyle/>
            <a:p>
              <a:pPr algn="ctr">
                <a:lnSpc>
                  <a:spcPts val="2940"/>
                </a:lnSpc>
              </a:pPr>
            </a:p>
          </p:txBody>
        </p:sp>
      </p:grpSp>
      <p:sp>
        <p:nvSpPr>
          <p:cNvPr name="Freeform 19" id="19"/>
          <p:cNvSpPr/>
          <p:nvPr/>
        </p:nvSpPr>
        <p:spPr>
          <a:xfrm flipH="false" flipV="false" rot="0">
            <a:off x="419622" y="621905"/>
            <a:ext cx="1665433" cy="1665433"/>
          </a:xfrm>
          <a:custGeom>
            <a:avLst/>
            <a:gdLst/>
            <a:ahLst/>
            <a:cxnLst/>
            <a:rect r="r" b="b" t="t" l="l"/>
            <a:pathLst>
              <a:path h="1665433" w="1665433">
                <a:moveTo>
                  <a:pt x="0" y="0"/>
                </a:moveTo>
                <a:lnTo>
                  <a:pt x="1665433" y="0"/>
                </a:lnTo>
                <a:lnTo>
                  <a:pt x="1665433" y="1665433"/>
                </a:lnTo>
                <a:lnTo>
                  <a:pt x="0" y="1665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1902643" y="1986103"/>
            <a:ext cx="12634216" cy="3196089"/>
          </a:xfrm>
          <a:prstGeom prst="rect">
            <a:avLst/>
          </a:prstGeom>
        </p:spPr>
        <p:txBody>
          <a:bodyPr anchor="t" rtlCol="false" tIns="0" lIns="0" bIns="0" rIns="0">
            <a:spAutoFit/>
          </a:bodyPr>
          <a:lstStyle/>
          <a:p>
            <a:pPr algn="just">
              <a:lnSpc>
                <a:spcPts val="4347"/>
              </a:lnSpc>
            </a:pPr>
          </a:p>
          <a:p>
            <a:pPr algn="just">
              <a:lnSpc>
                <a:spcPts val="3477"/>
              </a:lnSpc>
            </a:pPr>
            <a:r>
              <a:rPr lang="en-US" sz="2484" b="true">
                <a:solidFill>
                  <a:srgbClr val="FFFFFF"/>
                </a:solidFill>
                <a:latin typeface="Poppins Bold"/>
                <a:ea typeface="Poppins Bold"/>
                <a:cs typeface="Poppins Bold"/>
                <a:sym typeface="Poppins Bold"/>
              </a:rPr>
              <a:t>Background</a:t>
            </a:r>
          </a:p>
          <a:p>
            <a:pPr algn="just">
              <a:lnSpc>
                <a:spcPts val="3477"/>
              </a:lnSpc>
              <a:spcBef>
                <a:spcPct val="0"/>
              </a:spcBef>
            </a:pPr>
            <a:r>
              <a:rPr lang="en-US" sz="2484">
                <a:solidFill>
                  <a:srgbClr val="FFFFFF"/>
                </a:solidFill>
                <a:latin typeface="Poppins"/>
                <a:ea typeface="Poppins"/>
                <a:cs typeface="Poppins"/>
                <a:sym typeface="Poppins"/>
              </a:rPr>
              <a:t>Y</a:t>
            </a:r>
            <a:r>
              <a:rPr lang="en-US" sz="2484">
                <a:solidFill>
                  <a:srgbClr val="FFFFFF"/>
                </a:solidFill>
                <a:latin typeface="Poppins"/>
                <a:ea typeface="Poppins"/>
                <a:cs typeface="Poppins"/>
                <a:sym typeface="Poppins"/>
              </a:rPr>
              <a:t>isakal SACCO is a financial cooperative established in Addis Ababa in 2026. It provides savings, loans, and micro-finance services to members. Due to increasing transactions and members, the organization needs a modern database system.</a:t>
            </a:r>
          </a:p>
          <a:p>
            <a:pPr algn="just">
              <a:lnSpc>
                <a:spcPts val="3477"/>
              </a:lnSpc>
              <a:spcBef>
                <a:spcPct val="0"/>
              </a:spcBef>
            </a:pPr>
          </a:p>
        </p:txBody>
      </p:sp>
      <p:sp>
        <p:nvSpPr>
          <p:cNvPr name="TextBox 21" id="21"/>
          <p:cNvSpPr txBox="true"/>
          <p:nvPr/>
        </p:nvSpPr>
        <p:spPr>
          <a:xfrm rot="0">
            <a:off x="1459723" y="5105992"/>
            <a:ext cx="6965587" cy="4210069"/>
          </a:xfrm>
          <a:prstGeom prst="rect">
            <a:avLst/>
          </a:prstGeom>
        </p:spPr>
        <p:txBody>
          <a:bodyPr anchor="t" rtlCol="false" tIns="0" lIns="0" bIns="0" rIns="0">
            <a:spAutoFit/>
          </a:bodyPr>
          <a:lstStyle/>
          <a:p>
            <a:pPr algn="just">
              <a:lnSpc>
                <a:spcPts val="4082"/>
              </a:lnSpc>
            </a:pPr>
          </a:p>
          <a:p>
            <a:pPr algn="just">
              <a:lnSpc>
                <a:spcPts val="3265"/>
              </a:lnSpc>
            </a:pPr>
            <a:r>
              <a:rPr lang="en-US" sz="2332" b="true">
                <a:solidFill>
                  <a:srgbClr val="FFFFFF"/>
                </a:solidFill>
                <a:latin typeface="Poppins Bold"/>
                <a:ea typeface="Poppins Bold"/>
                <a:cs typeface="Poppins Bold"/>
                <a:sym typeface="Poppins Bold"/>
              </a:rPr>
              <a:t>Problem Statement</a:t>
            </a:r>
          </a:p>
          <a:p>
            <a:pPr algn="just">
              <a:lnSpc>
                <a:spcPts val="3265"/>
              </a:lnSpc>
            </a:pPr>
            <a:r>
              <a:rPr lang="en-US" sz="2332">
                <a:solidFill>
                  <a:srgbClr val="FFFFFF"/>
                </a:solidFill>
                <a:latin typeface="Poppins"/>
                <a:ea typeface="Poppins"/>
                <a:cs typeface="Poppins"/>
                <a:sym typeface="Poppins"/>
              </a:rPr>
              <a:t>The current system uses manual records and spreadsheets, causing:</a:t>
            </a:r>
          </a:p>
          <a:p>
            <a:pPr algn="just" marL="503626" indent="-251813" lvl="1">
              <a:lnSpc>
                <a:spcPts val="3265"/>
              </a:lnSpc>
              <a:buFont typeface="Arial"/>
              <a:buChar char="•"/>
            </a:pPr>
            <a:r>
              <a:rPr lang="en-US" sz="2332">
                <a:solidFill>
                  <a:srgbClr val="FFFFFF"/>
                </a:solidFill>
                <a:latin typeface="Poppins"/>
                <a:ea typeface="Poppins"/>
                <a:cs typeface="Poppins"/>
                <a:sym typeface="Poppins"/>
              </a:rPr>
              <a:t>Data duplication</a:t>
            </a:r>
          </a:p>
          <a:p>
            <a:pPr algn="just" marL="503626" indent="-251813" lvl="1">
              <a:lnSpc>
                <a:spcPts val="3265"/>
              </a:lnSpc>
              <a:buFont typeface="Arial"/>
              <a:buChar char="•"/>
            </a:pPr>
            <a:r>
              <a:rPr lang="en-US" sz="2332">
                <a:solidFill>
                  <a:srgbClr val="FFFFFF"/>
                </a:solidFill>
                <a:latin typeface="Poppins"/>
                <a:ea typeface="Poppins"/>
                <a:cs typeface="Poppins"/>
                <a:sym typeface="Poppins"/>
              </a:rPr>
              <a:t>Inconsistency</a:t>
            </a:r>
          </a:p>
          <a:p>
            <a:pPr algn="just" marL="503626" indent="-251813" lvl="1">
              <a:lnSpc>
                <a:spcPts val="3265"/>
              </a:lnSpc>
              <a:buFont typeface="Arial"/>
              <a:buChar char="•"/>
            </a:pPr>
            <a:r>
              <a:rPr lang="en-US" sz="2332">
                <a:solidFill>
                  <a:srgbClr val="FFFFFF"/>
                </a:solidFill>
                <a:latin typeface="Poppins"/>
                <a:ea typeface="Poppins"/>
                <a:cs typeface="Poppins"/>
                <a:sym typeface="Poppins"/>
              </a:rPr>
              <a:t>Slow reporting</a:t>
            </a:r>
          </a:p>
          <a:p>
            <a:pPr algn="just" marL="503626" indent="-251813" lvl="1">
              <a:lnSpc>
                <a:spcPts val="3265"/>
              </a:lnSpc>
              <a:buFont typeface="Arial"/>
              <a:buChar char="•"/>
            </a:pPr>
            <a:r>
              <a:rPr lang="en-US" sz="2332">
                <a:solidFill>
                  <a:srgbClr val="FFFFFF"/>
                </a:solidFill>
                <a:latin typeface="Poppins"/>
                <a:ea typeface="Poppins"/>
                <a:cs typeface="Poppins"/>
                <a:sym typeface="Poppins"/>
              </a:rPr>
              <a:t>Poor loan tracking</a:t>
            </a:r>
          </a:p>
          <a:p>
            <a:pPr algn="just" marL="503626" indent="-251813" lvl="1">
              <a:lnSpc>
                <a:spcPts val="3265"/>
              </a:lnSpc>
              <a:spcBef>
                <a:spcPct val="0"/>
              </a:spcBef>
              <a:buFont typeface="Arial"/>
              <a:buChar char="•"/>
            </a:pPr>
            <a:r>
              <a:rPr lang="en-US" sz="2332">
                <a:solidFill>
                  <a:srgbClr val="FFFFFF"/>
                </a:solidFill>
                <a:latin typeface="Poppins"/>
                <a:ea typeface="Poppins"/>
                <a:cs typeface="Poppins"/>
                <a:sym typeface="Poppins"/>
              </a:rPr>
              <a:t>Limited scalability</a:t>
            </a:r>
          </a:p>
          <a:p>
            <a:pPr algn="just">
              <a:lnSpc>
                <a:spcPts val="3265"/>
              </a:lnSpc>
              <a:spcBef>
                <a:spcPct val="0"/>
              </a:spcBef>
            </a:pPr>
          </a:p>
        </p:txBody>
      </p:sp>
      <p:sp>
        <p:nvSpPr>
          <p:cNvPr name="TextBox 22" id="22"/>
          <p:cNvSpPr txBox="true"/>
          <p:nvPr/>
        </p:nvSpPr>
        <p:spPr>
          <a:xfrm rot="0">
            <a:off x="9859033" y="6071206"/>
            <a:ext cx="7400267" cy="3620788"/>
          </a:xfrm>
          <a:prstGeom prst="rect">
            <a:avLst/>
          </a:prstGeom>
        </p:spPr>
        <p:txBody>
          <a:bodyPr anchor="t" rtlCol="false" tIns="0" lIns="0" bIns="0" rIns="0">
            <a:spAutoFit/>
          </a:bodyPr>
          <a:lstStyle/>
          <a:p>
            <a:pPr algn="just">
              <a:lnSpc>
                <a:spcPts val="2962"/>
              </a:lnSpc>
            </a:pPr>
            <a:r>
              <a:rPr lang="en-US" sz="2115" b="true">
                <a:solidFill>
                  <a:srgbClr val="FFFFFF"/>
                </a:solidFill>
                <a:latin typeface="Poppins Bold"/>
                <a:ea typeface="Poppins Bold"/>
                <a:cs typeface="Poppins Bold"/>
                <a:sym typeface="Poppins Bold"/>
              </a:rPr>
              <a:t>Obj</a:t>
            </a:r>
            <a:r>
              <a:rPr lang="en-US" sz="2115" b="true">
                <a:solidFill>
                  <a:srgbClr val="FFFFFF"/>
                </a:solidFill>
                <a:latin typeface="Poppins Bold"/>
                <a:ea typeface="Poppins Bold"/>
                <a:cs typeface="Poppins Bold"/>
                <a:sym typeface="Poppins Bold"/>
              </a:rPr>
              <a:t>ectives</a:t>
            </a:r>
          </a:p>
          <a:p>
            <a:pPr algn="just">
              <a:lnSpc>
                <a:spcPts val="2962"/>
              </a:lnSpc>
            </a:pPr>
            <a:r>
              <a:rPr lang="en-US" sz="2115">
                <a:solidFill>
                  <a:srgbClr val="FFFFFF"/>
                </a:solidFill>
                <a:latin typeface="Poppins"/>
                <a:ea typeface="Poppins"/>
                <a:cs typeface="Poppins"/>
                <a:sym typeface="Poppins"/>
              </a:rPr>
              <a:t>G</a:t>
            </a:r>
            <a:r>
              <a:rPr lang="en-US" sz="2115">
                <a:solidFill>
                  <a:srgbClr val="FFFFFF"/>
                </a:solidFill>
                <a:latin typeface="Poppins"/>
                <a:ea typeface="Poppins"/>
                <a:cs typeface="Poppins"/>
                <a:sym typeface="Poppins"/>
              </a:rPr>
              <a:t>eneral Objective</a:t>
            </a:r>
          </a:p>
          <a:p>
            <a:pPr algn="l" marL="456815" indent="-228407" lvl="1">
              <a:lnSpc>
                <a:spcPts val="2962"/>
              </a:lnSpc>
              <a:buFont typeface="Arial"/>
              <a:buChar char="•"/>
            </a:pPr>
            <a:r>
              <a:rPr lang="en-US" sz="2115">
                <a:solidFill>
                  <a:srgbClr val="FFFFFF"/>
                </a:solidFill>
                <a:latin typeface="Poppins"/>
                <a:ea typeface="Poppins"/>
                <a:cs typeface="Poppins"/>
                <a:sym typeface="Poppins"/>
              </a:rPr>
              <a:t>To design and implement an integrated database system using MySQL and MongoDB.</a:t>
            </a:r>
          </a:p>
          <a:p>
            <a:pPr algn="just">
              <a:lnSpc>
                <a:spcPts val="2962"/>
              </a:lnSpc>
            </a:pPr>
            <a:r>
              <a:rPr lang="en-US" sz="2115">
                <a:solidFill>
                  <a:srgbClr val="FFFFFF"/>
                </a:solidFill>
                <a:latin typeface="Poppins"/>
                <a:ea typeface="Poppins"/>
                <a:cs typeface="Poppins"/>
                <a:sym typeface="Poppins"/>
              </a:rPr>
              <a:t>Specific Objectives</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Improve data management</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Reduce redundancy</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Support reporting</a:t>
            </a:r>
          </a:p>
          <a:p>
            <a:pPr algn="just" marL="456815" indent="-228407" lvl="1">
              <a:lnSpc>
                <a:spcPts val="2962"/>
              </a:lnSpc>
              <a:spcBef>
                <a:spcPct val="0"/>
              </a:spcBef>
              <a:buFont typeface="Arial"/>
              <a:buChar char="•"/>
            </a:pPr>
            <a:r>
              <a:rPr lang="en-US" sz="2115">
                <a:solidFill>
                  <a:srgbClr val="FFFFFF"/>
                </a:solidFill>
                <a:latin typeface="Poppins"/>
                <a:ea typeface="Poppins"/>
                <a:cs typeface="Poppins"/>
                <a:sym typeface="Poppins"/>
              </a:rPr>
              <a:t>E</a:t>
            </a:r>
            <a:r>
              <a:rPr lang="en-US" sz="2115">
                <a:solidFill>
                  <a:srgbClr val="FFFFFF"/>
                </a:solidFill>
                <a:latin typeface="Poppins"/>
                <a:ea typeface="Poppins"/>
                <a:cs typeface="Poppins"/>
                <a:sym typeface="Poppins"/>
              </a:rPr>
              <a:t>nhance security and efficiency</a:t>
            </a:r>
          </a:p>
          <a:p>
            <a:pPr algn="just">
              <a:lnSpc>
                <a:spcPts val="2145"/>
              </a:lnSpc>
              <a:spcBef>
                <a:spcPct val="0"/>
              </a:spcBef>
            </a:pPr>
          </a:p>
        </p:txBody>
      </p:sp>
      <p:sp>
        <p:nvSpPr>
          <p:cNvPr name="TextBox 23" id="23"/>
          <p:cNvSpPr txBox="true"/>
          <p:nvPr/>
        </p:nvSpPr>
        <p:spPr>
          <a:xfrm rot="0">
            <a:off x="1902643" y="1076545"/>
            <a:ext cx="12634216" cy="651377"/>
          </a:xfrm>
          <a:prstGeom prst="rect">
            <a:avLst/>
          </a:prstGeom>
        </p:spPr>
        <p:txBody>
          <a:bodyPr anchor="t" rtlCol="false" tIns="0" lIns="0" bIns="0" rIns="0">
            <a:spAutoFit/>
          </a:bodyPr>
          <a:lstStyle/>
          <a:p>
            <a:pPr algn="ctr">
              <a:lnSpc>
                <a:spcPts val="5047"/>
              </a:lnSpc>
              <a:spcBef>
                <a:spcPct val="0"/>
              </a:spcBef>
            </a:pPr>
            <a:r>
              <a:rPr lang="en-US" b="true" sz="3605" u="sng">
                <a:solidFill>
                  <a:srgbClr val="0B51AF"/>
                </a:solidFill>
                <a:latin typeface="Poppins Bold"/>
                <a:ea typeface="Poppins Bold"/>
                <a:cs typeface="Poppins Bold"/>
                <a:sym typeface="Poppins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412347" y="390106"/>
            <a:ext cx="17463305" cy="9584172"/>
            <a:chOff x="0" y="0"/>
            <a:chExt cx="4599389" cy="2524226"/>
          </a:xfrm>
        </p:grpSpPr>
        <p:sp>
          <p:nvSpPr>
            <p:cNvPr name="Freeform 3" id="3"/>
            <p:cNvSpPr/>
            <p:nvPr/>
          </p:nvSpPr>
          <p:spPr>
            <a:xfrm flipH="false" flipV="false" rot="0">
              <a:off x="0" y="0"/>
              <a:ext cx="4599389" cy="2524226"/>
            </a:xfrm>
            <a:custGeom>
              <a:avLst/>
              <a:gdLst/>
              <a:ahLst/>
              <a:cxnLst/>
              <a:rect r="r" b="b" t="t" l="l"/>
              <a:pathLst>
                <a:path h="2524226" w="4599389">
                  <a:moveTo>
                    <a:pt x="22610" y="0"/>
                  </a:moveTo>
                  <a:lnTo>
                    <a:pt x="4576780" y="0"/>
                  </a:lnTo>
                  <a:cubicBezTo>
                    <a:pt x="4589266" y="0"/>
                    <a:pt x="4599389" y="10123"/>
                    <a:pt x="4599389" y="22610"/>
                  </a:cubicBezTo>
                  <a:lnTo>
                    <a:pt x="4599389" y="2501617"/>
                  </a:lnTo>
                  <a:cubicBezTo>
                    <a:pt x="4599389" y="2507613"/>
                    <a:pt x="4597007" y="2513364"/>
                    <a:pt x="4592767" y="2517604"/>
                  </a:cubicBezTo>
                  <a:cubicBezTo>
                    <a:pt x="4588527" y="2521844"/>
                    <a:pt x="4582776" y="2524226"/>
                    <a:pt x="4576780" y="2524226"/>
                  </a:cubicBezTo>
                  <a:lnTo>
                    <a:pt x="22610" y="2524226"/>
                  </a:lnTo>
                  <a:cubicBezTo>
                    <a:pt x="10123" y="2524226"/>
                    <a:pt x="0" y="2514104"/>
                    <a:pt x="0" y="2501617"/>
                  </a:cubicBezTo>
                  <a:lnTo>
                    <a:pt x="0" y="22610"/>
                  </a:lnTo>
                  <a:cubicBezTo>
                    <a:pt x="0" y="10123"/>
                    <a:pt x="10123" y="0"/>
                    <a:pt x="22610" y="0"/>
                  </a:cubicBezTo>
                  <a:close/>
                </a:path>
              </a:pathLst>
            </a:custGeom>
            <a:solidFill>
              <a:srgbClr val="FFFFFF"/>
            </a:solidFill>
          </p:spPr>
        </p:sp>
        <p:sp>
          <p:nvSpPr>
            <p:cNvPr name="TextBox 4" id="4"/>
            <p:cNvSpPr txBox="true"/>
            <p:nvPr/>
          </p:nvSpPr>
          <p:spPr>
            <a:xfrm>
              <a:off x="0" y="-57150"/>
              <a:ext cx="4599389" cy="2581376"/>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028700" y="944099"/>
            <a:ext cx="7402679" cy="4030359"/>
            <a:chOff x="0" y="0"/>
            <a:chExt cx="1949677" cy="1061494"/>
          </a:xfrm>
        </p:grpSpPr>
        <p:sp>
          <p:nvSpPr>
            <p:cNvPr name="Freeform 6" id="6"/>
            <p:cNvSpPr/>
            <p:nvPr/>
          </p:nvSpPr>
          <p:spPr>
            <a:xfrm flipH="false" flipV="false" rot="0">
              <a:off x="0" y="0"/>
              <a:ext cx="1949677" cy="1061494"/>
            </a:xfrm>
            <a:custGeom>
              <a:avLst/>
              <a:gdLst/>
              <a:ahLst/>
              <a:cxnLst/>
              <a:rect r="r" b="b" t="t" l="l"/>
              <a:pathLst>
                <a:path h="1061494" w="1949677">
                  <a:moveTo>
                    <a:pt x="53337" y="0"/>
                  </a:moveTo>
                  <a:lnTo>
                    <a:pt x="1896339" y="0"/>
                  </a:lnTo>
                  <a:cubicBezTo>
                    <a:pt x="1925797" y="0"/>
                    <a:pt x="1949677" y="23880"/>
                    <a:pt x="1949677" y="53337"/>
                  </a:cubicBezTo>
                  <a:lnTo>
                    <a:pt x="1949677" y="1008157"/>
                  </a:lnTo>
                  <a:cubicBezTo>
                    <a:pt x="1949677" y="1037614"/>
                    <a:pt x="1925797" y="1061494"/>
                    <a:pt x="1896339" y="1061494"/>
                  </a:cubicBezTo>
                  <a:lnTo>
                    <a:pt x="53337" y="1061494"/>
                  </a:lnTo>
                  <a:cubicBezTo>
                    <a:pt x="23880" y="1061494"/>
                    <a:pt x="0" y="1037614"/>
                    <a:pt x="0" y="1008157"/>
                  </a:cubicBezTo>
                  <a:lnTo>
                    <a:pt x="0" y="53337"/>
                  </a:lnTo>
                  <a:cubicBezTo>
                    <a:pt x="0" y="23880"/>
                    <a:pt x="23880" y="0"/>
                    <a:pt x="53337" y="0"/>
                  </a:cubicBezTo>
                  <a:close/>
                </a:path>
              </a:pathLst>
            </a:custGeom>
            <a:solidFill>
              <a:srgbClr val="3A5A9A"/>
            </a:solidFill>
          </p:spPr>
        </p:sp>
        <p:sp>
          <p:nvSpPr>
            <p:cNvPr name="TextBox 7" id="7"/>
            <p:cNvSpPr txBox="true"/>
            <p:nvPr/>
          </p:nvSpPr>
          <p:spPr>
            <a:xfrm>
              <a:off x="0" y="-57150"/>
              <a:ext cx="1949677" cy="1118644"/>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1096677" y="9096988"/>
            <a:ext cx="6162623" cy="1190012"/>
            <a:chOff x="0" y="0"/>
            <a:chExt cx="1623078" cy="313419"/>
          </a:xfrm>
        </p:grpSpPr>
        <p:sp>
          <p:nvSpPr>
            <p:cNvPr name="Freeform 9" id="9"/>
            <p:cNvSpPr/>
            <p:nvPr/>
          </p:nvSpPr>
          <p:spPr>
            <a:xfrm flipH="false" flipV="false" rot="0">
              <a:off x="22942" y="0"/>
              <a:ext cx="1577193" cy="313419"/>
            </a:xfrm>
            <a:custGeom>
              <a:avLst/>
              <a:gdLst/>
              <a:ahLst/>
              <a:cxnLst/>
              <a:rect r="r" b="b" t="t" l="l"/>
              <a:pathLst>
                <a:path h="313419" w="1577193">
                  <a:moveTo>
                    <a:pt x="230509" y="0"/>
                  </a:moveTo>
                  <a:lnTo>
                    <a:pt x="1346685" y="0"/>
                  </a:lnTo>
                  <a:cubicBezTo>
                    <a:pt x="1378021" y="0"/>
                    <a:pt x="1407225" y="15871"/>
                    <a:pt x="1424272" y="42165"/>
                  </a:cubicBezTo>
                  <a:lnTo>
                    <a:pt x="1572799" y="271254"/>
                  </a:lnTo>
                  <a:cubicBezTo>
                    <a:pt x="1578244" y="279652"/>
                    <a:pt x="1578658" y="290356"/>
                    <a:pt x="1573879" y="299150"/>
                  </a:cubicBezTo>
                  <a:cubicBezTo>
                    <a:pt x="1569100" y="307944"/>
                    <a:pt x="1559893" y="313419"/>
                    <a:pt x="1549885" y="313419"/>
                  </a:cubicBezTo>
                  <a:lnTo>
                    <a:pt x="27309" y="313419"/>
                  </a:lnTo>
                  <a:cubicBezTo>
                    <a:pt x="17300" y="313419"/>
                    <a:pt x="8094" y="307944"/>
                    <a:pt x="3315" y="299150"/>
                  </a:cubicBezTo>
                  <a:cubicBezTo>
                    <a:pt x="-1464" y="290356"/>
                    <a:pt x="-1050" y="279652"/>
                    <a:pt x="4395" y="271254"/>
                  </a:cubicBezTo>
                  <a:lnTo>
                    <a:pt x="152921" y="42165"/>
                  </a:lnTo>
                  <a:cubicBezTo>
                    <a:pt x="169968" y="15871"/>
                    <a:pt x="199172" y="0"/>
                    <a:pt x="230509" y="0"/>
                  </a:cubicBezTo>
                  <a:close/>
                </a:path>
              </a:pathLst>
            </a:custGeom>
            <a:solidFill>
              <a:srgbClr val="C8E5EB"/>
            </a:solidFill>
          </p:spPr>
        </p:sp>
        <p:sp>
          <p:nvSpPr>
            <p:cNvPr name="TextBox 10" id="10"/>
            <p:cNvSpPr txBox="true"/>
            <p:nvPr/>
          </p:nvSpPr>
          <p:spPr>
            <a:xfrm>
              <a:off x="127000" y="-57150"/>
              <a:ext cx="1369078" cy="370569"/>
            </a:xfrm>
            <a:prstGeom prst="rect">
              <a:avLst/>
            </a:prstGeom>
          </p:spPr>
          <p:txBody>
            <a:bodyPr anchor="ctr" rtlCol="false" tIns="50800" lIns="50800" bIns="50800" rIns="50800"/>
            <a:lstStyle/>
            <a:p>
              <a:pPr algn="ctr">
                <a:lnSpc>
                  <a:spcPts val="2940"/>
                </a:lnSpc>
              </a:pPr>
            </a:p>
          </p:txBody>
        </p:sp>
      </p:grpSp>
      <p:sp>
        <p:nvSpPr>
          <p:cNvPr name="Freeform 11" id="11"/>
          <p:cNvSpPr/>
          <p:nvPr/>
        </p:nvSpPr>
        <p:spPr>
          <a:xfrm flipH="false" flipV="false" rot="0">
            <a:off x="15720724" y="9258300"/>
            <a:ext cx="733551" cy="678868"/>
          </a:xfrm>
          <a:custGeom>
            <a:avLst/>
            <a:gdLst/>
            <a:ahLst/>
            <a:cxnLst/>
            <a:rect r="r" b="b" t="t" l="l"/>
            <a:pathLst>
              <a:path h="678868" w="733551">
                <a:moveTo>
                  <a:pt x="0" y="0"/>
                </a:moveTo>
                <a:lnTo>
                  <a:pt x="733551" y="0"/>
                </a:lnTo>
                <a:lnTo>
                  <a:pt x="733551" y="678868"/>
                </a:lnTo>
                <a:lnTo>
                  <a:pt x="0" y="678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741033" y="4974458"/>
            <a:ext cx="7536683" cy="4674878"/>
            <a:chOff x="0" y="0"/>
            <a:chExt cx="1984970" cy="1231244"/>
          </a:xfrm>
        </p:grpSpPr>
        <p:sp>
          <p:nvSpPr>
            <p:cNvPr name="Freeform 13" id="13"/>
            <p:cNvSpPr/>
            <p:nvPr/>
          </p:nvSpPr>
          <p:spPr>
            <a:xfrm flipH="false" flipV="false" rot="0">
              <a:off x="0" y="0"/>
              <a:ext cx="1984970" cy="1231244"/>
            </a:xfrm>
            <a:custGeom>
              <a:avLst/>
              <a:gdLst/>
              <a:ahLst/>
              <a:cxnLst/>
              <a:rect r="r" b="b" t="t" l="l"/>
              <a:pathLst>
                <a:path h="1231244" w="1984970">
                  <a:moveTo>
                    <a:pt x="52389" y="0"/>
                  </a:moveTo>
                  <a:lnTo>
                    <a:pt x="1932581" y="0"/>
                  </a:lnTo>
                  <a:cubicBezTo>
                    <a:pt x="1946476" y="0"/>
                    <a:pt x="1959801" y="5520"/>
                    <a:pt x="1969626" y="15344"/>
                  </a:cubicBezTo>
                  <a:cubicBezTo>
                    <a:pt x="1979450" y="25169"/>
                    <a:pt x="1984970" y="38494"/>
                    <a:pt x="1984970" y="52389"/>
                  </a:cubicBezTo>
                  <a:lnTo>
                    <a:pt x="1984970" y="1178855"/>
                  </a:lnTo>
                  <a:cubicBezTo>
                    <a:pt x="1984970" y="1192749"/>
                    <a:pt x="1979450" y="1206075"/>
                    <a:pt x="1969626" y="1215899"/>
                  </a:cubicBezTo>
                  <a:cubicBezTo>
                    <a:pt x="1959801" y="1225724"/>
                    <a:pt x="1946476" y="1231244"/>
                    <a:pt x="1932581" y="1231244"/>
                  </a:cubicBezTo>
                  <a:lnTo>
                    <a:pt x="52389" y="1231244"/>
                  </a:lnTo>
                  <a:cubicBezTo>
                    <a:pt x="38494" y="1231244"/>
                    <a:pt x="25169" y="1225724"/>
                    <a:pt x="15344" y="1215899"/>
                  </a:cubicBezTo>
                  <a:cubicBezTo>
                    <a:pt x="5520" y="1206075"/>
                    <a:pt x="0" y="1192749"/>
                    <a:pt x="0" y="1178855"/>
                  </a:cubicBezTo>
                  <a:lnTo>
                    <a:pt x="0" y="52389"/>
                  </a:lnTo>
                  <a:cubicBezTo>
                    <a:pt x="0" y="38494"/>
                    <a:pt x="5520" y="25169"/>
                    <a:pt x="15344" y="15344"/>
                  </a:cubicBezTo>
                  <a:cubicBezTo>
                    <a:pt x="25169" y="5520"/>
                    <a:pt x="38494" y="0"/>
                    <a:pt x="52389" y="0"/>
                  </a:cubicBezTo>
                  <a:close/>
                </a:path>
              </a:pathLst>
            </a:custGeom>
            <a:solidFill>
              <a:srgbClr val="3A5A9A"/>
            </a:solidFill>
          </p:spPr>
        </p:sp>
        <p:sp>
          <p:nvSpPr>
            <p:cNvPr name="TextBox 14" id="14"/>
            <p:cNvSpPr txBox="true"/>
            <p:nvPr/>
          </p:nvSpPr>
          <p:spPr>
            <a:xfrm>
              <a:off x="0" y="-57150"/>
              <a:ext cx="1984970" cy="1288394"/>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8838235" y="659736"/>
            <a:ext cx="8137330" cy="4076597"/>
            <a:chOff x="0" y="0"/>
            <a:chExt cx="2143165" cy="1073672"/>
          </a:xfrm>
        </p:grpSpPr>
        <p:sp>
          <p:nvSpPr>
            <p:cNvPr name="Freeform 16" id="16"/>
            <p:cNvSpPr/>
            <p:nvPr/>
          </p:nvSpPr>
          <p:spPr>
            <a:xfrm flipH="false" flipV="false" rot="0">
              <a:off x="0" y="0"/>
              <a:ext cx="2143165" cy="1073672"/>
            </a:xfrm>
            <a:custGeom>
              <a:avLst/>
              <a:gdLst/>
              <a:ahLst/>
              <a:cxnLst/>
              <a:rect r="r" b="b" t="t" l="l"/>
              <a:pathLst>
                <a:path h="1073672" w="2143165">
                  <a:moveTo>
                    <a:pt x="48522" y="0"/>
                  </a:moveTo>
                  <a:lnTo>
                    <a:pt x="2094643" y="0"/>
                  </a:lnTo>
                  <a:cubicBezTo>
                    <a:pt x="2107512" y="0"/>
                    <a:pt x="2119854" y="5112"/>
                    <a:pt x="2128953" y="14212"/>
                  </a:cubicBezTo>
                  <a:cubicBezTo>
                    <a:pt x="2138053" y="23311"/>
                    <a:pt x="2143165" y="35653"/>
                    <a:pt x="2143165" y="48522"/>
                  </a:cubicBezTo>
                  <a:lnTo>
                    <a:pt x="2143165" y="1025150"/>
                  </a:lnTo>
                  <a:cubicBezTo>
                    <a:pt x="2143165" y="1038019"/>
                    <a:pt x="2138053" y="1050360"/>
                    <a:pt x="2128953" y="1059460"/>
                  </a:cubicBezTo>
                  <a:cubicBezTo>
                    <a:pt x="2119854" y="1068559"/>
                    <a:pt x="2107512" y="1073672"/>
                    <a:pt x="2094643" y="1073672"/>
                  </a:cubicBezTo>
                  <a:lnTo>
                    <a:pt x="48522" y="1073672"/>
                  </a:lnTo>
                  <a:cubicBezTo>
                    <a:pt x="35653" y="1073672"/>
                    <a:pt x="23311" y="1068559"/>
                    <a:pt x="14212" y="1059460"/>
                  </a:cubicBezTo>
                  <a:cubicBezTo>
                    <a:pt x="5112" y="1050360"/>
                    <a:pt x="0" y="1038019"/>
                    <a:pt x="0" y="1025150"/>
                  </a:cubicBezTo>
                  <a:lnTo>
                    <a:pt x="0" y="48522"/>
                  </a:lnTo>
                  <a:cubicBezTo>
                    <a:pt x="0" y="35653"/>
                    <a:pt x="5112" y="23311"/>
                    <a:pt x="14212" y="14212"/>
                  </a:cubicBezTo>
                  <a:cubicBezTo>
                    <a:pt x="23311" y="5112"/>
                    <a:pt x="35653" y="0"/>
                    <a:pt x="48522" y="0"/>
                  </a:cubicBezTo>
                  <a:close/>
                </a:path>
              </a:pathLst>
            </a:custGeom>
            <a:solidFill>
              <a:srgbClr val="3A5A9A"/>
            </a:solidFill>
          </p:spPr>
        </p:sp>
        <p:sp>
          <p:nvSpPr>
            <p:cNvPr name="TextBox 17" id="17"/>
            <p:cNvSpPr txBox="true"/>
            <p:nvPr/>
          </p:nvSpPr>
          <p:spPr>
            <a:xfrm>
              <a:off x="0" y="-57150"/>
              <a:ext cx="2143165" cy="1130822"/>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9210547" y="4974458"/>
            <a:ext cx="7765018" cy="4674878"/>
            <a:chOff x="0" y="0"/>
            <a:chExt cx="2045108" cy="1231244"/>
          </a:xfrm>
        </p:grpSpPr>
        <p:sp>
          <p:nvSpPr>
            <p:cNvPr name="Freeform 19" id="19"/>
            <p:cNvSpPr/>
            <p:nvPr/>
          </p:nvSpPr>
          <p:spPr>
            <a:xfrm flipH="false" flipV="false" rot="0">
              <a:off x="0" y="0"/>
              <a:ext cx="2045108" cy="1231244"/>
            </a:xfrm>
            <a:custGeom>
              <a:avLst/>
              <a:gdLst/>
              <a:ahLst/>
              <a:cxnLst/>
              <a:rect r="r" b="b" t="t" l="l"/>
              <a:pathLst>
                <a:path h="1231244" w="2045108">
                  <a:moveTo>
                    <a:pt x="50848" y="0"/>
                  </a:moveTo>
                  <a:lnTo>
                    <a:pt x="1994259" y="0"/>
                  </a:lnTo>
                  <a:cubicBezTo>
                    <a:pt x="2022342" y="0"/>
                    <a:pt x="2045108" y="22766"/>
                    <a:pt x="2045108" y="50848"/>
                  </a:cubicBezTo>
                  <a:lnTo>
                    <a:pt x="2045108" y="1180395"/>
                  </a:lnTo>
                  <a:cubicBezTo>
                    <a:pt x="2045108" y="1193881"/>
                    <a:pt x="2039750" y="1206815"/>
                    <a:pt x="2030214" y="1216351"/>
                  </a:cubicBezTo>
                  <a:cubicBezTo>
                    <a:pt x="2020679" y="1225886"/>
                    <a:pt x="2007745" y="1231244"/>
                    <a:pt x="1994259" y="1231244"/>
                  </a:cubicBezTo>
                  <a:lnTo>
                    <a:pt x="50848" y="1231244"/>
                  </a:lnTo>
                  <a:cubicBezTo>
                    <a:pt x="37362" y="1231244"/>
                    <a:pt x="24429" y="1225886"/>
                    <a:pt x="14893" y="1216351"/>
                  </a:cubicBezTo>
                  <a:cubicBezTo>
                    <a:pt x="5357" y="1206815"/>
                    <a:pt x="0" y="1193881"/>
                    <a:pt x="0" y="1180395"/>
                  </a:cubicBezTo>
                  <a:lnTo>
                    <a:pt x="0" y="50848"/>
                  </a:lnTo>
                  <a:cubicBezTo>
                    <a:pt x="0" y="22766"/>
                    <a:pt x="22766" y="0"/>
                    <a:pt x="50848" y="0"/>
                  </a:cubicBezTo>
                  <a:close/>
                </a:path>
              </a:pathLst>
            </a:custGeom>
            <a:solidFill>
              <a:srgbClr val="3A5A9A"/>
            </a:solidFill>
          </p:spPr>
        </p:sp>
        <p:sp>
          <p:nvSpPr>
            <p:cNvPr name="TextBox 20" id="20"/>
            <p:cNvSpPr txBox="true"/>
            <p:nvPr/>
          </p:nvSpPr>
          <p:spPr>
            <a:xfrm>
              <a:off x="0" y="-57150"/>
              <a:ext cx="2045108" cy="1288394"/>
            </a:xfrm>
            <a:prstGeom prst="rect">
              <a:avLst/>
            </a:prstGeom>
          </p:spPr>
          <p:txBody>
            <a:bodyPr anchor="ctr" rtlCol="false" tIns="50800" lIns="50800" bIns="50800" rIns="50800"/>
            <a:lstStyle/>
            <a:p>
              <a:pPr algn="ctr">
                <a:lnSpc>
                  <a:spcPts val="2940"/>
                </a:lnSpc>
              </a:pPr>
            </a:p>
          </p:txBody>
        </p:sp>
      </p:grpSp>
      <p:sp>
        <p:nvSpPr>
          <p:cNvPr name="Freeform 21" id="21"/>
          <p:cNvSpPr/>
          <p:nvPr/>
        </p:nvSpPr>
        <p:spPr>
          <a:xfrm flipH="false" flipV="false" rot="0">
            <a:off x="367569" y="896135"/>
            <a:ext cx="1322261" cy="1322261"/>
          </a:xfrm>
          <a:custGeom>
            <a:avLst/>
            <a:gdLst/>
            <a:ahLst/>
            <a:cxnLst/>
            <a:rect r="r" b="b" t="t" l="l"/>
            <a:pathLst>
              <a:path h="1322261" w="1322261">
                <a:moveTo>
                  <a:pt x="0" y="0"/>
                </a:moveTo>
                <a:lnTo>
                  <a:pt x="1322262" y="0"/>
                </a:lnTo>
                <a:lnTo>
                  <a:pt x="1322262" y="1322262"/>
                </a:lnTo>
                <a:lnTo>
                  <a:pt x="0" y="13222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1734609" y="1239889"/>
            <a:ext cx="6543107" cy="3496444"/>
          </a:xfrm>
          <a:prstGeom prst="rect">
            <a:avLst/>
          </a:prstGeom>
        </p:spPr>
        <p:txBody>
          <a:bodyPr anchor="t" rtlCol="false" tIns="0" lIns="0" bIns="0" rIns="0">
            <a:spAutoFit/>
          </a:bodyPr>
          <a:lstStyle/>
          <a:p>
            <a:pPr algn="just">
              <a:lnSpc>
                <a:spcPts val="4067"/>
              </a:lnSpc>
            </a:pPr>
            <a:r>
              <a:rPr lang="en-US" sz="2905" b="true">
                <a:solidFill>
                  <a:srgbClr val="FFFFFF"/>
                </a:solidFill>
                <a:latin typeface="Poppins Bold"/>
                <a:ea typeface="Poppins Bold"/>
                <a:cs typeface="Poppins Bold"/>
                <a:sym typeface="Poppins Bold"/>
              </a:rPr>
              <a:t>M</a:t>
            </a:r>
            <a:r>
              <a:rPr lang="en-US" sz="2905" b="true">
                <a:solidFill>
                  <a:srgbClr val="FFFFFF"/>
                </a:solidFill>
                <a:latin typeface="Poppins Bold"/>
                <a:ea typeface="Poppins Bold"/>
                <a:cs typeface="Poppins Bold"/>
                <a:sym typeface="Poppins Bold"/>
              </a:rPr>
              <a:t>ain Services of Yisakal SACCO</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Savings management</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Loan processing</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Repayment tracking</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Member registration</a:t>
            </a:r>
          </a:p>
          <a:p>
            <a:pPr algn="just" marL="627244" indent="-313622" lvl="1">
              <a:lnSpc>
                <a:spcPts val="4067"/>
              </a:lnSpc>
              <a:spcBef>
                <a:spcPct val="0"/>
              </a:spcBef>
              <a:buFont typeface="Arial"/>
              <a:buChar char="•"/>
            </a:pPr>
            <a:r>
              <a:rPr lang="en-US" sz="2905">
                <a:solidFill>
                  <a:srgbClr val="FFFFFF"/>
                </a:solidFill>
                <a:latin typeface="Poppins"/>
                <a:ea typeface="Poppins"/>
                <a:cs typeface="Poppins"/>
                <a:sym typeface="Poppins"/>
              </a:rPr>
              <a:t>Financial reporting</a:t>
            </a:r>
          </a:p>
          <a:p>
            <a:pPr algn="just">
              <a:lnSpc>
                <a:spcPts val="3197"/>
              </a:lnSpc>
              <a:spcBef>
                <a:spcPct val="0"/>
              </a:spcBef>
            </a:pPr>
          </a:p>
        </p:txBody>
      </p:sp>
      <p:sp>
        <p:nvSpPr>
          <p:cNvPr name="TextBox 23" id="23"/>
          <p:cNvSpPr txBox="true"/>
          <p:nvPr/>
        </p:nvSpPr>
        <p:spPr>
          <a:xfrm rot="0">
            <a:off x="875037" y="5264013"/>
            <a:ext cx="6965587" cy="4019569"/>
          </a:xfrm>
          <a:prstGeom prst="rect">
            <a:avLst/>
          </a:prstGeom>
        </p:spPr>
        <p:txBody>
          <a:bodyPr anchor="t" rtlCol="false" tIns="0" lIns="0" bIns="0" rIns="0">
            <a:spAutoFit/>
          </a:bodyPr>
          <a:lstStyle/>
          <a:p>
            <a:pPr algn="just">
              <a:lnSpc>
                <a:spcPts val="4082"/>
              </a:lnSpc>
            </a:pPr>
            <a:r>
              <a:rPr lang="en-US" sz="2915" b="true">
                <a:solidFill>
                  <a:srgbClr val="FFFFFF"/>
                </a:solidFill>
                <a:latin typeface="Poppins Bold"/>
                <a:ea typeface="Poppins Bold"/>
                <a:cs typeface="Poppins Bold"/>
                <a:sym typeface="Poppins Bold"/>
              </a:rPr>
              <a:t>Stages of </a:t>
            </a:r>
            <a:r>
              <a:rPr lang="en-US" sz="2915" b="true">
                <a:solidFill>
                  <a:srgbClr val="FFFFFF"/>
                </a:solidFill>
                <a:latin typeface="Poppins Bold"/>
                <a:ea typeface="Poppins Bold"/>
                <a:cs typeface="Poppins Bold"/>
                <a:sym typeface="Poppins Bold"/>
              </a:rPr>
              <a:t>Loan</a:t>
            </a:r>
            <a:r>
              <a:rPr lang="en-US" sz="2915" b="true">
                <a:solidFill>
                  <a:srgbClr val="FFFFFF"/>
                </a:solidFill>
                <a:latin typeface="Poppins Bold"/>
                <a:ea typeface="Poppins Bold"/>
                <a:cs typeface="Poppins Bold"/>
                <a:sym typeface="Poppins Bold"/>
              </a:rPr>
              <a:t> Processing at Yisakal SACCO</a:t>
            </a:r>
          </a:p>
          <a:p>
            <a:pPr algn="just" marL="629530" indent="-314765" lvl="1">
              <a:lnSpc>
                <a:spcPts val="4082"/>
              </a:lnSpc>
              <a:buAutoNum type="arabicPeriod" startAt="1"/>
            </a:pPr>
            <a:r>
              <a:rPr lang="en-US" sz="2915">
                <a:solidFill>
                  <a:srgbClr val="FFFFFF"/>
                </a:solidFill>
                <a:latin typeface="Poppins"/>
                <a:ea typeface="Poppins"/>
                <a:cs typeface="Poppins"/>
                <a:sym typeface="Poppins"/>
              </a:rPr>
              <a:t>Member registration</a:t>
            </a:r>
          </a:p>
          <a:p>
            <a:pPr algn="just" marL="629530" indent="-314765" lvl="1">
              <a:lnSpc>
                <a:spcPts val="4082"/>
              </a:lnSpc>
              <a:buAutoNum type="arabicPeriod" startAt="1"/>
            </a:pPr>
            <a:r>
              <a:rPr lang="en-US" sz="2915">
                <a:solidFill>
                  <a:srgbClr val="FFFFFF"/>
                </a:solidFill>
                <a:latin typeface="Poppins"/>
                <a:ea typeface="Poppins"/>
                <a:cs typeface="Poppins"/>
                <a:sym typeface="Poppins"/>
              </a:rPr>
              <a:t>Loan application</a:t>
            </a:r>
          </a:p>
          <a:p>
            <a:pPr algn="just" marL="629530" indent="-314765" lvl="1">
              <a:lnSpc>
                <a:spcPts val="4082"/>
              </a:lnSpc>
              <a:buAutoNum type="arabicPeriod" startAt="1"/>
            </a:pPr>
            <a:r>
              <a:rPr lang="en-US" sz="2915">
                <a:solidFill>
                  <a:srgbClr val="FFFFFF"/>
                </a:solidFill>
                <a:latin typeface="Poppins"/>
                <a:ea typeface="Poppins"/>
                <a:cs typeface="Poppins"/>
                <a:sym typeface="Poppins"/>
              </a:rPr>
              <a:t>Loa</a:t>
            </a:r>
            <a:r>
              <a:rPr lang="en-US" sz="2915">
                <a:solidFill>
                  <a:srgbClr val="FFFFFF"/>
                </a:solidFill>
                <a:latin typeface="Poppins"/>
                <a:ea typeface="Poppins"/>
                <a:cs typeface="Poppins"/>
                <a:sym typeface="Poppins"/>
              </a:rPr>
              <a:t>n approval</a:t>
            </a:r>
          </a:p>
          <a:p>
            <a:pPr algn="just" marL="629530" indent="-314765" lvl="1">
              <a:lnSpc>
                <a:spcPts val="4082"/>
              </a:lnSpc>
              <a:buAutoNum type="arabicPeriod" startAt="1"/>
            </a:pPr>
            <a:r>
              <a:rPr lang="en-US" sz="2915">
                <a:solidFill>
                  <a:srgbClr val="FFFFFF"/>
                </a:solidFill>
                <a:latin typeface="Poppins"/>
                <a:ea typeface="Poppins"/>
                <a:cs typeface="Poppins"/>
                <a:sym typeface="Poppins"/>
              </a:rPr>
              <a:t>Loan disbursement</a:t>
            </a:r>
          </a:p>
          <a:p>
            <a:pPr algn="just" marL="629530" indent="-314765" lvl="1">
              <a:lnSpc>
                <a:spcPts val="4082"/>
              </a:lnSpc>
              <a:spcBef>
                <a:spcPct val="0"/>
              </a:spcBef>
              <a:buAutoNum type="arabicPeriod" startAt="1"/>
            </a:pPr>
            <a:r>
              <a:rPr lang="en-US" sz="2915">
                <a:solidFill>
                  <a:srgbClr val="FFFFFF"/>
                </a:solidFill>
                <a:latin typeface="Poppins"/>
                <a:ea typeface="Poppins"/>
                <a:cs typeface="Poppins"/>
                <a:sym typeface="Poppins"/>
              </a:rPr>
              <a:t>R</a:t>
            </a:r>
            <a:r>
              <a:rPr lang="en-US" sz="2915">
                <a:solidFill>
                  <a:srgbClr val="FFFFFF"/>
                </a:solidFill>
                <a:latin typeface="Poppins"/>
                <a:ea typeface="Poppins"/>
                <a:cs typeface="Poppins"/>
                <a:sym typeface="Poppins"/>
              </a:rPr>
              <a:t>epayment monitoring</a:t>
            </a:r>
          </a:p>
          <a:p>
            <a:pPr algn="just">
              <a:lnSpc>
                <a:spcPts val="3265"/>
              </a:lnSpc>
              <a:spcBef>
                <a:spcPct val="0"/>
              </a:spcBef>
            </a:pPr>
          </a:p>
        </p:txBody>
      </p:sp>
      <p:sp>
        <p:nvSpPr>
          <p:cNvPr name="TextBox 24" id="24"/>
          <p:cNvSpPr txBox="true"/>
          <p:nvPr/>
        </p:nvSpPr>
        <p:spPr>
          <a:xfrm rot="0">
            <a:off x="9210547" y="829460"/>
            <a:ext cx="7400267" cy="4019568"/>
          </a:xfrm>
          <a:prstGeom prst="rect">
            <a:avLst/>
          </a:prstGeom>
        </p:spPr>
        <p:txBody>
          <a:bodyPr anchor="t" rtlCol="false" tIns="0" lIns="0" bIns="0" rIns="0">
            <a:spAutoFit/>
          </a:bodyPr>
          <a:lstStyle/>
          <a:p>
            <a:pPr algn="just">
              <a:lnSpc>
                <a:spcPts val="3102"/>
              </a:lnSpc>
            </a:pPr>
            <a:r>
              <a:rPr lang="en-US" sz="2215" b="true">
                <a:solidFill>
                  <a:srgbClr val="FFFFFF"/>
                </a:solidFill>
                <a:latin typeface="Poppins Bold"/>
                <a:ea typeface="Poppins Bold"/>
                <a:cs typeface="Poppins Bold"/>
                <a:sym typeface="Poppins Bold"/>
              </a:rPr>
              <a:t>Obj</a:t>
            </a:r>
            <a:r>
              <a:rPr lang="en-US" sz="2215" b="true">
                <a:solidFill>
                  <a:srgbClr val="FFFFFF"/>
                </a:solidFill>
                <a:latin typeface="Poppins Bold"/>
                <a:ea typeface="Poppins Bold"/>
                <a:cs typeface="Poppins Bold"/>
                <a:sym typeface="Poppins Bold"/>
              </a:rPr>
              <a:t>ectives of  Yisakal SACCO</a:t>
            </a:r>
          </a:p>
          <a:p>
            <a:pPr algn="just">
              <a:lnSpc>
                <a:spcPts val="2962"/>
              </a:lnSpc>
            </a:pPr>
            <a:r>
              <a:rPr lang="en-US" sz="2115">
                <a:solidFill>
                  <a:srgbClr val="FFFFFF"/>
                </a:solidFill>
                <a:latin typeface="Poppins"/>
                <a:ea typeface="Poppins"/>
                <a:cs typeface="Poppins"/>
                <a:sym typeface="Poppins"/>
              </a:rPr>
              <a:t>G</a:t>
            </a:r>
            <a:r>
              <a:rPr lang="en-US" sz="2115">
                <a:solidFill>
                  <a:srgbClr val="FFFFFF"/>
                </a:solidFill>
                <a:latin typeface="Poppins"/>
                <a:ea typeface="Poppins"/>
                <a:cs typeface="Poppins"/>
                <a:sym typeface="Poppins"/>
              </a:rPr>
              <a:t>eneral Objective</a:t>
            </a:r>
          </a:p>
          <a:p>
            <a:pPr algn="l" marL="456815" indent="-228407" lvl="1">
              <a:lnSpc>
                <a:spcPts val="2962"/>
              </a:lnSpc>
              <a:buFont typeface="Arial"/>
              <a:buChar char="•"/>
            </a:pPr>
            <a:r>
              <a:rPr lang="en-US" sz="2115">
                <a:solidFill>
                  <a:srgbClr val="FFFFFF"/>
                </a:solidFill>
                <a:latin typeface="Poppins"/>
                <a:ea typeface="Poppins"/>
                <a:cs typeface="Poppins"/>
                <a:sym typeface="Poppins"/>
              </a:rPr>
              <a:t>To design and implement an integrated database system using MySQL and MongoDB.</a:t>
            </a:r>
          </a:p>
          <a:p>
            <a:pPr algn="l">
              <a:lnSpc>
                <a:spcPts val="2962"/>
              </a:lnSpc>
            </a:pPr>
          </a:p>
          <a:p>
            <a:pPr algn="just">
              <a:lnSpc>
                <a:spcPts val="2962"/>
              </a:lnSpc>
            </a:pPr>
            <a:r>
              <a:rPr lang="en-US" sz="2115">
                <a:solidFill>
                  <a:srgbClr val="FFFFFF"/>
                </a:solidFill>
                <a:latin typeface="Poppins"/>
                <a:ea typeface="Poppins"/>
                <a:cs typeface="Poppins"/>
                <a:sym typeface="Poppins"/>
              </a:rPr>
              <a:t>Specific Objectives</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Improve data management</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Reduce redundancy</a:t>
            </a:r>
          </a:p>
          <a:p>
            <a:pPr algn="just" marL="456815" indent="-228407" lvl="1">
              <a:lnSpc>
                <a:spcPts val="2962"/>
              </a:lnSpc>
              <a:buFont typeface="Arial"/>
              <a:buChar char="•"/>
            </a:pPr>
            <a:r>
              <a:rPr lang="en-US" sz="2115">
                <a:solidFill>
                  <a:srgbClr val="FFFFFF"/>
                </a:solidFill>
                <a:latin typeface="Poppins"/>
                <a:ea typeface="Poppins"/>
                <a:cs typeface="Poppins"/>
                <a:sym typeface="Poppins"/>
              </a:rPr>
              <a:t>Support reporting</a:t>
            </a:r>
          </a:p>
          <a:p>
            <a:pPr algn="just" marL="456815" indent="-228407" lvl="1">
              <a:lnSpc>
                <a:spcPts val="2962"/>
              </a:lnSpc>
              <a:spcBef>
                <a:spcPct val="0"/>
              </a:spcBef>
              <a:buFont typeface="Arial"/>
              <a:buChar char="•"/>
            </a:pPr>
            <a:r>
              <a:rPr lang="en-US" sz="2115">
                <a:solidFill>
                  <a:srgbClr val="FFFFFF"/>
                </a:solidFill>
                <a:latin typeface="Poppins"/>
                <a:ea typeface="Poppins"/>
                <a:cs typeface="Poppins"/>
                <a:sym typeface="Poppins"/>
              </a:rPr>
              <a:t>E</a:t>
            </a:r>
            <a:r>
              <a:rPr lang="en-US" sz="2115">
                <a:solidFill>
                  <a:srgbClr val="FFFFFF"/>
                </a:solidFill>
                <a:latin typeface="Poppins"/>
                <a:ea typeface="Poppins"/>
                <a:cs typeface="Poppins"/>
                <a:sym typeface="Poppins"/>
              </a:rPr>
              <a:t>nhance security and efficiency</a:t>
            </a:r>
          </a:p>
          <a:p>
            <a:pPr algn="just">
              <a:lnSpc>
                <a:spcPts val="2145"/>
              </a:lnSpc>
              <a:spcBef>
                <a:spcPct val="0"/>
              </a:spcBef>
            </a:pPr>
          </a:p>
        </p:txBody>
      </p:sp>
      <p:sp>
        <p:nvSpPr>
          <p:cNvPr name="TextBox 25" id="25"/>
          <p:cNvSpPr txBox="true"/>
          <p:nvPr/>
        </p:nvSpPr>
        <p:spPr>
          <a:xfrm rot="0">
            <a:off x="9544392" y="5525575"/>
            <a:ext cx="7431172" cy="3496444"/>
          </a:xfrm>
          <a:prstGeom prst="rect">
            <a:avLst/>
          </a:prstGeom>
        </p:spPr>
        <p:txBody>
          <a:bodyPr anchor="t" rtlCol="false" tIns="0" lIns="0" bIns="0" rIns="0">
            <a:spAutoFit/>
          </a:bodyPr>
          <a:lstStyle/>
          <a:p>
            <a:pPr algn="just">
              <a:lnSpc>
                <a:spcPts val="4067"/>
              </a:lnSpc>
            </a:pPr>
            <a:r>
              <a:rPr lang="en-US" sz="2905" b="true">
                <a:solidFill>
                  <a:srgbClr val="FFFFFF"/>
                </a:solidFill>
                <a:latin typeface="Poppins Bold"/>
                <a:ea typeface="Poppins Bold"/>
                <a:cs typeface="Poppins Bold"/>
                <a:sym typeface="Poppins Bold"/>
              </a:rPr>
              <a:t>Curre</a:t>
            </a:r>
            <a:r>
              <a:rPr lang="en-US" sz="2905" b="true">
                <a:solidFill>
                  <a:srgbClr val="FFFFFF"/>
                </a:solidFill>
                <a:latin typeface="Poppins Bold"/>
                <a:ea typeface="Poppins Bold"/>
                <a:cs typeface="Poppins Bold"/>
                <a:sym typeface="Poppins Bold"/>
              </a:rPr>
              <a:t>nt Challenges</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Manual data handling</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Duplic</a:t>
            </a:r>
            <a:r>
              <a:rPr lang="en-US" sz="2905">
                <a:solidFill>
                  <a:srgbClr val="FFFFFF"/>
                </a:solidFill>
                <a:latin typeface="Poppins"/>
                <a:ea typeface="Poppins"/>
                <a:cs typeface="Poppins"/>
                <a:sym typeface="Poppins"/>
              </a:rPr>
              <a:t>ate records</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Slow r</a:t>
            </a:r>
            <a:r>
              <a:rPr lang="en-US" sz="2905">
                <a:solidFill>
                  <a:srgbClr val="FFFFFF"/>
                </a:solidFill>
                <a:latin typeface="Poppins"/>
                <a:ea typeface="Poppins"/>
                <a:cs typeface="Poppins"/>
                <a:sym typeface="Poppins"/>
              </a:rPr>
              <a:t>eport generation</a:t>
            </a:r>
          </a:p>
          <a:p>
            <a:pPr algn="just" marL="627244" indent="-313622" lvl="1">
              <a:lnSpc>
                <a:spcPts val="4067"/>
              </a:lnSpc>
              <a:buFont typeface="Arial"/>
              <a:buChar char="•"/>
            </a:pPr>
            <a:r>
              <a:rPr lang="en-US" sz="2905">
                <a:solidFill>
                  <a:srgbClr val="FFFFFF"/>
                </a:solidFill>
                <a:latin typeface="Poppins"/>
                <a:ea typeface="Poppins"/>
                <a:cs typeface="Poppins"/>
                <a:sym typeface="Poppins"/>
              </a:rPr>
              <a:t>W</a:t>
            </a:r>
            <a:r>
              <a:rPr lang="en-US" sz="2905">
                <a:solidFill>
                  <a:srgbClr val="FFFFFF"/>
                </a:solidFill>
                <a:latin typeface="Poppins"/>
                <a:ea typeface="Poppins"/>
                <a:cs typeface="Poppins"/>
                <a:sym typeface="Poppins"/>
              </a:rPr>
              <a:t>eak security</a:t>
            </a:r>
          </a:p>
          <a:p>
            <a:pPr algn="just" marL="627244" indent="-313622" lvl="1">
              <a:lnSpc>
                <a:spcPts val="4067"/>
              </a:lnSpc>
              <a:spcBef>
                <a:spcPct val="0"/>
              </a:spcBef>
              <a:buFont typeface="Arial"/>
              <a:buChar char="•"/>
            </a:pPr>
            <a:r>
              <a:rPr lang="en-US" sz="2905">
                <a:solidFill>
                  <a:srgbClr val="FFFFFF"/>
                </a:solidFill>
                <a:latin typeface="Poppins"/>
                <a:ea typeface="Poppins"/>
                <a:cs typeface="Poppins"/>
                <a:sym typeface="Poppins"/>
              </a:rPr>
              <a:t>D</a:t>
            </a:r>
            <a:r>
              <a:rPr lang="en-US" sz="2905">
                <a:solidFill>
                  <a:srgbClr val="FFFFFF"/>
                </a:solidFill>
                <a:latin typeface="Poppins"/>
                <a:ea typeface="Poppins"/>
                <a:cs typeface="Poppins"/>
                <a:sym typeface="Poppins"/>
              </a:rPr>
              <a:t>ifficulty tracking loans</a:t>
            </a:r>
          </a:p>
          <a:p>
            <a:pPr algn="just">
              <a:lnSpc>
                <a:spcPts val="319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780152"/>
            <a:ext cx="4449164" cy="1545841"/>
          </a:xfrm>
          <a:custGeom>
            <a:avLst/>
            <a:gdLst/>
            <a:ahLst/>
            <a:cxnLst/>
            <a:rect r="r" b="b" t="t" l="l"/>
            <a:pathLst>
              <a:path h="1545841" w="4449164">
                <a:moveTo>
                  <a:pt x="0" y="0"/>
                </a:moveTo>
                <a:lnTo>
                  <a:pt x="4449164" y="0"/>
                </a:lnTo>
                <a:lnTo>
                  <a:pt x="4449164" y="1545841"/>
                </a:lnTo>
                <a:lnTo>
                  <a:pt x="0" y="1545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84421" y="1780152"/>
            <a:ext cx="4195333" cy="1457649"/>
          </a:xfrm>
          <a:custGeom>
            <a:avLst/>
            <a:gdLst/>
            <a:ahLst/>
            <a:cxnLst/>
            <a:rect r="r" b="b" t="t" l="l"/>
            <a:pathLst>
              <a:path h="1457649" w="4195333">
                <a:moveTo>
                  <a:pt x="0" y="0"/>
                </a:moveTo>
                <a:lnTo>
                  <a:pt x="4195333" y="0"/>
                </a:lnTo>
                <a:lnTo>
                  <a:pt x="4195333" y="1457648"/>
                </a:lnTo>
                <a:lnTo>
                  <a:pt x="0" y="145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95857" y="1774020"/>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323854" y="4077210"/>
            <a:ext cx="586740" cy="586740"/>
          </a:xfrm>
          <a:custGeom>
            <a:avLst/>
            <a:gdLst/>
            <a:ahLst/>
            <a:cxnLst/>
            <a:rect r="r" b="b" t="t" l="l"/>
            <a:pathLst>
              <a:path h="586740" w="586740">
                <a:moveTo>
                  <a:pt x="0" y="0"/>
                </a:moveTo>
                <a:lnTo>
                  <a:pt x="586740" y="0"/>
                </a:lnTo>
                <a:lnTo>
                  <a:pt x="586740" y="586740"/>
                </a:lnTo>
                <a:lnTo>
                  <a:pt x="0" y="5867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597" y="0"/>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0" id="10"/>
          <p:cNvGrpSpPr/>
          <p:nvPr/>
        </p:nvGrpSpPr>
        <p:grpSpPr>
          <a:xfrm rot="0">
            <a:off x="177174" y="3373618"/>
            <a:ext cx="6121447" cy="5557516"/>
            <a:chOff x="0" y="0"/>
            <a:chExt cx="1612233" cy="1463708"/>
          </a:xfrm>
        </p:grpSpPr>
        <p:sp>
          <p:nvSpPr>
            <p:cNvPr name="Freeform 11" id="11"/>
            <p:cNvSpPr/>
            <p:nvPr/>
          </p:nvSpPr>
          <p:spPr>
            <a:xfrm flipH="false" flipV="false" rot="0">
              <a:off x="0" y="0"/>
              <a:ext cx="1612233" cy="1463708"/>
            </a:xfrm>
            <a:custGeom>
              <a:avLst/>
              <a:gdLst/>
              <a:ahLst/>
              <a:cxnLst/>
              <a:rect r="r" b="b" t="t" l="l"/>
              <a:pathLst>
                <a:path h="1463708" w="1612233">
                  <a:moveTo>
                    <a:pt x="64501" y="0"/>
                  </a:moveTo>
                  <a:lnTo>
                    <a:pt x="1547732" y="0"/>
                  </a:lnTo>
                  <a:cubicBezTo>
                    <a:pt x="1564839" y="0"/>
                    <a:pt x="1581245" y="6796"/>
                    <a:pt x="1593341" y="18892"/>
                  </a:cubicBezTo>
                  <a:cubicBezTo>
                    <a:pt x="1605437" y="30988"/>
                    <a:pt x="1612233" y="47394"/>
                    <a:pt x="1612233" y="64501"/>
                  </a:cubicBezTo>
                  <a:lnTo>
                    <a:pt x="1612233" y="1399207"/>
                  </a:lnTo>
                  <a:cubicBezTo>
                    <a:pt x="1612233" y="1434830"/>
                    <a:pt x="1583355" y="1463708"/>
                    <a:pt x="1547732" y="1463708"/>
                  </a:cubicBezTo>
                  <a:lnTo>
                    <a:pt x="64501" y="1463708"/>
                  </a:lnTo>
                  <a:cubicBezTo>
                    <a:pt x="47394" y="1463708"/>
                    <a:pt x="30988" y="1456912"/>
                    <a:pt x="18892" y="1444816"/>
                  </a:cubicBezTo>
                  <a:cubicBezTo>
                    <a:pt x="6796" y="1432720"/>
                    <a:pt x="0" y="1416314"/>
                    <a:pt x="0" y="1399207"/>
                  </a:cubicBezTo>
                  <a:lnTo>
                    <a:pt x="0" y="64501"/>
                  </a:lnTo>
                  <a:cubicBezTo>
                    <a:pt x="0" y="47394"/>
                    <a:pt x="6796" y="30988"/>
                    <a:pt x="18892" y="18892"/>
                  </a:cubicBezTo>
                  <a:cubicBezTo>
                    <a:pt x="30988" y="6796"/>
                    <a:pt x="47394" y="0"/>
                    <a:pt x="64501" y="0"/>
                  </a:cubicBezTo>
                  <a:close/>
                </a:path>
              </a:pathLst>
            </a:custGeom>
            <a:solidFill>
              <a:srgbClr val="3A5A9A"/>
            </a:solidFill>
          </p:spPr>
        </p:sp>
        <p:sp>
          <p:nvSpPr>
            <p:cNvPr name="TextBox 12" id="12"/>
            <p:cNvSpPr txBox="true"/>
            <p:nvPr/>
          </p:nvSpPr>
          <p:spPr>
            <a:xfrm>
              <a:off x="0" y="-57150"/>
              <a:ext cx="1612233" cy="1520858"/>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6491845" y="3325993"/>
            <a:ext cx="5304309" cy="5557516"/>
            <a:chOff x="0" y="0"/>
            <a:chExt cx="1397020" cy="1463708"/>
          </a:xfrm>
        </p:grpSpPr>
        <p:sp>
          <p:nvSpPr>
            <p:cNvPr name="Freeform 14" id="14"/>
            <p:cNvSpPr/>
            <p:nvPr/>
          </p:nvSpPr>
          <p:spPr>
            <a:xfrm flipH="false" flipV="false" rot="0">
              <a:off x="0" y="0"/>
              <a:ext cx="1397020" cy="1463708"/>
            </a:xfrm>
            <a:custGeom>
              <a:avLst/>
              <a:gdLst/>
              <a:ahLst/>
              <a:cxnLst/>
              <a:rect r="r" b="b" t="t" l="l"/>
              <a:pathLst>
                <a:path h="1463708" w="1397020">
                  <a:moveTo>
                    <a:pt x="74437" y="0"/>
                  </a:moveTo>
                  <a:lnTo>
                    <a:pt x="1322583" y="0"/>
                  </a:lnTo>
                  <a:cubicBezTo>
                    <a:pt x="1342325" y="0"/>
                    <a:pt x="1361258" y="7842"/>
                    <a:pt x="1375218" y="21802"/>
                  </a:cubicBezTo>
                  <a:cubicBezTo>
                    <a:pt x="1389177" y="35762"/>
                    <a:pt x="1397020" y="54695"/>
                    <a:pt x="1397020" y="74437"/>
                  </a:cubicBezTo>
                  <a:lnTo>
                    <a:pt x="1397020" y="1389271"/>
                  </a:lnTo>
                  <a:cubicBezTo>
                    <a:pt x="1397020" y="1430381"/>
                    <a:pt x="1363693" y="1463708"/>
                    <a:pt x="1322583" y="1463708"/>
                  </a:cubicBezTo>
                  <a:lnTo>
                    <a:pt x="74437" y="1463708"/>
                  </a:lnTo>
                  <a:cubicBezTo>
                    <a:pt x="54695" y="1463708"/>
                    <a:pt x="35762" y="1455866"/>
                    <a:pt x="21802" y="1441906"/>
                  </a:cubicBezTo>
                  <a:cubicBezTo>
                    <a:pt x="7842" y="1427946"/>
                    <a:pt x="0" y="1409013"/>
                    <a:pt x="0" y="1389271"/>
                  </a:cubicBezTo>
                  <a:lnTo>
                    <a:pt x="0" y="74437"/>
                  </a:lnTo>
                  <a:cubicBezTo>
                    <a:pt x="0" y="33327"/>
                    <a:pt x="33327" y="0"/>
                    <a:pt x="74437" y="0"/>
                  </a:cubicBezTo>
                  <a:close/>
                </a:path>
              </a:pathLst>
            </a:custGeom>
            <a:solidFill>
              <a:srgbClr val="3A5A9A"/>
            </a:solidFill>
          </p:spPr>
        </p:sp>
        <p:sp>
          <p:nvSpPr>
            <p:cNvPr name="TextBox 15" id="15"/>
            <p:cNvSpPr txBox="true"/>
            <p:nvPr/>
          </p:nvSpPr>
          <p:spPr>
            <a:xfrm>
              <a:off x="0" y="-57150"/>
              <a:ext cx="1397020" cy="152085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2167630" y="3237800"/>
            <a:ext cx="5304309" cy="5557516"/>
            <a:chOff x="0" y="0"/>
            <a:chExt cx="1397020" cy="1463708"/>
          </a:xfrm>
        </p:grpSpPr>
        <p:sp>
          <p:nvSpPr>
            <p:cNvPr name="Freeform 17" id="17"/>
            <p:cNvSpPr/>
            <p:nvPr/>
          </p:nvSpPr>
          <p:spPr>
            <a:xfrm flipH="false" flipV="false" rot="0">
              <a:off x="0" y="0"/>
              <a:ext cx="1397020" cy="1463708"/>
            </a:xfrm>
            <a:custGeom>
              <a:avLst/>
              <a:gdLst/>
              <a:ahLst/>
              <a:cxnLst/>
              <a:rect r="r" b="b" t="t" l="l"/>
              <a:pathLst>
                <a:path h="1463708" w="1397020">
                  <a:moveTo>
                    <a:pt x="74437" y="0"/>
                  </a:moveTo>
                  <a:lnTo>
                    <a:pt x="1322583" y="0"/>
                  </a:lnTo>
                  <a:cubicBezTo>
                    <a:pt x="1342325" y="0"/>
                    <a:pt x="1361258" y="7842"/>
                    <a:pt x="1375218" y="21802"/>
                  </a:cubicBezTo>
                  <a:cubicBezTo>
                    <a:pt x="1389177" y="35762"/>
                    <a:pt x="1397020" y="54695"/>
                    <a:pt x="1397020" y="74437"/>
                  </a:cubicBezTo>
                  <a:lnTo>
                    <a:pt x="1397020" y="1389271"/>
                  </a:lnTo>
                  <a:cubicBezTo>
                    <a:pt x="1397020" y="1430381"/>
                    <a:pt x="1363693" y="1463708"/>
                    <a:pt x="1322583" y="1463708"/>
                  </a:cubicBezTo>
                  <a:lnTo>
                    <a:pt x="74437" y="1463708"/>
                  </a:lnTo>
                  <a:cubicBezTo>
                    <a:pt x="54695" y="1463708"/>
                    <a:pt x="35762" y="1455866"/>
                    <a:pt x="21802" y="1441906"/>
                  </a:cubicBezTo>
                  <a:cubicBezTo>
                    <a:pt x="7842" y="1427946"/>
                    <a:pt x="0" y="1409013"/>
                    <a:pt x="0" y="1389271"/>
                  </a:cubicBezTo>
                  <a:lnTo>
                    <a:pt x="0" y="74437"/>
                  </a:lnTo>
                  <a:cubicBezTo>
                    <a:pt x="0" y="33327"/>
                    <a:pt x="33327" y="0"/>
                    <a:pt x="74437" y="0"/>
                  </a:cubicBezTo>
                  <a:close/>
                </a:path>
              </a:pathLst>
            </a:custGeom>
            <a:solidFill>
              <a:srgbClr val="3A5A9A"/>
            </a:solidFill>
          </p:spPr>
        </p:sp>
        <p:sp>
          <p:nvSpPr>
            <p:cNvPr name="TextBox 18" id="18"/>
            <p:cNvSpPr txBox="true"/>
            <p:nvPr/>
          </p:nvSpPr>
          <p:spPr>
            <a:xfrm>
              <a:off x="0" y="-57150"/>
              <a:ext cx="1397020" cy="1520858"/>
            </a:xfrm>
            <a:prstGeom prst="rect">
              <a:avLst/>
            </a:prstGeom>
          </p:spPr>
          <p:txBody>
            <a:bodyPr anchor="ctr" rtlCol="false" tIns="50800" lIns="50800" bIns="50800" rIns="50800"/>
            <a:lstStyle/>
            <a:p>
              <a:pPr algn="ctr">
                <a:lnSpc>
                  <a:spcPts val="2940"/>
                </a:lnSpc>
              </a:pPr>
            </a:p>
          </p:txBody>
        </p:sp>
      </p:grpSp>
      <p:grpSp>
        <p:nvGrpSpPr>
          <p:cNvPr name="Group 19" id="19"/>
          <p:cNvGrpSpPr/>
          <p:nvPr/>
        </p:nvGrpSpPr>
        <p:grpSpPr>
          <a:xfrm rot="0">
            <a:off x="16871401" y="0"/>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465210"/>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434891" y="-262518"/>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323854" y="184484"/>
            <a:ext cx="2618045" cy="1884993"/>
          </a:xfrm>
          <a:custGeom>
            <a:avLst/>
            <a:gdLst/>
            <a:ahLst/>
            <a:cxnLst/>
            <a:rect r="r" b="b" t="t" l="l"/>
            <a:pathLst>
              <a:path h="1884993" w="2618045">
                <a:moveTo>
                  <a:pt x="0" y="0"/>
                </a:moveTo>
                <a:lnTo>
                  <a:pt x="2618045" y="0"/>
                </a:lnTo>
                <a:lnTo>
                  <a:pt x="2618045" y="1884993"/>
                </a:lnTo>
                <a:lnTo>
                  <a:pt x="0" y="188499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9" id="29"/>
          <p:cNvSpPr txBox="true"/>
          <p:nvPr/>
        </p:nvSpPr>
        <p:spPr>
          <a:xfrm rot="0">
            <a:off x="2323854" y="2274942"/>
            <a:ext cx="2718434" cy="603885"/>
          </a:xfrm>
          <a:prstGeom prst="rect">
            <a:avLst/>
          </a:prstGeom>
        </p:spPr>
        <p:txBody>
          <a:bodyPr anchor="t" rtlCol="false" tIns="0" lIns="0" bIns="0" rIns="0">
            <a:spAutoFit/>
          </a:bodyPr>
          <a:lstStyle/>
          <a:p>
            <a:pPr algn="ctr">
              <a:lnSpc>
                <a:spcPts val="2399"/>
              </a:lnSpc>
            </a:pPr>
            <a:r>
              <a:rPr lang="en-US" sz="2399" b="true">
                <a:solidFill>
                  <a:srgbClr val="000000"/>
                </a:solidFill>
                <a:latin typeface="DM Sans Bold"/>
                <a:ea typeface="DM Sans Bold"/>
                <a:cs typeface="DM Sans Bold"/>
                <a:sym typeface="DM Sans Bold"/>
              </a:rPr>
              <a:t>Proposed System Solution</a:t>
            </a:r>
          </a:p>
        </p:txBody>
      </p:sp>
      <p:sp>
        <p:nvSpPr>
          <p:cNvPr name="TextBox 30" id="30"/>
          <p:cNvSpPr txBox="true"/>
          <p:nvPr/>
        </p:nvSpPr>
        <p:spPr>
          <a:xfrm rot="0">
            <a:off x="8184493" y="2373179"/>
            <a:ext cx="3313446" cy="291465"/>
          </a:xfrm>
          <a:prstGeom prst="rect">
            <a:avLst/>
          </a:prstGeom>
        </p:spPr>
        <p:txBody>
          <a:bodyPr anchor="t" rtlCol="false" tIns="0" lIns="0" bIns="0" rIns="0">
            <a:spAutoFit/>
          </a:bodyPr>
          <a:lstStyle/>
          <a:p>
            <a:pPr algn="ctr">
              <a:lnSpc>
                <a:spcPts val="2100"/>
              </a:lnSpc>
            </a:pPr>
            <a:r>
              <a:rPr lang="en-US" sz="2100" b="true">
                <a:solidFill>
                  <a:srgbClr val="FFFFFF"/>
                </a:solidFill>
                <a:latin typeface="DM Sans Bold"/>
                <a:ea typeface="DM Sans Bold"/>
                <a:cs typeface="DM Sans Bold"/>
                <a:sym typeface="DM Sans Bold"/>
              </a:rPr>
              <a:t>Scope of the System</a:t>
            </a:r>
          </a:p>
        </p:txBody>
      </p:sp>
      <p:sp>
        <p:nvSpPr>
          <p:cNvPr name="TextBox 31" id="31"/>
          <p:cNvSpPr txBox="true"/>
          <p:nvPr/>
        </p:nvSpPr>
        <p:spPr>
          <a:xfrm rot="0">
            <a:off x="13570529" y="2373179"/>
            <a:ext cx="2718434" cy="291465"/>
          </a:xfrm>
          <a:prstGeom prst="rect">
            <a:avLst/>
          </a:prstGeom>
        </p:spPr>
        <p:txBody>
          <a:bodyPr anchor="t" rtlCol="false" tIns="0" lIns="0" bIns="0" rIns="0">
            <a:spAutoFit/>
          </a:bodyPr>
          <a:lstStyle/>
          <a:p>
            <a:pPr algn="ctr">
              <a:lnSpc>
                <a:spcPts val="2100"/>
              </a:lnSpc>
            </a:pPr>
            <a:r>
              <a:rPr lang="en-US" sz="2100" b="true">
                <a:solidFill>
                  <a:srgbClr val="000000"/>
                </a:solidFill>
                <a:latin typeface="DM Sans Bold"/>
                <a:ea typeface="DM Sans Bold"/>
                <a:cs typeface="DM Sans Bold"/>
                <a:sym typeface="DM Sans Bold"/>
              </a:rPr>
              <a:t>Role mo</a:t>
            </a:r>
            <a:r>
              <a:rPr lang="en-US" sz="2100" b="true">
                <a:solidFill>
                  <a:srgbClr val="000000"/>
                </a:solidFill>
                <a:latin typeface="DM Sans Bold"/>
                <a:ea typeface="DM Sans Bold"/>
                <a:cs typeface="DM Sans Bold"/>
                <a:sym typeface="DM Sans Bold"/>
              </a:rPr>
              <a:t>deling</a:t>
            </a:r>
          </a:p>
        </p:txBody>
      </p:sp>
      <p:sp>
        <p:nvSpPr>
          <p:cNvPr name="TextBox 32" id="32"/>
          <p:cNvSpPr txBox="true"/>
          <p:nvPr/>
        </p:nvSpPr>
        <p:spPr>
          <a:xfrm rot="0">
            <a:off x="441086" y="3916543"/>
            <a:ext cx="5591897" cy="4190498"/>
          </a:xfrm>
          <a:prstGeom prst="rect">
            <a:avLst/>
          </a:prstGeom>
        </p:spPr>
        <p:txBody>
          <a:bodyPr anchor="t" rtlCol="false" tIns="0" lIns="0" bIns="0" rIns="0">
            <a:spAutoFit/>
          </a:bodyPr>
          <a:lstStyle/>
          <a:p>
            <a:pPr algn="just">
              <a:lnSpc>
                <a:spcPts val="3087"/>
              </a:lnSpc>
            </a:pPr>
          </a:p>
          <a:p>
            <a:pPr algn="just" marL="476118" indent="-238059" lvl="1">
              <a:lnSpc>
                <a:spcPts val="3087"/>
              </a:lnSpc>
              <a:buFont typeface="Arial"/>
              <a:buChar char="•"/>
            </a:pPr>
            <a:r>
              <a:rPr lang="en-US" b="true" sz="2205">
                <a:solidFill>
                  <a:srgbClr val="FFFFFF"/>
                </a:solidFill>
                <a:latin typeface="Poppins Bold"/>
                <a:ea typeface="Poppins Bold"/>
                <a:cs typeface="Poppins Bold"/>
                <a:sym typeface="Poppins Bold"/>
              </a:rPr>
              <a:t>Use MySQL for structured data</a:t>
            </a:r>
          </a:p>
          <a:p>
            <a:pPr algn="just">
              <a:lnSpc>
                <a:spcPts val="3087"/>
              </a:lnSpc>
            </a:pPr>
          </a:p>
          <a:p>
            <a:pPr algn="just" marL="476118" indent="-238059" lvl="1">
              <a:lnSpc>
                <a:spcPts val="3087"/>
              </a:lnSpc>
              <a:buFont typeface="Arial"/>
              <a:buChar char="•"/>
            </a:pPr>
            <a:r>
              <a:rPr lang="en-US" b="true" sz="2205">
                <a:solidFill>
                  <a:srgbClr val="FFFFFF"/>
                </a:solidFill>
                <a:latin typeface="Poppins Bold"/>
                <a:ea typeface="Poppins Bold"/>
                <a:cs typeface="Poppins Bold"/>
                <a:sym typeface="Poppins Bold"/>
              </a:rPr>
              <a:t>Use MongoDB for semi-structured data</a:t>
            </a:r>
          </a:p>
          <a:p>
            <a:pPr algn="just">
              <a:lnSpc>
                <a:spcPts val="3087"/>
              </a:lnSpc>
            </a:pPr>
          </a:p>
          <a:p>
            <a:pPr algn="just" marL="476118" indent="-238059" lvl="1">
              <a:lnSpc>
                <a:spcPts val="3087"/>
              </a:lnSpc>
              <a:buFont typeface="Arial"/>
              <a:buChar char="•"/>
            </a:pPr>
            <a:r>
              <a:rPr lang="en-US" b="true" sz="2205">
                <a:solidFill>
                  <a:srgbClr val="FFFFFF"/>
                </a:solidFill>
                <a:latin typeface="Poppins Bold"/>
                <a:ea typeface="Poppins Bold"/>
                <a:cs typeface="Poppins Bold"/>
                <a:sym typeface="Poppins Bold"/>
              </a:rPr>
              <a:t>Centr</a:t>
            </a:r>
            <a:r>
              <a:rPr lang="en-US" b="true" sz="2205">
                <a:solidFill>
                  <a:srgbClr val="FFFFFF"/>
                </a:solidFill>
                <a:latin typeface="Poppins Bold"/>
                <a:ea typeface="Poppins Bold"/>
                <a:cs typeface="Poppins Bold"/>
                <a:sym typeface="Poppins Bold"/>
              </a:rPr>
              <a:t>alized and secure database system</a:t>
            </a:r>
          </a:p>
          <a:p>
            <a:pPr algn="just">
              <a:lnSpc>
                <a:spcPts val="3087"/>
              </a:lnSpc>
            </a:pPr>
          </a:p>
          <a:p>
            <a:pPr algn="just" marL="476118" indent="-238059" lvl="1">
              <a:lnSpc>
                <a:spcPts val="3087"/>
              </a:lnSpc>
              <a:spcBef>
                <a:spcPct val="0"/>
              </a:spcBef>
              <a:buFont typeface="Arial"/>
              <a:buChar char="•"/>
            </a:pPr>
            <a:r>
              <a:rPr lang="en-US" b="true" sz="2205">
                <a:solidFill>
                  <a:srgbClr val="FFFFFF"/>
                </a:solidFill>
                <a:latin typeface="Poppins Bold"/>
                <a:ea typeface="Poppins Bold"/>
                <a:cs typeface="Poppins Bold"/>
                <a:sym typeface="Poppins Bold"/>
              </a:rPr>
              <a:t>Real-time reporting and tracking</a:t>
            </a:r>
          </a:p>
          <a:p>
            <a:pPr algn="just">
              <a:lnSpc>
                <a:spcPts val="2217"/>
              </a:lnSpc>
              <a:spcBef>
                <a:spcPct val="0"/>
              </a:spcBef>
            </a:pPr>
          </a:p>
        </p:txBody>
      </p:sp>
      <p:sp>
        <p:nvSpPr>
          <p:cNvPr name="TextBox 33" id="33"/>
          <p:cNvSpPr txBox="true"/>
          <p:nvPr/>
        </p:nvSpPr>
        <p:spPr>
          <a:xfrm rot="0">
            <a:off x="6666236" y="4313430"/>
            <a:ext cx="5129918" cy="4354963"/>
          </a:xfrm>
          <a:prstGeom prst="rect">
            <a:avLst/>
          </a:prstGeom>
        </p:spPr>
        <p:txBody>
          <a:bodyPr anchor="t" rtlCol="false" tIns="0" lIns="0" bIns="0" rIns="0">
            <a:spAutoFit/>
          </a:bodyPr>
          <a:lstStyle/>
          <a:p>
            <a:pPr algn="just" marL="454528" indent="-227264" lvl="1">
              <a:lnSpc>
                <a:spcPts val="2947"/>
              </a:lnSpc>
              <a:buFont typeface="Arial"/>
              <a:buChar char="•"/>
            </a:pPr>
            <a:r>
              <a:rPr lang="en-US" b="true" sz="2105">
                <a:solidFill>
                  <a:srgbClr val="FFFFFF"/>
                </a:solidFill>
                <a:latin typeface="Poppins Bold"/>
                <a:ea typeface="Poppins Bold"/>
                <a:cs typeface="Poppins Bold"/>
                <a:sym typeface="Poppins Bold"/>
              </a:rPr>
              <a:t>Member Management</a:t>
            </a:r>
          </a:p>
          <a:p>
            <a:pPr algn="just">
              <a:lnSpc>
                <a:spcPts val="2947"/>
              </a:lnSpc>
            </a:pPr>
          </a:p>
          <a:p>
            <a:pPr algn="just" marL="454528" indent="-227264" lvl="1">
              <a:lnSpc>
                <a:spcPts val="2947"/>
              </a:lnSpc>
              <a:buFont typeface="Arial"/>
              <a:buChar char="•"/>
            </a:pPr>
            <a:r>
              <a:rPr lang="en-US" b="true" sz="2105">
                <a:solidFill>
                  <a:srgbClr val="FFFFFF"/>
                </a:solidFill>
                <a:latin typeface="Poppins Bold"/>
                <a:ea typeface="Poppins Bold"/>
                <a:cs typeface="Poppins Bold"/>
                <a:sym typeface="Poppins Bold"/>
              </a:rPr>
              <a:t>Saving</a:t>
            </a:r>
            <a:r>
              <a:rPr lang="en-US" b="true" sz="2105">
                <a:solidFill>
                  <a:srgbClr val="FFFFFF"/>
                </a:solidFill>
                <a:latin typeface="Poppins Bold"/>
                <a:ea typeface="Poppins Bold"/>
                <a:cs typeface="Poppins Bold"/>
                <a:sym typeface="Poppins Bold"/>
              </a:rPr>
              <a:t>s Management</a:t>
            </a:r>
          </a:p>
          <a:p>
            <a:pPr algn="just">
              <a:lnSpc>
                <a:spcPts val="2947"/>
              </a:lnSpc>
            </a:pPr>
          </a:p>
          <a:p>
            <a:pPr algn="just" marL="454528" indent="-227264" lvl="1">
              <a:lnSpc>
                <a:spcPts val="2947"/>
              </a:lnSpc>
              <a:buFont typeface="Arial"/>
              <a:buChar char="•"/>
            </a:pPr>
            <a:r>
              <a:rPr lang="en-US" b="true" sz="2105">
                <a:solidFill>
                  <a:srgbClr val="FFFFFF"/>
                </a:solidFill>
                <a:latin typeface="Poppins Bold"/>
                <a:ea typeface="Poppins Bold"/>
                <a:cs typeface="Poppins Bold"/>
                <a:sym typeface="Poppins Bold"/>
              </a:rPr>
              <a:t>Loan Managem</a:t>
            </a:r>
            <a:r>
              <a:rPr lang="en-US" b="true" sz="2105">
                <a:solidFill>
                  <a:srgbClr val="FFFFFF"/>
                </a:solidFill>
                <a:latin typeface="Poppins Bold"/>
                <a:ea typeface="Poppins Bold"/>
                <a:cs typeface="Poppins Bold"/>
                <a:sym typeface="Poppins Bold"/>
              </a:rPr>
              <a:t>ent</a:t>
            </a:r>
          </a:p>
          <a:p>
            <a:pPr algn="just">
              <a:lnSpc>
                <a:spcPts val="2947"/>
              </a:lnSpc>
            </a:pPr>
          </a:p>
          <a:p>
            <a:pPr algn="just" marL="454528" indent="-227264" lvl="1">
              <a:lnSpc>
                <a:spcPts val="2947"/>
              </a:lnSpc>
              <a:buFont typeface="Arial"/>
              <a:buChar char="•"/>
            </a:pPr>
            <a:r>
              <a:rPr lang="en-US" b="true" sz="2105">
                <a:solidFill>
                  <a:srgbClr val="FFFFFF"/>
                </a:solidFill>
                <a:latin typeface="Poppins Bold"/>
                <a:ea typeface="Poppins Bold"/>
                <a:cs typeface="Poppins Bold"/>
                <a:sym typeface="Poppins Bold"/>
              </a:rPr>
              <a:t>Tr</a:t>
            </a:r>
            <a:r>
              <a:rPr lang="en-US" b="true" sz="2105">
                <a:solidFill>
                  <a:srgbClr val="FFFFFF"/>
                </a:solidFill>
                <a:latin typeface="Poppins Bold"/>
                <a:ea typeface="Poppins Bold"/>
                <a:cs typeface="Poppins Bold"/>
                <a:sym typeface="Poppins Bold"/>
              </a:rPr>
              <a:t>ansaction Management</a:t>
            </a:r>
          </a:p>
          <a:p>
            <a:pPr algn="just">
              <a:lnSpc>
                <a:spcPts val="2947"/>
              </a:lnSpc>
            </a:pPr>
          </a:p>
          <a:p>
            <a:pPr algn="just" marL="454528" indent="-227264" lvl="1">
              <a:lnSpc>
                <a:spcPts val="2947"/>
              </a:lnSpc>
              <a:buFont typeface="Arial"/>
              <a:buChar char="•"/>
            </a:pPr>
            <a:r>
              <a:rPr lang="en-US" b="true" sz="2105">
                <a:solidFill>
                  <a:srgbClr val="FFFFFF"/>
                </a:solidFill>
                <a:latin typeface="Poppins Bold"/>
                <a:ea typeface="Poppins Bold"/>
                <a:cs typeface="Poppins Bold"/>
                <a:sym typeface="Poppins Bold"/>
              </a:rPr>
              <a:t>Report Generation</a:t>
            </a:r>
          </a:p>
          <a:p>
            <a:pPr algn="just">
              <a:lnSpc>
                <a:spcPts val="2947"/>
              </a:lnSpc>
            </a:pPr>
          </a:p>
          <a:p>
            <a:pPr algn="just" marL="454528" indent="-227264" lvl="1">
              <a:lnSpc>
                <a:spcPts val="2947"/>
              </a:lnSpc>
              <a:spcBef>
                <a:spcPct val="0"/>
              </a:spcBef>
              <a:buFont typeface="Arial"/>
              <a:buChar char="•"/>
            </a:pPr>
            <a:r>
              <a:rPr lang="en-US" b="true" sz="2105">
                <a:solidFill>
                  <a:srgbClr val="FFFFFF"/>
                </a:solidFill>
                <a:latin typeface="Poppins Bold"/>
                <a:ea typeface="Poppins Bold"/>
                <a:cs typeface="Poppins Bold"/>
                <a:sym typeface="Poppins Bold"/>
              </a:rPr>
              <a:t>Audit Record Management</a:t>
            </a:r>
          </a:p>
          <a:p>
            <a:pPr algn="just">
              <a:lnSpc>
                <a:spcPts val="2077"/>
              </a:lnSpc>
              <a:spcBef>
                <a:spcPct val="0"/>
              </a:spcBef>
            </a:pPr>
          </a:p>
        </p:txBody>
      </p:sp>
      <p:sp>
        <p:nvSpPr>
          <p:cNvPr name="TextBox 34" id="34"/>
          <p:cNvSpPr txBox="true"/>
          <p:nvPr/>
        </p:nvSpPr>
        <p:spPr>
          <a:xfrm rot="0">
            <a:off x="12253355" y="3655191"/>
            <a:ext cx="5181537" cy="4289433"/>
          </a:xfrm>
          <a:prstGeom prst="rect">
            <a:avLst/>
          </a:prstGeom>
        </p:spPr>
        <p:txBody>
          <a:bodyPr anchor="t" rtlCol="false" tIns="0" lIns="0" bIns="0" rIns="0">
            <a:spAutoFit/>
          </a:bodyPr>
          <a:lstStyle/>
          <a:p>
            <a:pPr algn="just">
              <a:lnSpc>
                <a:spcPts val="3160"/>
              </a:lnSpc>
            </a:pPr>
          </a:p>
          <a:p>
            <a:pPr algn="l" marL="430006" indent="-215003" lvl="1">
              <a:lnSpc>
                <a:spcPts val="2788"/>
              </a:lnSpc>
              <a:buFont typeface="Arial"/>
              <a:buChar char="•"/>
            </a:pPr>
            <a:r>
              <a:rPr lang="en-US" b="true" sz="1991">
                <a:solidFill>
                  <a:srgbClr val="FFFFFF"/>
                </a:solidFill>
                <a:latin typeface="Poppins Bold"/>
                <a:ea typeface="Poppins Bold"/>
                <a:cs typeface="Poppins Bold"/>
                <a:sym typeface="Poppins Bold"/>
              </a:rPr>
              <a:t>The project integrates both Relational and NoSQL database technologies to overcome the limitations of traditional database systems.</a:t>
            </a:r>
          </a:p>
          <a:p>
            <a:pPr algn="l">
              <a:lnSpc>
                <a:spcPts val="2788"/>
              </a:lnSpc>
            </a:pPr>
          </a:p>
          <a:p>
            <a:pPr algn="l" marL="430006" indent="-215003" lvl="1">
              <a:lnSpc>
                <a:spcPts val="2788"/>
              </a:lnSpc>
              <a:buFont typeface="Arial"/>
              <a:buChar char="•"/>
            </a:pPr>
            <a:r>
              <a:rPr lang="en-US" b="true" sz="1991">
                <a:solidFill>
                  <a:srgbClr val="FFFFFF"/>
                </a:solidFill>
                <a:latin typeface="Poppins Bold"/>
                <a:ea typeface="Poppins Bold"/>
                <a:cs typeface="Poppins Bold"/>
                <a:sym typeface="Poppins Bold"/>
              </a:rPr>
              <a:t>We have applied the proposed database into both Relational and NoSQL databases, which are corresponding/analogous to each other.</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412347" y="325716"/>
            <a:ext cx="17463305" cy="9584172"/>
            <a:chOff x="0" y="0"/>
            <a:chExt cx="4599389" cy="2524226"/>
          </a:xfrm>
        </p:grpSpPr>
        <p:sp>
          <p:nvSpPr>
            <p:cNvPr name="Freeform 3" id="3"/>
            <p:cNvSpPr/>
            <p:nvPr/>
          </p:nvSpPr>
          <p:spPr>
            <a:xfrm flipH="false" flipV="false" rot="0">
              <a:off x="0" y="0"/>
              <a:ext cx="4599389" cy="2524226"/>
            </a:xfrm>
            <a:custGeom>
              <a:avLst/>
              <a:gdLst/>
              <a:ahLst/>
              <a:cxnLst/>
              <a:rect r="r" b="b" t="t" l="l"/>
              <a:pathLst>
                <a:path h="2524226" w="4599389">
                  <a:moveTo>
                    <a:pt x="22610" y="0"/>
                  </a:moveTo>
                  <a:lnTo>
                    <a:pt x="4576780" y="0"/>
                  </a:lnTo>
                  <a:cubicBezTo>
                    <a:pt x="4589266" y="0"/>
                    <a:pt x="4599389" y="10123"/>
                    <a:pt x="4599389" y="22610"/>
                  </a:cubicBezTo>
                  <a:lnTo>
                    <a:pt x="4599389" y="2501617"/>
                  </a:lnTo>
                  <a:cubicBezTo>
                    <a:pt x="4599389" y="2507613"/>
                    <a:pt x="4597007" y="2513364"/>
                    <a:pt x="4592767" y="2517604"/>
                  </a:cubicBezTo>
                  <a:cubicBezTo>
                    <a:pt x="4588527" y="2521844"/>
                    <a:pt x="4582776" y="2524226"/>
                    <a:pt x="4576780" y="2524226"/>
                  </a:cubicBezTo>
                  <a:lnTo>
                    <a:pt x="22610" y="2524226"/>
                  </a:lnTo>
                  <a:cubicBezTo>
                    <a:pt x="10123" y="2524226"/>
                    <a:pt x="0" y="2514104"/>
                    <a:pt x="0" y="2501617"/>
                  </a:cubicBezTo>
                  <a:lnTo>
                    <a:pt x="0" y="22610"/>
                  </a:lnTo>
                  <a:cubicBezTo>
                    <a:pt x="0" y="10123"/>
                    <a:pt x="10123" y="0"/>
                    <a:pt x="22610" y="0"/>
                  </a:cubicBezTo>
                  <a:close/>
                </a:path>
              </a:pathLst>
            </a:custGeom>
            <a:solidFill>
              <a:srgbClr val="FFFFFF"/>
            </a:solidFill>
          </p:spPr>
        </p:sp>
        <p:sp>
          <p:nvSpPr>
            <p:cNvPr name="TextBox 4" id="4"/>
            <p:cNvSpPr txBox="true"/>
            <p:nvPr/>
          </p:nvSpPr>
          <p:spPr>
            <a:xfrm>
              <a:off x="0" y="-57150"/>
              <a:ext cx="4599389" cy="2581376"/>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529469" y="1028700"/>
            <a:ext cx="13584751" cy="7652692"/>
            <a:chOff x="0" y="0"/>
            <a:chExt cx="3577877" cy="2015524"/>
          </a:xfrm>
        </p:grpSpPr>
        <p:sp>
          <p:nvSpPr>
            <p:cNvPr name="Freeform 6" id="6"/>
            <p:cNvSpPr/>
            <p:nvPr/>
          </p:nvSpPr>
          <p:spPr>
            <a:xfrm flipH="false" flipV="false" rot="0">
              <a:off x="0" y="0"/>
              <a:ext cx="3577877" cy="2015524"/>
            </a:xfrm>
            <a:custGeom>
              <a:avLst/>
              <a:gdLst/>
              <a:ahLst/>
              <a:cxnLst/>
              <a:rect r="r" b="b" t="t" l="l"/>
              <a:pathLst>
                <a:path h="2015524" w="3577877">
                  <a:moveTo>
                    <a:pt x="29065" y="0"/>
                  </a:moveTo>
                  <a:lnTo>
                    <a:pt x="3548812" y="0"/>
                  </a:lnTo>
                  <a:cubicBezTo>
                    <a:pt x="3556520" y="0"/>
                    <a:pt x="3563913" y="3062"/>
                    <a:pt x="3569364" y="8513"/>
                  </a:cubicBezTo>
                  <a:cubicBezTo>
                    <a:pt x="3574814" y="13964"/>
                    <a:pt x="3577877" y="21356"/>
                    <a:pt x="3577877" y="29065"/>
                  </a:cubicBezTo>
                  <a:lnTo>
                    <a:pt x="3577877" y="1986459"/>
                  </a:lnTo>
                  <a:cubicBezTo>
                    <a:pt x="3577877" y="2002511"/>
                    <a:pt x="3564864" y="2015524"/>
                    <a:pt x="3548812" y="2015524"/>
                  </a:cubicBezTo>
                  <a:lnTo>
                    <a:pt x="29065" y="2015524"/>
                  </a:lnTo>
                  <a:cubicBezTo>
                    <a:pt x="13013" y="2015524"/>
                    <a:pt x="0" y="2002511"/>
                    <a:pt x="0" y="1986459"/>
                  </a:cubicBezTo>
                  <a:lnTo>
                    <a:pt x="0" y="29065"/>
                  </a:lnTo>
                  <a:cubicBezTo>
                    <a:pt x="0" y="13013"/>
                    <a:pt x="13013" y="0"/>
                    <a:pt x="29065" y="0"/>
                  </a:cubicBezTo>
                  <a:close/>
                </a:path>
              </a:pathLst>
            </a:custGeom>
            <a:solidFill>
              <a:srgbClr val="3A5A9A"/>
            </a:solidFill>
          </p:spPr>
        </p:sp>
        <p:sp>
          <p:nvSpPr>
            <p:cNvPr name="TextBox 7" id="7"/>
            <p:cNvSpPr txBox="true"/>
            <p:nvPr/>
          </p:nvSpPr>
          <p:spPr>
            <a:xfrm>
              <a:off x="0" y="-57150"/>
              <a:ext cx="3577877" cy="2072674"/>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1096677" y="9096988"/>
            <a:ext cx="6162623" cy="1190012"/>
            <a:chOff x="0" y="0"/>
            <a:chExt cx="1623078" cy="313419"/>
          </a:xfrm>
        </p:grpSpPr>
        <p:sp>
          <p:nvSpPr>
            <p:cNvPr name="Freeform 9" id="9"/>
            <p:cNvSpPr/>
            <p:nvPr/>
          </p:nvSpPr>
          <p:spPr>
            <a:xfrm flipH="false" flipV="false" rot="0">
              <a:off x="22942" y="0"/>
              <a:ext cx="1577193" cy="313419"/>
            </a:xfrm>
            <a:custGeom>
              <a:avLst/>
              <a:gdLst/>
              <a:ahLst/>
              <a:cxnLst/>
              <a:rect r="r" b="b" t="t" l="l"/>
              <a:pathLst>
                <a:path h="313419" w="1577193">
                  <a:moveTo>
                    <a:pt x="230509" y="0"/>
                  </a:moveTo>
                  <a:lnTo>
                    <a:pt x="1346685" y="0"/>
                  </a:lnTo>
                  <a:cubicBezTo>
                    <a:pt x="1378021" y="0"/>
                    <a:pt x="1407225" y="15871"/>
                    <a:pt x="1424272" y="42165"/>
                  </a:cubicBezTo>
                  <a:lnTo>
                    <a:pt x="1572799" y="271254"/>
                  </a:lnTo>
                  <a:cubicBezTo>
                    <a:pt x="1578244" y="279652"/>
                    <a:pt x="1578658" y="290356"/>
                    <a:pt x="1573879" y="299150"/>
                  </a:cubicBezTo>
                  <a:cubicBezTo>
                    <a:pt x="1569100" y="307944"/>
                    <a:pt x="1559893" y="313419"/>
                    <a:pt x="1549885" y="313419"/>
                  </a:cubicBezTo>
                  <a:lnTo>
                    <a:pt x="27309" y="313419"/>
                  </a:lnTo>
                  <a:cubicBezTo>
                    <a:pt x="17300" y="313419"/>
                    <a:pt x="8094" y="307944"/>
                    <a:pt x="3315" y="299150"/>
                  </a:cubicBezTo>
                  <a:cubicBezTo>
                    <a:pt x="-1464" y="290356"/>
                    <a:pt x="-1050" y="279652"/>
                    <a:pt x="4395" y="271254"/>
                  </a:cubicBezTo>
                  <a:lnTo>
                    <a:pt x="152921" y="42165"/>
                  </a:lnTo>
                  <a:cubicBezTo>
                    <a:pt x="169968" y="15871"/>
                    <a:pt x="199172" y="0"/>
                    <a:pt x="230509" y="0"/>
                  </a:cubicBezTo>
                  <a:close/>
                </a:path>
              </a:pathLst>
            </a:custGeom>
            <a:solidFill>
              <a:srgbClr val="C8E5EB"/>
            </a:solidFill>
          </p:spPr>
        </p:sp>
        <p:sp>
          <p:nvSpPr>
            <p:cNvPr name="TextBox 10" id="10"/>
            <p:cNvSpPr txBox="true"/>
            <p:nvPr/>
          </p:nvSpPr>
          <p:spPr>
            <a:xfrm>
              <a:off x="127000" y="-57150"/>
              <a:ext cx="1369078" cy="370569"/>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1867936" y="2125073"/>
            <a:ext cx="12907815" cy="5909258"/>
          </a:xfrm>
          <a:prstGeom prst="rect">
            <a:avLst/>
          </a:prstGeom>
        </p:spPr>
        <p:txBody>
          <a:bodyPr anchor="t" rtlCol="false" tIns="0" lIns="0" bIns="0" rIns="0">
            <a:spAutoFit/>
          </a:bodyPr>
          <a:lstStyle/>
          <a:p>
            <a:pPr algn="just">
              <a:lnSpc>
                <a:spcPts val="3440"/>
              </a:lnSpc>
            </a:pPr>
            <a:r>
              <a:rPr lang="en-US" sz="2457">
                <a:solidFill>
                  <a:srgbClr val="FFFFFF"/>
                </a:solidFill>
                <a:latin typeface="Poppins"/>
                <a:ea typeface="Poppins"/>
                <a:cs typeface="Poppins"/>
                <a:sym typeface="Poppins"/>
              </a:rPr>
              <a:t>T</a:t>
            </a:r>
            <a:r>
              <a:rPr lang="en-US" sz="2457">
                <a:solidFill>
                  <a:srgbClr val="FFFFFF"/>
                </a:solidFill>
                <a:latin typeface="Poppins"/>
                <a:ea typeface="Poppins"/>
                <a:cs typeface="Poppins"/>
                <a:sym typeface="Poppins"/>
              </a:rPr>
              <a:t>ools and Technologies Used</a:t>
            </a:r>
          </a:p>
          <a:p>
            <a:pPr algn="just">
              <a:lnSpc>
                <a:spcPts val="3440"/>
              </a:lnSpc>
            </a:pPr>
          </a:p>
          <a:p>
            <a:pPr algn="just" marL="530542" indent="-265271" lvl="1">
              <a:lnSpc>
                <a:spcPts val="3440"/>
              </a:lnSpc>
              <a:buFont typeface="Arial"/>
              <a:buChar char="•"/>
            </a:pPr>
            <a:r>
              <a:rPr lang="en-US" sz="2457">
                <a:solidFill>
                  <a:srgbClr val="FFFFFF"/>
                </a:solidFill>
                <a:latin typeface="Poppins"/>
                <a:ea typeface="Poppins"/>
                <a:cs typeface="Poppins"/>
                <a:sym typeface="Poppins"/>
              </a:rPr>
              <a:t>MySQL – Relational database management</a:t>
            </a:r>
          </a:p>
          <a:p>
            <a:pPr algn="just">
              <a:lnSpc>
                <a:spcPts val="3440"/>
              </a:lnSpc>
            </a:pPr>
          </a:p>
          <a:p>
            <a:pPr algn="just" marL="530542" indent="-265271" lvl="1">
              <a:lnSpc>
                <a:spcPts val="3440"/>
              </a:lnSpc>
              <a:buFont typeface="Arial"/>
              <a:buChar char="•"/>
            </a:pPr>
            <a:r>
              <a:rPr lang="en-US" sz="2457">
                <a:solidFill>
                  <a:srgbClr val="FFFFFF"/>
                </a:solidFill>
                <a:latin typeface="Poppins"/>
                <a:ea typeface="Poppins"/>
                <a:cs typeface="Poppins"/>
                <a:sym typeface="Poppins"/>
              </a:rPr>
              <a:t>MongoDB – NoSQL database management</a:t>
            </a:r>
          </a:p>
          <a:p>
            <a:pPr algn="just">
              <a:lnSpc>
                <a:spcPts val="3440"/>
              </a:lnSpc>
            </a:pPr>
          </a:p>
          <a:p>
            <a:pPr algn="just" marL="530542" indent="-265271" lvl="1">
              <a:lnSpc>
                <a:spcPts val="3440"/>
              </a:lnSpc>
              <a:buFont typeface="Arial"/>
              <a:buChar char="•"/>
            </a:pPr>
            <a:r>
              <a:rPr lang="en-US" sz="2457">
                <a:solidFill>
                  <a:srgbClr val="FFFFFF"/>
                </a:solidFill>
                <a:latin typeface="Poppins"/>
                <a:ea typeface="Poppins"/>
                <a:cs typeface="Poppins"/>
                <a:sym typeface="Poppins"/>
              </a:rPr>
              <a:t>MySQL Workbench – Database design and query execution</a:t>
            </a:r>
          </a:p>
          <a:p>
            <a:pPr algn="just">
              <a:lnSpc>
                <a:spcPts val="3440"/>
              </a:lnSpc>
            </a:pPr>
          </a:p>
          <a:p>
            <a:pPr algn="just" marL="530542" indent="-265271" lvl="1">
              <a:lnSpc>
                <a:spcPts val="3440"/>
              </a:lnSpc>
              <a:buFont typeface="Arial"/>
              <a:buChar char="•"/>
            </a:pPr>
            <a:r>
              <a:rPr lang="en-US" sz="2457">
                <a:solidFill>
                  <a:srgbClr val="FFFFFF"/>
                </a:solidFill>
                <a:latin typeface="Poppins"/>
                <a:ea typeface="Poppins"/>
                <a:cs typeface="Poppins"/>
                <a:sym typeface="Poppins"/>
              </a:rPr>
              <a:t>MongoDB Compass – MongoDB administration tool</a:t>
            </a:r>
          </a:p>
          <a:p>
            <a:pPr algn="just">
              <a:lnSpc>
                <a:spcPts val="3440"/>
              </a:lnSpc>
            </a:pPr>
          </a:p>
          <a:p>
            <a:pPr algn="just" marL="530542" indent="-265271" lvl="1">
              <a:lnSpc>
                <a:spcPts val="3440"/>
              </a:lnSpc>
              <a:buFont typeface="Arial"/>
              <a:buChar char="•"/>
            </a:pPr>
            <a:r>
              <a:rPr lang="en-US" sz="2457">
                <a:solidFill>
                  <a:srgbClr val="FFFFFF"/>
                </a:solidFill>
                <a:latin typeface="Poppins"/>
                <a:ea typeface="Poppins"/>
                <a:cs typeface="Poppins"/>
                <a:sym typeface="Poppins"/>
              </a:rPr>
              <a:t>Lucidchart and draw.io – ER diagram and system design</a:t>
            </a:r>
          </a:p>
          <a:p>
            <a:pPr algn="just">
              <a:lnSpc>
                <a:spcPts val="3440"/>
              </a:lnSpc>
            </a:pPr>
          </a:p>
          <a:p>
            <a:pPr algn="just" marL="530542" indent="-265271" lvl="1">
              <a:lnSpc>
                <a:spcPts val="3440"/>
              </a:lnSpc>
              <a:spcBef>
                <a:spcPct val="0"/>
              </a:spcBef>
              <a:buFont typeface="Arial"/>
              <a:buChar char="•"/>
            </a:pPr>
            <a:r>
              <a:rPr lang="en-US" sz="2457">
                <a:solidFill>
                  <a:srgbClr val="FFFFFF"/>
                </a:solidFill>
                <a:latin typeface="Poppins"/>
                <a:ea typeface="Poppins"/>
                <a:cs typeface="Poppins"/>
                <a:sym typeface="Poppins"/>
              </a:rPr>
              <a:t>G</a:t>
            </a:r>
            <a:r>
              <a:rPr lang="en-US" sz="2457">
                <a:solidFill>
                  <a:srgbClr val="FFFFFF"/>
                </a:solidFill>
                <a:latin typeface="Poppins"/>
                <a:ea typeface="Poppins"/>
                <a:cs typeface="Poppins"/>
                <a:sym typeface="Poppins"/>
              </a:rPr>
              <a:t>itHub – Project documentation and collaboration</a:t>
            </a:r>
          </a:p>
          <a:p>
            <a:pPr algn="just">
              <a:lnSpc>
                <a:spcPts val="2552"/>
              </a:lnSpc>
              <a:spcBef>
                <a:spcPct val="0"/>
              </a:spcBef>
            </a:pPr>
          </a:p>
        </p:txBody>
      </p:sp>
      <p:grpSp>
        <p:nvGrpSpPr>
          <p:cNvPr name="Group 12" id="12"/>
          <p:cNvGrpSpPr/>
          <p:nvPr/>
        </p:nvGrpSpPr>
        <p:grpSpPr>
          <a:xfrm rot="0">
            <a:off x="15720724" y="514350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5327294" y="3274756"/>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7000610" y="6566511"/>
            <a:ext cx="1126981" cy="11269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720724" y="1929925"/>
            <a:ext cx="1126981" cy="11269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847704" y="1074292"/>
            <a:ext cx="1126981" cy="11269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412347" y="804869"/>
            <a:ext cx="17463305" cy="9105019"/>
            <a:chOff x="0" y="0"/>
            <a:chExt cx="4599389" cy="2398030"/>
          </a:xfrm>
        </p:grpSpPr>
        <p:sp>
          <p:nvSpPr>
            <p:cNvPr name="Freeform 3" id="3"/>
            <p:cNvSpPr/>
            <p:nvPr/>
          </p:nvSpPr>
          <p:spPr>
            <a:xfrm flipH="false" flipV="false" rot="0">
              <a:off x="0" y="0"/>
              <a:ext cx="4599389" cy="2398030"/>
            </a:xfrm>
            <a:custGeom>
              <a:avLst/>
              <a:gdLst/>
              <a:ahLst/>
              <a:cxnLst/>
              <a:rect r="r" b="b" t="t" l="l"/>
              <a:pathLst>
                <a:path h="2398030" w="4599389">
                  <a:moveTo>
                    <a:pt x="22610" y="0"/>
                  </a:moveTo>
                  <a:lnTo>
                    <a:pt x="4576780" y="0"/>
                  </a:lnTo>
                  <a:cubicBezTo>
                    <a:pt x="4589266" y="0"/>
                    <a:pt x="4599389" y="10123"/>
                    <a:pt x="4599389" y="22610"/>
                  </a:cubicBezTo>
                  <a:lnTo>
                    <a:pt x="4599389" y="2375420"/>
                  </a:lnTo>
                  <a:cubicBezTo>
                    <a:pt x="4599389" y="2381416"/>
                    <a:pt x="4597007" y="2387167"/>
                    <a:pt x="4592767" y="2391407"/>
                  </a:cubicBezTo>
                  <a:cubicBezTo>
                    <a:pt x="4588527" y="2395648"/>
                    <a:pt x="4582776" y="2398030"/>
                    <a:pt x="4576780" y="2398030"/>
                  </a:cubicBezTo>
                  <a:lnTo>
                    <a:pt x="22610" y="2398030"/>
                  </a:lnTo>
                  <a:cubicBezTo>
                    <a:pt x="10123" y="2398030"/>
                    <a:pt x="0" y="2387907"/>
                    <a:pt x="0" y="2375420"/>
                  </a:cubicBezTo>
                  <a:lnTo>
                    <a:pt x="0" y="22610"/>
                  </a:lnTo>
                  <a:cubicBezTo>
                    <a:pt x="0" y="10123"/>
                    <a:pt x="10123" y="0"/>
                    <a:pt x="22610" y="0"/>
                  </a:cubicBezTo>
                  <a:close/>
                </a:path>
              </a:pathLst>
            </a:custGeom>
            <a:solidFill>
              <a:srgbClr val="FFFFFF"/>
            </a:solidFill>
          </p:spPr>
        </p:sp>
        <p:sp>
          <p:nvSpPr>
            <p:cNvPr name="TextBox 4" id="4"/>
            <p:cNvSpPr txBox="true"/>
            <p:nvPr/>
          </p:nvSpPr>
          <p:spPr>
            <a:xfrm>
              <a:off x="0" y="-57150"/>
              <a:ext cx="4599389" cy="2455180"/>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1096677" y="9096988"/>
            <a:ext cx="6162623" cy="1190012"/>
            <a:chOff x="0" y="0"/>
            <a:chExt cx="1623078" cy="313419"/>
          </a:xfrm>
        </p:grpSpPr>
        <p:sp>
          <p:nvSpPr>
            <p:cNvPr name="Freeform 6" id="6"/>
            <p:cNvSpPr/>
            <p:nvPr/>
          </p:nvSpPr>
          <p:spPr>
            <a:xfrm flipH="false" flipV="false" rot="0">
              <a:off x="22942" y="0"/>
              <a:ext cx="1577193" cy="313419"/>
            </a:xfrm>
            <a:custGeom>
              <a:avLst/>
              <a:gdLst/>
              <a:ahLst/>
              <a:cxnLst/>
              <a:rect r="r" b="b" t="t" l="l"/>
              <a:pathLst>
                <a:path h="313419" w="1577193">
                  <a:moveTo>
                    <a:pt x="230509" y="0"/>
                  </a:moveTo>
                  <a:lnTo>
                    <a:pt x="1346685" y="0"/>
                  </a:lnTo>
                  <a:cubicBezTo>
                    <a:pt x="1378021" y="0"/>
                    <a:pt x="1407225" y="15871"/>
                    <a:pt x="1424272" y="42165"/>
                  </a:cubicBezTo>
                  <a:lnTo>
                    <a:pt x="1572799" y="271254"/>
                  </a:lnTo>
                  <a:cubicBezTo>
                    <a:pt x="1578244" y="279652"/>
                    <a:pt x="1578658" y="290356"/>
                    <a:pt x="1573879" y="299150"/>
                  </a:cubicBezTo>
                  <a:cubicBezTo>
                    <a:pt x="1569100" y="307944"/>
                    <a:pt x="1559893" y="313419"/>
                    <a:pt x="1549885" y="313419"/>
                  </a:cubicBezTo>
                  <a:lnTo>
                    <a:pt x="27309" y="313419"/>
                  </a:lnTo>
                  <a:cubicBezTo>
                    <a:pt x="17300" y="313419"/>
                    <a:pt x="8094" y="307944"/>
                    <a:pt x="3315" y="299150"/>
                  </a:cubicBezTo>
                  <a:cubicBezTo>
                    <a:pt x="-1464" y="290356"/>
                    <a:pt x="-1050" y="279652"/>
                    <a:pt x="4395" y="271254"/>
                  </a:cubicBezTo>
                  <a:lnTo>
                    <a:pt x="152921" y="42165"/>
                  </a:lnTo>
                  <a:cubicBezTo>
                    <a:pt x="169968" y="15871"/>
                    <a:pt x="199172" y="0"/>
                    <a:pt x="230509" y="0"/>
                  </a:cubicBezTo>
                  <a:close/>
                </a:path>
              </a:pathLst>
            </a:custGeom>
            <a:solidFill>
              <a:srgbClr val="C8E5EB"/>
            </a:solidFill>
          </p:spPr>
        </p:sp>
        <p:sp>
          <p:nvSpPr>
            <p:cNvPr name="TextBox 7" id="7"/>
            <p:cNvSpPr txBox="true"/>
            <p:nvPr/>
          </p:nvSpPr>
          <p:spPr>
            <a:xfrm>
              <a:off x="127000" y="-57150"/>
              <a:ext cx="1369078" cy="370569"/>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5720724" y="5143500"/>
            <a:ext cx="1126981" cy="112698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327294" y="3274756"/>
            <a:ext cx="1126981" cy="11269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7000610" y="6566511"/>
            <a:ext cx="1126981" cy="11269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720724" y="1929925"/>
            <a:ext cx="1126981" cy="112698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6847704" y="1074292"/>
            <a:ext cx="1126981" cy="112698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729685" y="804869"/>
            <a:ext cx="17145967" cy="9105019"/>
          </a:xfrm>
          <a:custGeom>
            <a:avLst/>
            <a:gdLst/>
            <a:ahLst/>
            <a:cxnLst/>
            <a:rect r="r" b="b" t="t" l="l"/>
            <a:pathLst>
              <a:path h="9105019" w="17145967">
                <a:moveTo>
                  <a:pt x="0" y="0"/>
                </a:moveTo>
                <a:lnTo>
                  <a:pt x="17145968" y="0"/>
                </a:lnTo>
                <a:lnTo>
                  <a:pt x="17145968" y="9105019"/>
                </a:lnTo>
                <a:lnTo>
                  <a:pt x="0" y="9105019"/>
                </a:lnTo>
                <a:lnTo>
                  <a:pt x="0" y="0"/>
                </a:lnTo>
                <a:close/>
              </a:path>
            </a:pathLst>
          </a:custGeom>
          <a:blipFill>
            <a:blip r:embed="rId2"/>
            <a:stretch>
              <a:fillRect l="-1493" t="0" r="-1493" b="0"/>
            </a:stretch>
          </a:blipFill>
        </p:spPr>
      </p:sp>
      <p:sp>
        <p:nvSpPr>
          <p:cNvPr name="TextBox 24" id="24"/>
          <p:cNvSpPr txBox="true"/>
          <p:nvPr/>
        </p:nvSpPr>
        <p:spPr>
          <a:xfrm rot="0">
            <a:off x="729685" y="931213"/>
            <a:ext cx="12907815" cy="633544"/>
          </a:xfrm>
          <a:prstGeom prst="rect">
            <a:avLst/>
          </a:prstGeom>
        </p:spPr>
        <p:txBody>
          <a:bodyPr anchor="t" rtlCol="false" tIns="0" lIns="0" bIns="0" rIns="0">
            <a:spAutoFit/>
          </a:bodyPr>
          <a:lstStyle/>
          <a:p>
            <a:pPr algn="just">
              <a:lnSpc>
                <a:spcPts val="4980"/>
              </a:lnSpc>
              <a:spcBef>
                <a:spcPct val="0"/>
              </a:spcBef>
            </a:pPr>
            <a:r>
              <a:rPr lang="en-US" b="true" sz="3557">
                <a:solidFill>
                  <a:srgbClr val="0B51AF"/>
                </a:solidFill>
                <a:latin typeface="Poppins Bold"/>
                <a:ea typeface="Poppins Bold"/>
                <a:cs typeface="Poppins Bold"/>
                <a:sym typeface="Poppins Bold"/>
              </a:rPr>
              <a:t>The conceptual ER diagram</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1028700" y="0"/>
            <a:ext cx="16230600" cy="9927951"/>
            <a:chOff x="0" y="0"/>
            <a:chExt cx="4274726" cy="2614769"/>
          </a:xfrm>
        </p:grpSpPr>
        <p:sp>
          <p:nvSpPr>
            <p:cNvPr name="Freeform 3" id="3"/>
            <p:cNvSpPr/>
            <p:nvPr/>
          </p:nvSpPr>
          <p:spPr>
            <a:xfrm flipH="false" flipV="false" rot="0">
              <a:off x="0" y="0"/>
              <a:ext cx="4274726" cy="2614769"/>
            </a:xfrm>
            <a:custGeom>
              <a:avLst/>
              <a:gdLst/>
              <a:ahLst/>
              <a:cxnLst/>
              <a:rect r="r" b="b" t="t" l="l"/>
              <a:pathLst>
                <a:path h="2614769" w="4274726">
                  <a:moveTo>
                    <a:pt x="24327" y="0"/>
                  </a:moveTo>
                  <a:lnTo>
                    <a:pt x="4250399" y="0"/>
                  </a:lnTo>
                  <a:cubicBezTo>
                    <a:pt x="4263834" y="0"/>
                    <a:pt x="4274726" y="10891"/>
                    <a:pt x="4274726" y="24327"/>
                  </a:cubicBezTo>
                  <a:lnTo>
                    <a:pt x="4274726" y="2590442"/>
                  </a:lnTo>
                  <a:cubicBezTo>
                    <a:pt x="4274726" y="2603878"/>
                    <a:pt x="4263834" y="2614769"/>
                    <a:pt x="4250399" y="2614769"/>
                  </a:cubicBezTo>
                  <a:lnTo>
                    <a:pt x="24327" y="2614769"/>
                  </a:lnTo>
                  <a:cubicBezTo>
                    <a:pt x="10891" y="2614769"/>
                    <a:pt x="0" y="2603878"/>
                    <a:pt x="0" y="2590442"/>
                  </a:cubicBezTo>
                  <a:lnTo>
                    <a:pt x="0" y="24327"/>
                  </a:lnTo>
                  <a:cubicBezTo>
                    <a:pt x="0" y="10891"/>
                    <a:pt x="10891" y="0"/>
                    <a:pt x="24327" y="0"/>
                  </a:cubicBezTo>
                  <a:close/>
                </a:path>
              </a:pathLst>
            </a:custGeom>
            <a:solidFill>
              <a:srgbClr val="3A5A9A"/>
            </a:solidFill>
          </p:spPr>
        </p:sp>
        <p:sp>
          <p:nvSpPr>
            <p:cNvPr name="TextBox 4" id="4"/>
            <p:cNvSpPr txBox="true"/>
            <p:nvPr/>
          </p:nvSpPr>
          <p:spPr>
            <a:xfrm>
              <a:off x="0" y="-57150"/>
              <a:ext cx="4274726" cy="2671919"/>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599894" y="182911"/>
            <a:ext cx="15088212" cy="9677359"/>
          </a:xfrm>
          <a:prstGeom prst="rect">
            <a:avLst/>
          </a:prstGeom>
        </p:spPr>
        <p:txBody>
          <a:bodyPr anchor="t" rtlCol="false" tIns="0" lIns="0" bIns="0" rIns="0">
            <a:spAutoFit/>
          </a:bodyPr>
          <a:lstStyle/>
          <a:p>
            <a:pPr algn="just">
              <a:lnSpc>
                <a:spcPts val="5421"/>
              </a:lnSpc>
            </a:pPr>
            <a:r>
              <a:rPr lang="en-US" sz="3872">
                <a:solidFill>
                  <a:srgbClr val="FFFFFF"/>
                </a:solidFill>
                <a:latin typeface="Poppins"/>
                <a:ea typeface="Poppins"/>
                <a:cs typeface="Poppins"/>
                <a:sym typeface="Poppins"/>
              </a:rPr>
              <a:t> Entity Identification and Classification</a:t>
            </a:r>
          </a:p>
          <a:p>
            <a:pPr algn="just">
              <a:lnSpc>
                <a:spcPts val="4021"/>
              </a:lnSpc>
            </a:pPr>
          </a:p>
          <a:p>
            <a:pPr algn="just" marL="620161" indent="-310081" lvl="1">
              <a:lnSpc>
                <a:spcPts val="4021"/>
              </a:lnSpc>
              <a:buFont typeface="Arial"/>
              <a:buChar char="•"/>
            </a:pPr>
            <a:r>
              <a:rPr lang="en-US" sz="2872">
                <a:solidFill>
                  <a:srgbClr val="FFFFFF"/>
                </a:solidFill>
                <a:latin typeface="Poppins"/>
                <a:ea typeface="Poppins"/>
                <a:cs typeface="Poppins"/>
                <a:sym typeface="Poppins"/>
              </a:rPr>
              <a:t>Branch – Stores information about SACCO branches.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Employee – Stores information about SACCO employees.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Member – Stores information</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about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SACCO membe</a:t>
            </a:r>
            <a:r>
              <a:rPr lang="en-US" sz="2872">
                <a:solidFill>
                  <a:srgbClr val="FFFFFF"/>
                </a:solidFill>
                <a:latin typeface="Poppins"/>
                <a:ea typeface="Poppins"/>
                <a:cs typeface="Poppins"/>
                <a:sym typeface="Poppins"/>
              </a:rPr>
              <a:t>r</a:t>
            </a:r>
            <a:r>
              <a:rPr lang="en-US" sz="2872">
                <a:solidFill>
                  <a:srgbClr val="FFFFFF"/>
                </a:solidFill>
                <a:latin typeface="Poppins"/>
                <a:ea typeface="Poppins"/>
                <a:cs typeface="Poppins"/>
                <a:sym typeface="Poppins"/>
              </a:rPr>
              <a:t>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Lo</a:t>
            </a:r>
            <a:r>
              <a:rPr lang="en-US" sz="2872">
                <a:solidFill>
                  <a:srgbClr val="FFFFFF"/>
                </a:solidFill>
                <a:latin typeface="Poppins"/>
                <a:ea typeface="Poppins"/>
                <a:cs typeface="Poppins"/>
                <a:sym typeface="Poppins"/>
              </a:rPr>
              <a:t>an</a:t>
            </a:r>
            <a:r>
              <a:rPr lang="en-US" sz="2872">
                <a:solidFill>
                  <a:srgbClr val="FFFFFF"/>
                </a:solidFill>
                <a:latin typeface="Poppins"/>
                <a:ea typeface="Poppins"/>
                <a:cs typeface="Poppins"/>
                <a:sym typeface="Poppins"/>
              </a:rPr>
              <a:t> Produ</a:t>
            </a:r>
            <a:r>
              <a:rPr lang="en-US" sz="2872">
                <a:solidFill>
                  <a:srgbClr val="FFFFFF"/>
                </a:solidFill>
                <a:latin typeface="Poppins"/>
                <a:ea typeface="Poppins"/>
                <a:cs typeface="Poppins"/>
                <a:sym typeface="Poppins"/>
              </a:rPr>
              <a:t>c</a:t>
            </a:r>
            <a:r>
              <a:rPr lang="en-US" sz="2872">
                <a:solidFill>
                  <a:srgbClr val="FFFFFF"/>
                </a:solidFill>
                <a:latin typeface="Poppins"/>
                <a:ea typeface="Poppins"/>
                <a:cs typeface="Poppins"/>
                <a:sym typeface="Poppins"/>
              </a:rPr>
              <a:t>t –</a:t>
            </a:r>
            <a:r>
              <a:rPr lang="en-US" sz="2872">
                <a:solidFill>
                  <a:srgbClr val="FFFFFF"/>
                </a:solidFill>
                <a:latin typeface="Poppins"/>
                <a:ea typeface="Poppins"/>
                <a:cs typeface="Poppins"/>
                <a:sym typeface="Poppins"/>
              </a:rPr>
              <a:t> St</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r</a:t>
            </a:r>
            <a:r>
              <a:rPr lang="en-US" sz="2872">
                <a:solidFill>
                  <a:srgbClr val="FFFFFF"/>
                </a:solidFill>
                <a:latin typeface="Poppins"/>
                <a:ea typeface="Poppins"/>
                <a:cs typeface="Poppins"/>
                <a:sym typeface="Poppins"/>
              </a:rPr>
              <a:t>es different types </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f loan services offered.</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Savi</a:t>
            </a:r>
            <a:r>
              <a:rPr lang="en-US" sz="2872">
                <a:solidFill>
                  <a:srgbClr val="FFFFFF"/>
                </a:solidFill>
                <a:latin typeface="Poppins"/>
                <a:ea typeface="Poppins"/>
                <a:cs typeface="Poppins"/>
                <a:sym typeface="Poppins"/>
              </a:rPr>
              <a:t>ng</a:t>
            </a:r>
            <a:r>
              <a:rPr lang="en-US" sz="2872">
                <a:solidFill>
                  <a:srgbClr val="FFFFFF"/>
                </a:solidFill>
                <a:latin typeface="Poppins"/>
                <a:ea typeface="Poppins"/>
                <a:cs typeface="Poppins"/>
                <a:sym typeface="Poppins"/>
              </a:rPr>
              <a:t> Accou</a:t>
            </a:r>
            <a:r>
              <a:rPr lang="en-US" sz="2872">
                <a:solidFill>
                  <a:srgbClr val="FFFFFF"/>
                </a:solidFill>
                <a:latin typeface="Poppins"/>
                <a:ea typeface="Poppins"/>
                <a:cs typeface="Poppins"/>
                <a:sym typeface="Poppins"/>
              </a:rPr>
              <a:t>nt</a:t>
            </a:r>
            <a:r>
              <a:rPr lang="en-US" sz="2872">
                <a:solidFill>
                  <a:srgbClr val="FFFFFF"/>
                </a:solidFill>
                <a:latin typeface="Poppins"/>
                <a:ea typeface="Poppins"/>
                <a:cs typeface="Poppins"/>
                <a:sym typeface="Poppins"/>
              </a:rPr>
              <a:t> Produc</a:t>
            </a:r>
            <a:r>
              <a:rPr lang="en-US" sz="2872">
                <a:solidFill>
                  <a:srgbClr val="FFFFFF"/>
                </a:solidFill>
                <a:latin typeface="Poppins"/>
                <a:ea typeface="Poppins"/>
                <a:cs typeface="Poppins"/>
                <a:sym typeface="Poppins"/>
              </a:rPr>
              <a:t>t </a:t>
            </a:r>
            <a:r>
              <a:rPr lang="en-US" sz="2872">
                <a:solidFill>
                  <a:srgbClr val="FFFFFF"/>
                </a:solidFill>
                <a:latin typeface="Poppins"/>
                <a:ea typeface="Poppins"/>
                <a:cs typeface="Poppins"/>
                <a:sym typeface="Poppins"/>
              </a:rPr>
              <a:t>– Sto</a:t>
            </a:r>
            <a:r>
              <a:rPr lang="en-US" sz="2872">
                <a:solidFill>
                  <a:srgbClr val="FFFFFF"/>
                </a:solidFill>
                <a:latin typeface="Poppins"/>
                <a:ea typeface="Poppins"/>
                <a:cs typeface="Poppins"/>
                <a:sym typeface="Poppins"/>
              </a:rPr>
              <a:t>res</a:t>
            </a:r>
            <a:r>
              <a:rPr lang="en-US" sz="2872">
                <a:solidFill>
                  <a:srgbClr val="FFFFFF"/>
                </a:solidFill>
                <a:latin typeface="Poppins"/>
                <a:ea typeface="Poppins"/>
                <a:cs typeface="Poppins"/>
                <a:sym typeface="Poppins"/>
              </a:rPr>
              <a:t> differ</a:t>
            </a:r>
            <a:r>
              <a:rPr lang="en-US" sz="2872">
                <a:solidFill>
                  <a:srgbClr val="FFFFFF"/>
                </a:solidFill>
                <a:latin typeface="Poppins"/>
                <a:ea typeface="Poppins"/>
                <a:cs typeface="Poppins"/>
                <a:sym typeface="Poppins"/>
              </a:rPr>
              <a:t>ent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aving</a:t>
            </a:r>
            <a:r>
              <a:rPr lang="en-US" sz="2872">
                <a:solidFill>
                  <a:srgbClr val="FFFFFF"/>
                </a:solidFill>
                <a:latin typeface="Poppins"/>
                <a:ea typeface="Poppins"/>
                <a:cs typeface="Poppins"/>
                <a:sym typeface="Poppins"/>
              </a:rPr>
              <a:t> a</a:t>
            </a:r>
            <a:r>
              <a:rPr lang="en-US" sz="2872">
                <a:solidFill>
                  <a:srgbClr val="FFFFFF"/>
                </a:solidFill>
                <a:latin typeface="Poppins"/>
                <a:ea typeface="Poppins"/>
                <a:cs typeface="Poppins"/>
                <a:sym typeface="Poppins"/>
              </a:rPr>
              <a:t>ccount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ty</a:t>
            </a:r>
            <a:r>
              <a:rPr lang="en-US" sz="2872">
                <a:solidFill>
                  <a:srgbClr val="FFFFFF"/>
                </a:solidFill>
                <a:latin typeface="Poppins"/>
                <a:ea typeface="Poppins"/>
                <a:cs typeface="Poppins"/>
                <a:sym typeface="Poppins"/>
              </a:rPr>
              <a:t>p</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Sav</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ng A</a:t>
            </a:r>
            <a:r>
              <a:rPr lang="en-US" sz="2872">
                <a:solidFill>
                  <a:srgbClr val="FFFFFF"/>
                </a:solidFill>
                <a:latin typeface="Poppins"/>
                <a:ea typeface="Poppins"/>
                <a:cs typeface="Poppins"/>
                <a:sym typeface="Poppins"/>
              </a:rPr>
              <a:t>c</a:t>
            </a:r>
            <a:r>
              <a:rPr lang="en-US" sz="2872">
                <a:solidFill>
                  <a:srgbClr val="FFFFFF"/>
                </a:solidFill>
                <a:latin typeface="Poppins"/>
                <a:ea typeface="Poppins"/>
                <a:cs typeface="Poppins"/>
                <a:sym typeface="Poppins"/>
              </a:rPr>
              <a:t>count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St</a:t>
            </a:r>
            <a:r>
              <a:rPr lang="en-US" sz="2872">
                <a:solidFill>
                  <a:srgbClr val="FFFFFF"/>
                </a:solidFill>
                <a:latin typeface="Poppins"/>
                <a:ea typeface="Poppins"/>
                <a:cs typeface="Poppins"/>
                <a:sym typeface="Poppins"/>
              </a:rPr>
              <a:t>or</a:t>
            </a:r>
            <a:r>
              <a:rPr lang="en-US" sz="2872">
                <a:solidFill>
                  <a:srgbClr val="FFFFFF"/>
                </a:solidFill>
                <a:latin typeface="Poppins"/>
                <a:ea typeface="Poppins"/>
                <a:cs typeface="Poppins"/>
                <a:sym typeface="Poppins"/>
              </a:rPr>
              <a:t>es</a:t>
            </a:r>
            <a:r>
              <a:rPr lang="en-US" sz="2872">
                <a:solidFill>
                  <a:srgbClr val="FFFFFF"/>
                </a:solidFill>
                <a:latin typeface="Poppins"/>
                <a:ea typeface="Poppins"/>
                <a:cs typeface="Poppins"/>
                <a:sym typeface="Poppins"/>
              </a:rPr>
              <a:t> m</a:t>
            </a:r>
            <a:r>
              <a:rPr lang="en-US" sz="2872">
                <a:solidFill>
                  <a:srgbClr val="FFFFFF"/>
                </a:solidFill>
                <a:latin typeface="Poppins"/>
                <a:ea typeface="Poppins"/>
                <a:cs typeface="Poppins"/>
                <a:sym typeface="Poppins"/>
              </a:rPr>
              <a:t>ember sav</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ng a</a:t>
            </a:r>
            <a:r>
              <a:rPr lang="en-US" sz="2872">
                <a:solidFill>
                  <a:srgbClr val="FFFFFF"/>
                </a:solidFill>
                <a:latin typeface="Poppins"/>
                <a:ea typeface="Poppins"/>
                <a:cs typeface="Poppins"/>
                <a:sym typeface="Poppins"/>
              </a:rPr>
              <a:t>c</a:t>
            </a:r>
            <a:r>
              <a:rPr lang="en-US" sz="2872">
                <a:solidFill>
                  <a:srgbClr val="FFFFFF"/>
                </a:solidFill>
                <a:latin typeface="Poppins"/>
                <a:ea typeface="Poppins"/>
                <a:cs typeface="Poppins"/>
                <a:sym typeface="Poppins"/>
              </a:rPr>
              <a:t>c</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unt in</a:t>
            </a:r>
            <a:r>
              <a:rPr lang="en-US" sz="2872">
                <a:solidFill>
                  <a:srgbClr val="FFFFFF"/>
                </a:solidFill>
                <a:latin typeface="Poppins"/>
                <a:ea typeface="Poppins"/>
                <a:cs typeface="Poppins"/>
                <a:sym typeface="Poppins"/>
              </a:rPr>
              <a:t>f</a:t>
            </a:r>
            <a:r>
              <a:rPr lang="en-US" sz="2872">
                <a:solidFill>
                  <a:srgbClr val="FFFFFF"/>
                </a:solidFill>
                <a:latin typeface="Poppins"/>
                <a:ea typeface="Poppins"/>
                <a:cs typeface="Poppins"/>
                <a:sym typeface="Poppins"/>
              </a:rPr>
              <a:t>ormat</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n</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Lo</a:t>
            </a:r>
            <a:r>
              <a:rPr lang="en-US" sz="2872">
                <a:solidFill>
                  <a:srgbClr val="FFFFFF"/>
                </a:solidFill>
                <a:latin typeface="Poppins"/>
                <a:ea typeface="Poppins"/>
                <a:cs typeface="Poppins"/>
                <a:sym typeface="Poppins"/>
              </a:rPr>
              <a:t>an</a:t>
            </a:r>
            <a:r>
              <a:rPr lang="en-US" sz="2872">
                <a:solidFill>
                  <a:srgbClr val="FFFFFF"/>
                </a:solidFill>
                <a:latin typeface="Poppins"/>
                <a:ea typeface="Poppins"/>
                <a:cs typeface="Poppins"/>
                <a:sym typeface="Poppins"/>
              </a:rPr>
              <a:t> – Stores loan details issu</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d</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to mem</a:t>
            </a:r>
            <a:r>
              <a:rPr lang="en-US" sz="2872">
                <a:solidFill>
                  <a:srgbClr val="FFFFFF"/>
                </a:solidFill>
                <a:latin typeface="Poppins"/>
                <a:ea typeface="Poppins"/>
                <a:cs typeface="Poppins"/>
                <a:sym typeface="Poppins"/>
              </a:rPr>
              <a:t>b</a:t>
            </a:r>
            <a:r>
              <a:rPr lang="en-US" sz="2872">
                <a:solidFill>
                  <a:srgbClr val="FFFFFF"/>
                </a:solidFill>
                <a:latin typeface="Poppins"/>
                <a:ea typeface="Poppins"/>
                <a:cs typeface="Poppins"/>
                <a:sym typeface="Poppins"/>
              </a:rPr>
              <a:t>ers.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Gua</a:t>
            </a:r>
            <a:r>
              <a:rPr lang="en-US" sz="2872">
                <a:solidFill>
                  <a:srgbClr val="FFFFFF"/>
                </a:solidFill>
                <a:latin typeface="Poppins"/>
                <a:ea typeface="Poppins"/>
                <a:cs typeface="Poppins"/>
                <a:sym typeface="Poppins"/>
              </a:rPr>
              <a:t>ran</a:t>
            </a:r>
            <a:r>
              <a:rPr lang="en-US" sz="2872">
                <a:solidFill>
                  <a:srgbClr val="FFFFFF"/>
                </a:solidFill>
                <a:latin typeface="Poppins"/>
                <a:ea typeface="Poppins"/>
                <a:cs typeface="Poppins"/>
                <a:sym typeface="Poppins"/>
              </a:rPr>
              <a:t>tor – Stores members w</a:t>
            </a:r>
            <a:r>
              <a:rPr lang="en-US" sz="2872">
                <a:solidFill>
                  <a:srgbClr val="FFFFFF"/>
                </a:solidFill>
                <a:latin typeface="Poppins"/>
                <a:ea typeface="Poppins"/>
                <a:cs typeface="Poppins"/>
                <a:sym typeface="Poppins"/>
              </a:rPr>
              <a:t>h</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guarantee l</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ans </a:t>
            </a:r>
            <a:r>
              <a:rPr lang="en-US" sz="2872">
                <a:solidFill>
                  <a:srgbClr val="FFFFFF"/>
                </a:solidFill>
                <a:latin typeface="Poppins"/>
                <a:ea typeface="Poppins"/>
                <a:cs typeface="Poppins"/>
                <a:sym typeface="Poppins"/>
              </a:rPr>
              <a:t>f</a:t>
            </a:r>
            <a:r>
              <a:rPr lang="en-US" sz="2872">
                <a:solidFill>
                  <a:srgbClr val="FFFFFF"/>
                </a:solidFill>
                <a:latin typeface="Poppins"/>
                <a:ea typeface="Poppins"/>
                <a:cs typeface="Poppins"/>
                <a:sym typeface="Poppins"/>
              </a:rPr>
              <a:t>or other memb</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rs</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Collateral</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 Stores assets </a:t>
            </a:r>
            <a:r>
              <a:rPr lang="en-US" sz="2872">
                <a:solidFill>
                  <a:srgbClr val="FFFFFF"/>
                </a:solidFill>
                <a:latin typeface="Poppins"/>
                <a:ea typeface="Poppins"/>
                <a:cs typeface="Poppins"/>
                <a:sym typeface="Poppins"/>
              </a:rPr>
              <a:t>pl</a:t>
            </a:r>
            <a:r>
              <a:rPr lang="en-US" sz="2872">
                <a:solidFill>
                  <a:srgbClr val="FFFFFF"/>
                </a:solidFill>
                <a:latin typeface="Poppins"/>
                <a:ea typeface="Poppins"/>
                <a:cs typeface="Poppins"/>
                <a:sym typeface="Poppins"/>
              </a:rPr>
              <a:t>edged as l</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an securit</a:t>
            </a:r>
            <a:r>
              <a:rPr lang="en-US" sz="2872">
                <a:solidFill>
                  <a:srgbClr val="FFFFFF"/>
                </a:solidFill>
                <a:latin typeface="Poppins"/>
                <a:ea typeface="Poppins"/>
                <a:cs typeface="Poppins"/>
                <a:sym typeface="Poppins"/>
              </a:rPr>
              <a:t>y</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Loan Sch</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dul</a:t>
            </a:r>
            <a:r>
              <a:rPr lang="en-US" sz="2872">
                <a:solidFill>
                  <a:srgbClr val="FFFFFF"/>
                </a:solidFill>
                <a:latin typeface="Poppins"/>
                <a:ea typeface="Poppins"/>
                <a:cs typeface="Poppins"/>
                <a:sym typeface="Poppins"/>
              </a:rPr>
              <a:t>e </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St</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r</a:t>
            </a:r>
            <a:r>
              <a:rPr lang="en-US" sz="2872">
                <a:solidFill>
                  <a:srgbClr val="FFFFFF"/>
                </a:solidFill>
                <a:latin typeface="Poppins"/>
                <a:ea typeface="Poppins"/>
                <a:cs typeface="Poppins"/>
                <a:sym typeface="Poppins"/>
              </a:rPr>
              <a:t>es l</a:t>
            </a:r>
            <a:r>
              <a:rPr lang="en-US" sz="2872">
                <a:solidFill>
                  <a:srgbClr val="FFFFFF"/>
                </a:solidFill>
                <a:latin typeface="Poppins"/>
                <a:ea typeface="Poppins"/>
                <a:cs typeface="Poppins"/>
                <a:sym typeface="Poppins"/>
              </a:rPr>
              <a:t>o</a:t>
            </a:r>
            <a:r>
              <a:rPr lang="en-US" sz="2872">
                <a:solidFill>
                  <a:srgbClr val="FFFFFF"/>
                </a:solidFill>
                <a:latin typeface="Poppins"/>
                <a:ea typeface="Poppins"/>
                <a:cs typeface="Poppins"/>
                <a:sym typeface="Poppins"/>
              </a:rPr>
              <a:t>a</a:t>
            </a:r>
            <a:r>
              <a:rPr lang="en-US" sz="2872">
                <a:solidFill>
                  <a:srgbClr val="FFFFFF"/>
                </a:solidFill>
                <a:latin typeface="Poppins"/>
                <a:ea typeface="Poppins"/>
                <a:cs typeface="Poppins"/>
                <a:sym typeface="Poppins"/>
              </a:rPr>
              <a:t>n</a:t>
            </a:r>
            <a:r>
              <a:rPr lang="en-US" sz="2872">
                <a:solidFill>
                  <a:srgbClr val="FFFFFF"/>
                </a:solidFill>
                <a:latin typeface="Poppins"/>
                <a:ea typeface="Poppins"/>
                <a:cs typeface="Poppins"/>
                <a:sym typeface="Poppins"/>
              </a:rPr>
              <a:t> repayme</a:t>
            </a:r>
            <a:r>
              <a:rPr lang="en-US" sz="2872">
                <a:solidFill>
                  <a:srgbClr val="FFFFFF"/>
                </a:solidFill>
                <a:latin typeface="Poppins"/>
                <a:ea typeface="Poppins"/>
                <a:cs typeface="Poppins"/>
                <a:sym typeface="Poppins"/>
              </a:rPr>
              <a:t>nt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ns</a:t>
            </a:r>
            <a:r>
              <a:rPr lang="en-US" sz="2872">
                <a:solidFill>
                  <a:srgbClr val="FFFFFF"/>
                </a:solidFill>
                <a:latin typeface="Poppins"/>
                <a:ea typeface="Poppins"/>
                <a:cs typeface="Poppins"/>
                <a:sym typeface="Poppins"/>
              </a:rPr>
              <a:t>t</a:t>
            </a:r>
            <a:r>
              <a:rPr lang="en-US" sz="2872">
                <a:solidFill>
                  <a:srgbClr val="FFFFFF"/>
                </a:solidFill>
                <a:latin typeface="Poppins"/>
                <a:ea typeface="Poppins"/>
                <a:cs typeface="Poppins"/>
                <a:sym typeface="Poppins"/>
              </a:rPr>
              <a:t>allment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schedul</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Loan Transaction – Stores loan </a:t>
            </a:r>
            <a:r>
              <a:rPr lang="en-US" sz="2872">
                <a:solidFill>
                  <a:srgbClr val="FFFFFF"/>
                </a:solidFill>
                <a:latin typeface="Poppins"/>
                <a:ea typeface="Poppins"/>
                <a:cs typeface="Poppins"/>
                <a:sym typeface="Poppins"/>
              </a:rPr>
              <a:t>p</a:t>
            </a:r>
            <a:r>
              <a:rPr lang="en-US" sz="2872">
                <a:solidFill>
                  <a:srgbClr val="FFFFFF"/>
                </a:solidFill>
                <a:latin typeface="Poppins"/>
                <a:ea typeface="Poppins"/>
                <a:cs typeface="Poppins"/>
                <a:sym typeface="Poppins"/>
              </a:rPr>
              <a:t>ayment and disbu</a:t>
            </a:r>
            <a:r>
              <a:rPr lang="en-US" sz="2872">
                <a:solidFill>
                  <a:srgbClr val="FFFFFF"/>
                </a:solidFill>
                <a:latin typeface="Poppins"/>
                <a:ea typeface="Poppins"/>
                <a:cs typeface="Poppins"/>
                <a:sym typeface="Poppins"/>
              </a:rPr>
              <a:t>r</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m</a:t>
            </a:r>
            <a:r>
              <a:rPr lang="en-US" sz="2872">
                <a:solidFill>
                  <a:srgbClr val="FFFFFF"/>
                </a:solidFill>
                <a:latin typeface="Poppins"/>
                <a:ea typeface="Poppins"/>
                <a:cs typeface="Poppins"/>
                <a:sym typeface="Poppins"/>
              </a:rPr>
              <a:t>ent</a:t>
            </a:r>
            <a:r>
              <a:rPr lang="en-US" sz="2872">
                <a:solidFill>
                  <a:srgbClr val="FFFFFF"/>
                </a:solidFill>
                <a:latin typeface="Poppins"/>
                <a:ea typeface="Poppins"/>
                <a:cs typeface="Poppins"/>
                <a:sym typeface="Poppins"/>
              </a:rPr>
              <a:t> transaction</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Saving</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Transac</a:t>
            </a:r>
            <a:r>
              <a:rPr lang="en-US" sz="2872">
                <a:solidFill>
                  <a:srgbClr val="FFFFFF"/>
                </a:solidFill>
                <a:latin typeface="Poppins"/>
                <a:ea typeface="Poppins"/>
                <a:cs typeface="Poppins"/>
                <a:sym typeface="Poppins"/>
              </a:rPr>
              <a:t>t</a:t>
            </a:r>
            <a:r>
              <a:rPr lang="en-US" sz="2872">
                <a:solidFill>
                  <a:srgbClr val="FFFFFF"/>
                </a:solidFill>
                <a:latin typeface="Poppins"/>
                <a:ea typeface="Poppins"/>
                <a:cs typeface="Poppins"/>
                <a:sym typeface="Poppins"/>
              </a:rPr>
              <a:t>ion – Stor</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 s</a:t>
            </a:r>
            <a:r>
              <a:rPr lang="en-US" sz="2872">
                <a:solidFill>
                  <a:srgbClr val="FFFFFF"/>
                </a:solidFill>
                <a:latin typeface="Poppins"/>
                <a:ea typeface="Poppins"/>
                <a:cs typeface="Poppins"/>
                <a:sym typeface="Poppins"/>
              </a:rPr>
              <a:t>avings deposi</a:t>
            </a:r>
            <a:r>
              <a:rPr lang="en-US" sz="2872">
                <a:solidFill>
                  <a:srgbClr val="FFFFFF"/>
                </a:solidFill>
                <a:latin typeface="Poppins"/>
                <a:ea typeface="Poppins"/>
                <a:cs typeface="Poppins"/>
                <a:sym typeface="Poppins"/>
              </a:rPr>
              <a:t>t</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a</a:t>
            </a:r>
            <a:r>
              <a:rPr lang="en-US" sz="2872">
                <a:solidFill>
                  <a:srgbClr val="FFFFFF"/>
                </a:solidFill>
                <a:latin typeface="Poppins"/>
                <a:ea typeface="Poppins"/>
                <a:cs typeface="Poppins"/>
                <a:sym typeface="Poppins"/>
              </a:rPr>
              <a:t>nd</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withdrawal transactions.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Audit – Stores syst</a:t>
            </a:r>
            <a:r>
              <a:rPr lang="en-US" sz="2872">
                <a:solidFill>
                  <a:srgbClr val="FFFFFF"/>
                </a:solidFill>
                <a:latin typeface="Poppins"/>
                <a:ea typeface="Poppins"/>
                <a:cs typeface="Poppins"/>
                <a:sym typeface="Poppins"/>
              </a:rPr>
              <a:t>em</a:t>
            </a:r>
            <a:r>
              <a:rPr lang="en-US" sz="2872">
                <a:solidFill>
                  <a:srgbClr val="FFFFFF"/>
                </a:solidFill>
                <a:latin typeface="Poppins"/>
                <a:ea typeface="Poppins"/>
                <a:cs typeface="Poppins"/>
                <a:sym typeface="Poppins"/>
              </a:rPr>
              <a:t> activity and chang</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r</a:t>
            </a:r>
            <a:r>
              <a:rPr lang="en-US" sz="2872">
                <a:solidFill>
                  <a:srgbClr val="FFFFFF"/>
                </a:solidFill>
                <a:latin typeface="Poppins"/>
                <a:ea typeface="Poppins"/>
                <a:cs typeface="Poppins"/>
                <a:sym typeface="Poppins"/>
              </a:rPr>
              <a:t>ecord</a:t>
            </a:r>
            <a:r>
              <a:rPr lang="en-US" sz="2872">
                <a:solidFill>
                  <a:srgbClr val="FFFFFF"/>
                </a:solidFill>
                <a:latin typeface="Poppins"/>
                <a:ea typeface="Poppins"/>
                <a:cs typeface="Poppins"/>
                <a:sym typeface="Poppins"/>
              </a:rPr>
              <a:t>s</a:t>
            </a:r>
            <a:r>
              <a:rPr lang="en-US" sz="2872">
                <a:solidFill>
                  <a:srgbClr val="FFFFFF"/>
                </a:solidFill>
                <a:latin typeface="Poppins"/>
                <a:ea typeface="Poppins"/>
                <a:cs typeface="Poppins"/>
                <a:sym typeface="Poppins"/>
              </a:rPr>
              <a:t>.</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Fee Type – St</a:t>
            </a:r>
            <a:r>
              <a:rPr lang="en-US" sz="2872">
                <a:solidFill>
                  <a:srgbClr val="FFFFFF"/>
                </a:solidFill>
                <a:latin typeface="Poppins"/>
                <a:ea typeface="Poppins"/>
                <a:cs typeface="Poppins"/>
                <a:sym typeface="Poppins"/>
              </a:rPr>
              <a:t>or</a:t>
            </a:r>
            <a:r>
              <a:rPr lang="en-US" sz="2872">
                <a:solidFill>
                  <a:srgbClr val="FFFFFF"/>
                </a:solidFill>
                <a:latin typeface="Poppins"/>
                <a:ea typeface="Poppins"/>
                <a:cs typeface="Poppins"/>
                <a:sym typeface="Poppins"/>
              </a:rPr>
              <a:t>es d</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ffere</a:t>
            </a:r>
            <a:r>
              <a:rPr lang="en-US" sz="2872">
                <a:solidFill>
                  <a:srgbClr val="FFFFFF"/>
                </a:solidFill>
                <a:latin typeface="Poppins"/>
                <a:ea typeface="Poppins"/>
                <a:cs typeface="Poppins"/>
                <a:sym typeface="Poppins"/>
              </a:rPr>
              <a:t>n</a:t>
            </a:r>
            <a:r>
              <a:rPr lang="en-US" sz="2872">
                <a:solidFill>
                  <a:srgbClr val="FFFFFF"/>
                </a:solidFill>
                <a:latin typeface="Poppins"/>
                <a:ea typeface="Poppins"/>
                <a:cs typeface="Poppins"/>
                <a:sym typeface="Poppins"/>
              </a:rPr>
              <a:t>t cate</a:t>
            </a:r>
            <a:r>
              <a:rPr lang="en-US" sz="2872">
                <a:solidFill>
                  <a:srgbClr val="FFFFFF"/>
                </a:solidFill>
                <a:latin typeface="Poppins"/>
                <a:ea typeface="Poppins"/>
                <a:cs typeface="Poppins"/>
                <a:sym typeface="Poppins"/>
              </a:rPr>
              <a:t>g</a:t>
            </a:r>
            <a:r>
              <a:rPr lang="en-US" sz="2872">
                <a:solidFill>
                  <a:srgbClr val="FFFFFF"/>
                </a:solidFill>
                <a:latin typeface="Poppins"/>
                <a:ea typeface="Poppins"/>
                <a:cs typeface="Poppins"/>
                <a:sym typeface="Poppins"/>
              </a:rPr>
              <a:t>ories of</a:t>
            </a:r>
            <a:r>
              <a:rPr lang="en-US" sz="2872">
                <a:solidFill>
                  <a:srgbClr val="FFFFFF"/>
                </a:solidFill>
                <a:latin typeface="Poppins"/>
                <a:ea typeface="Poppins"/>
                <a:cs typeface="Poppins"/>
                <a:sym typeface="Poppins"/>
              </a:rPr>
              <a:t> f</a:t>
            </a:r>
            <a:r>
              <a:rPr lang="en-US" sz="2872">
                <a:solidFill>
                  <a:srgbClr val="FFFFFF"/>
                </a:solidFill>
                <a:latin typeface="Poppins"/>
                <a:ea typeface="Poppins"/>
                <a:cs typeface="Poppins"/>
                <a:sym typeface="Poppins"/>
              </a:rPr>
              <a:t>ees.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Fee Event – St</a:t>
            </a:r>
            <a:r>
              <a:rPr lang="en-US" sz="2872">
                <a:solidFill>
                  <a:srgbClr val="FFFFFF"/>
                </a:solidFill>
                <a:latin typeface="Poppins"/>
                <a:ea typeface="Poppins"/>
                <a:cs typeface="Poppins"/>
                <a:sym typeface="Poppins"/>
              </a:rPr>
              <a:t>or</a:t>
            </a:r>
            <a:r>
              <a:rPr lang="en-US" sz="2872">
                <a:solidFill>
                  <a:srgbClr val="FFFFFF"/>
                </a:solidFill>
                <a:latin typeface="Poppins"/>
                <a:ea typeface="Poppins"/>
                <a:cs typeface="Poppins"/>
                <a:sym typeface="Poppins"/>
              </a:rPr>
              <a:t>es</a:t>
            </a:r>
            <a:r>
              <a:rPr lang="en-US" sz="2872">
                <a:solidFill>
                  <a:srgbClr val="FFFFFF"/>
                </a:solidFill>
                <a:latin typeface="Poppins"/>
                <a:ea typeface="Poppins"/>
                <a:cs typeface="Poppins"/>
                <a:sym typeface="Poppins"/>
              </a:rPr>
              <a:t> </a:t>
            </a:r>
            <a:r>
              <a:rPr lang="en-US" sz="2872">
                <a:solidFill>
                  <a:srgbClr val="FFFFFF"/>
                </a:solidFill>
                <a:latin typeface="Poppins"/>
                <a:ea typeface="Poppins"/>
                <a:cs typeface="Poppins"/>
                <a:sym typeface="Poppins"/>
              </a:rPr>
              <a:t>genera</a:t>
            </a:r>
            <a:r>
              <a:rPr lang="en-US" sz="2872">
                <a:solidFill>
                  <a:srgbClr val="FFFFFF"/>
                </a:solidFill>
                <a:latin typeface="Poppins"/>
                <a:ea typeface="Poppins"/>
                <a:cs typeface="Poppins"/>
                <a:sym typeface="Poppins"/>
              </a:rPr>
              <a:t>t</a:t>
            </a:r>
            <a:r>
              <a:rPr lang="en-US" sz="2872">
                <a:solidFill>
                  <a:srgbClr val="FFFFFF"/>
                </a:solidFill>
                <a:latin typeface="Poppins"/>
                <a:ea typeface="Poppins"/>
                <a:cs typeface="Poppins"/>
                <a:sym typeface="Poppins"/>
              </a:rPr>
              <a:t>ed fee occurrences relat</a:t>
            </a:r>
            <a:r>
              <a:rPr lang="en-US" sz="2872">
                <a:solidFill>
                  <a:srgbClr val="FFFFFF"/>
                </a:solidFill>
                <a:latin typeface="Poppins"/>
                <a:ea typeface="Poppins"/>
                <a:cs typeface="Poppins"/>
                <a:sym typeface="Poppins"/>
              </a:rPr>
              <a:t>e</a:t>
            </a:r>
            <a:r>
              <a:rPr lang="en-US" sz="2872">
                <a:solidFill>
                  <a:srgbClr val="FFFFFF"/>
                </a:solidFill>
                <a:latin typeface="Poppins"/>
                <a:ea typeface="Poppins"/>
                <a:cs typeface="Poppins"/>
                <a:sym typeface="Poppins"/>
              </a:rPr>
              <a:t>d to loans</a:t>
            </a:r>
            <a:r>
              <a:rPr lang="en-US" sz="2872">
                <a:solidFill>
                  <a:srgbClr val="FFFFFF"/>
                </a:solidFill>
                <a:latin typeface="Poppins"/>
                <a:ea typeface="Poppins"/>
                <a:cs typeface="Poppins"/>
                <a:sym typeface="Poppins"/>
              </a:rPr>
              <a:t> or</a:t>
            </a:r>
            <a:r>
              <a:rPr lang="en-US" sz="2872">
                <a:solidFill>
                  <a:srgbClr val="FFFFFF"/>
                </a:solidFill>
                <a:latin typeface="Poppins"/>
                <a:ea typeface="Poppins"/>
                <a:cs typeface="Poppins"/>
                <a:sym typeface="Poppins"/>
              </a:rPr>
              <a:t> savin</a:t>
            </a:r>
            <a:r>
              <a:rPr lang="en-US" sz="2872">
                <a:solidFill>
                  <a:srgbClr val="FFFFFF"/>
                </a:solidFill>
                <a:latin typeface="Poppins"/>
                <a:ea typeface="Poppins"/>
                <a:cs typeface="Poppins"/>
                <a:sym typeface="Poppins"/>
              </a:rPr>
              <a:t>g</a:t>
            </a:r>
            <a:r>
              <a:rPr lang="en-US" sz="2872">
                <a:solidFill>
                  <a:srgbClr val="FFFFFF"/>
                </a:solidFill>
                <a:latin typeface="Poppins"/>
                <a:ea typeface="Poppins"/>
                <a:cs typeface="Poppins"/>
                <a:sym typeface="Poppins"/>
              </a:rPr>
              <a:t>s.</a:t>
            </a:r>
          </a:p>
          <a:p>
            <a:pPr algn="just" marL="620161" indent="-310081" lvl="1">
              <a:lnSpc>
                <a:spcPts val="4021"/>
              </a:lnSpc>
              <a:buFont typeface="Arial"/>
              <a:buChar char="•"/>
            </a:pPr>
            <a:r>
              <a:rPr lang="en-US" sz="2872">
                <a:solidFill>
                  <a:srgbClr val="FFFFFF"/>
                </a:solidFill>
                <a:latin typeface="Poppins"/>
                <a:ea typeface="Poppins"/>
                <a:cs typeface="Poppins"/>
                <a:sym typeface="Poppins"/>
              </a:rPr>
              <a:t>Fee Tr</a:t>
            </a:r>
            <a:r>
              <a:rPr lang="en-US" sz="2872">
                <a:solidFill>
                  <a:srgbClr val="FFFFFF"/>
                </a:solidFill>
                <a:latin typeface="Poppins"/>
                <a:ea typeface="Poppins"/>
                <a:cs typeface="Poppins"/>
                <a:sym typeface="Poppins"/>
              </a:rPr>
              <a:t>an</a:t>
            </a:r>
            <a:r>
              <a:rPr lang="en-US" sz="2872">
                <a:solidFill>
                  <a:srgbClr val="FFFFFF"/>
                </a:solidFill>
                <a:latin typeface="Poppins"/>
                <a:ea typeface="Poppins"/>
                <a:cs typeface="Poppins"/>
                <a:sym typeface="Poppins"/>
              </a:rPr>
              <a:t>sact</a:t>
            </a:r>
            <a:r>
              <a:rPr lang="en-US" sz="2872">
                <a:solidFill>
                  <a:srgbClr val="FFFFFF"/>
                </a:solidFill>
                <a:latin typeface="Poppins"/>
                <a:ea typeface="Poppins"/>
                <a:cs typeface="Poppins"/>
                <a:sym typeface="Poppins"/>
              </a:rPr>
              <a:t>i</a:t>
            </a:r>
            <a:r>
              <a:rPr lang="en-US" sz="2872">
                <a:solidFill>
                  <a:srgbClr val="FFFFFF"/>
                </a:solidFill>
                <a:latin typeface="Poppins"/>
                <a:ea typeface="Poppins"/>
                <a:cs typeface="Poppins"/>
                <a:sym typeface="Poppins"/>
              </a:rPr>
              <a:t>on – Stores p</a:t>
            </a:r>
            <a:r>
              <a:rPr lang="en-US" sz="2872">
                <a:solidFill>
                  <a:srgbClr val="FFFFFF"/>
                </a:solidFill>
                <a:latin typeface="Poppins"/>
                <a:ea typeface="Poppins"/>
                <a:cs typeface="Poppins"/>
                <a:sym typeface="Poppins"/>
              </a:rPr>
              <a:t>a</a:t>
            </a:r>
            <a:r>
              <a:rPr lang="en-US" sz="2872">
                <a:solidFill>
                  <a:srgbClr val="FFFFFF"/>
                </a:solidFill>
                <a:latin typeface="Poppins"/>
                <a:ea typeface="Poppins"/>
                <a:cs typeface="Poppins"/>
                <a:sym typeface="Poppins"/>
              </a:rPr>
              <a:t>yment transac</a:t>
            </a:r>
            <a:r>
              <a:rPr lang="en-US" sz="2872">
                <a:solidFill>
                  <a:srgbClr val="FFFFFF"/>
                </a:solidFill>
                <a:latin typeface="Poppins"/>
                <a:ea typeface="Poppins"/>
                <a:cs typeface="Poppins"/>
                <a:sym typeface="Poppins"/>
              </a:rPr>
              <a:t>tion</a:t>
            </a:r>
            <a:r>
              <a:rPr lang="en-US" sz="2872">
                <a:solidFill>
                  <a:srgbClr val="FFFFFF"/>
                </a:solidFill>
                <a:latin typeface="Poppins"/>
                <a:ea typeface="Poppins"/>
                <a:cs typeface="Poppins"/>
                <a:sym typeface="Poppins"/>
              </a:rPr>
              <a:t>s for generated fees</a:t>
            </a:r>
            <a:r>
              <a:rPr lang="en-US" sz="2872">
                <a:solidFill>
                  <a:srgbClr val="FFFFFF"/>
                </a:solidFill>
                <a:latin typeface="Poppins"/>
                <a:ea typeface="Poppins"/>
                <a:cs typeface="Poppins"/>
                <a:sym typeface="Poppins"/>
              </a:rPr>
              <a:t>.</a:t>
            </a:r>
          </a:p>
          <a:p>
            <a:pPr algn="just">
              <a:lnSpc>
                <a:spcPts val="2983"/>
              </a:lnSpc>
              <a:spcBef>
                <a:spcPct val="0"/>
              </a:spcBef>
            </a:pPr>
          </a:p>
        </p:txBody>
      </p:sp>
      <p:grpSp>
        <p:nvGrpSpPr>
          <p:cNvPr name="Group 6" id="6"/>
          <p:cNvGrpSpPr/>
          <p:nvPr/>
        </p:nvGrpSpPr>
        <p:grpSpPr>
          <a:xfrm rot="0">
            <a:off x="16132319" y="8374491"/>
            <a:ext cx="1126981" cy="11269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5568829" y="8937982"/>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284214" y="9160019"/>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C8E5EB"/>
        </a:solidFill>
      </p:bgPr>
    </p:bg>
    <p:spTree>
      <p:nvGrpSpPr>
        <p:cNvPr id="1" name=""/>
        <p:cNvGrpSpPr/>
        <p:nvPr/>
      </p:nvGrpSpPr>
      <p:grpSpPr>
        <a:xfrm>
          <a:off x="0" y="0"/>
          <a:ext cx="0" cy="0"/>
          <a:chOff x="0" y="0"/>
          <a:chExt cx="0" cy="0"/>
        </a:xfrm>
      </p:grpSpPr>
      <p:grpSp>
        <p:nvGrpSpPr>
          <p:cNvPr name="Group 2" id="2"/>
          <p:cNvGrpSpPr/>
          <p:nvPr/>
        </p:nvGrpSpPr>
        <p:grpSpPr>
          <a:xfrm rot="0">
            <a:off x="2119977" y="252077"/>
            <a:ext cx="15139323" cy="10034923"/>
            <a:chOff x="0" y="0"/>
            <a:chExt cx="3987311" cy="2642943"/>
          </a:xfrm>
        </p:grpSpPr>
        <p:sp>
          <p:nvSpPr>
            <p:cNvPr name="Freeform 3" id="3"/>
            <p:cNvSpPr/>
            <p:nvPr/>
          </p:nvSpPr>
          <p:spPr>
            <a:xfrm flipH="false" flipV="false" rot="0">
              <a:off x="0" y="0"/>
              <a:ext cx="3987311" cy="2642943"/>
            </a:xfrm>
            <a:custGeom>
              <a:avLst/>
              <a:gdLst/>
              <a:ahLst/>
              <a:cxnLst/>
              <a:rect r="r" b="b" t="t" l="l"/>
              <a:pathLst>
                <a:path h="2642943" w="3987311">
                  <a:moveTo>
                    <a:pt x="26080" y="0"/>
                  </a:moveTo>
                  <a:lnTo>
                    <a:pt x="3961231" y="0"/>
                  </a:lnTo>
                  <a:cubicBezTo>
                    <a:pt x="3975635" y="0"/>
                    <a:pt x="3987311" y="11677"/>
                    <a:pt x="3987311" y="26080"/>
                  </a:cubicBezTo>
                  <a:lnTo>
                    <a:pt x="3987311" y="2616863"/>
                  </a:lnTo>
                  <a:cubicBezTo>
                    <a:pt x="3987311" y="2623779"/>
                    <a:pt x="3984563" y="2630413"/>
                    <a:pt x="3979673" y="2635304"/>
                  </a:cubicBezTo>
                  <a:cubicBezTo>
                    <a:pt x="3974781" y="2640195"/>
                    <a:pt x="3968148" y="2642943"/>
                    <a:pt x="3961231" y="2642943"/>
                  </a:cubicBezTo>
                  <a:lnTo>
                    <a:pt x="26080" y="2642943"/>
                  </a:lnTo>
                  <a:cubicBezTo>
                    <a:pt x="19163" y="2642943"/>
                    <a:pt x="12530" y="2640195"/>
                    <a:pt x="7639" y="2635304"/>
                  </a:cubicBezTo>
                  <a:cubicBezTo>
                    <a:pt x="2748" y="2630413"/>
                    <a:pt x="0" y="2623779"/>
                    <a:pt x="0" y="2616863"/>
                  </a:cubicBezTo>
                  <a:lnTo>
                    <a:pt x="0" y="26080"/>
                  </a:lnTo>
                  <a:cubicBezTo>
                    <a:pt x="0" y="19163"/>
                    <a:pt x="2748" y="12530"/>
                    <a:pt x="7639" y="7639"/>
                  </a:cubicBezTo>
                  <a:cubicBezTo>
                    <a:pt x="12530" y="2748"/>
                    <a:pt x="19163" y="0"/>
                    <a:pt x="26080" y="0"/>
                  </a:cubicBezTo>
                  <a:close/>
                </a:path>
              </a:pathLst>
            </a:custGeom>
            <a:solidFill>
              <a:srgbClr val="3A5A9A"/>
            </a:solidFill>
          </p:spPr>
        </p:sp>
        <p:sp>
          <p:nvSpPr>
            <p:cNvPr name="TextBox 4" id="4"/>
            <p:cNvSpPr txBox="true"/>
            <p:nvPr/>
          </p:nvSpPr>
          <p:spPr>
            <a:xfrm>
              <a:off x="0" y="-57150"/>
              <a:ext cx="3987311" cy="2700093"/>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3600895" y="618140"/>
            <a:ext cx="13237389" cy="8582373"/>
          </a:xfrm>
          <a:prstGeom prst="rect">
            <a:avLst/>
          </a:prstGeom>
        </p:spPr>
        <p:txBody>
          <a:bodyPr anchor="t" rtlCol="false" tIns="0" lIns="0" bIns="0" rIns="0">
            <a:spAutoFit/>
          </a:bodyPr>
          <a:lstStyle/>
          <a:p>
            <a:pPr algn="just">
              <a:lnSpc>
                <a:spcPts val="4364"/>
              </a:lnSpc>
            </a:pPr>
            <a:r>
              <a:rPr lang="en-US" sz="3117">
                <a:solidFill>
                  <a:srgbClr val="FFFFFF"/>
                </a:solidFill>
                <a:latin typeface="Poppins"/>
                <a:ea typeface="Poppins"/>
                <a:cs typeface="Poppins"/>
                <a:sym typeface="Poppins"/>
              </a:rPr>
              <a:t>Relationship Specifications &amp; Cardinalities</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Defi</a:t>
            </a:r>
            <a:r>
              <a:rPr lang="en-US" sz="3117">
                <a:solidFill>
                  <a:srgbClr val="FFFFFF"/>
                </a:solidFill>
                <a:latin typeface="Poppins"/>
                <a:ea typeface="Poppins"/>
                <a:cs typeface="Poppins"/>
                <a:sym typeface="Poppins"/>
              </a:rPr>
              <a:t>nes how entities in the SACCO system are connected.</a:t>
            </a:r>
          </a:p>
          <a:p>
            <a:pPr algn="just">
              <a:lnSpc>
                <a:spcPts val="4364"/>
              </a:lnSpc>
            </a:pPr>
          </a:p>
          <a:p>
            <a:pPr algn="just">
              <a:lnSpc>
                <a:spcPts val="4364"/>
              </a:lnSpc>
            </a:pPr>
          </a:p>
          <a:p>
            <a:pPr algn="just" marL="673120" indent="-336560" lvl="1">
              <a:lnSpc>
                <a:spcPts val="4364"/>
              </a:lnSpc>
              <a:buFont typeface="Arial"/>
              <a:buChar char="•"/>
            </a:pPr>
            <a:r>
              <a:rPr lang="en-US" sz="3117">
                <a:solidFill>
                  <a:srgbClr val="FFFFFF"/>
                </a:solidFill>
                <a:latin typeface="Poppins"/>
                <a:ea typeface="Poppins"/>
                <a:cs typeface="Poppins"/>
                <a:sym typeface="Poppins"/>
              </a:rPr>
              <a:t>Branch employs many Employees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Branch serves many Members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Member owns many Saving Accounts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Member takes many Loans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Loan has many Loan Schedules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Loan records many Loan Transactions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Saving Account records many Saving Transactions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Loan may have multiple Collaterals (1:N)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Members and Loans are connected through Guarantor (M:N)</a:t>
            </a:r>
          </a:p>
          <a:p>
            <a:pPr algn="just" marL="673120" indent="-336560" lvl="1">
              <a:lnSpc>
                <a:spcPts val="4364"/>
              </a:lnSpc>
              <a:buFont typeface="Arial"/>
              <a:buChar char="•"/>
            </a:pPr>
            <a:r>
              <a:rPr lang="en-US" sz="3117">
                <a:solidFill>
                  <a:srgbClr val="FFFFFF"/>
                </a:solidFill>
                <a:latin typeface="Poppins"/>
                <a:ea typeface="Poppins"/>
                <a:cs typeface="Poppins"/>
                <a:sym typeface="Poppins"/>
              </a:rPr>
              <a:t>Fee Types generate many Fee Events (1:N)</a:t>
            </a:r>
          </a:p>
          <a:p>
            <a:pPr algn="just">
              <a:lnSpc>
                <a:spcPts val="4364"/>
              </a:lnSpc>
              <a:spcBef>
                <a:spcPct val="0"/>
              </a:spcBef>
            </a:pPr>
          </a:p>
          <a:p>
            <a:pPr algn="just">
              <a:lnSpc>
                <a:spcPts val="3237"/>
              </a:lnSpc>
              <a:spcBef>
                <a:spcPct val="0"/>
              </a:spcBef>
            </a:pPr>
          </a:p>
        </p:txBody>
      </p:sp>
      <p:grpSp>
        <p:nvGrpSpPr>
          <p:cNvPr name="Group 6" id="6"/>
          <p:cNvGrpSpPr/>
          <p:nvPr/>
        </p:nvGrpSpPr>
        <p:grpSpPr>
          <a:xfrm rot="0">
            <a:off x="16695810" y="8424550"/>
            <a:ext cx="1126981" cy="11269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274793" y="898804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5711303" y="955153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119977" y="252077"/>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119977" y="1816786"/>
            <a:ext cx="1126981" cy="11269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899164" y="1028700"/>
            <a:ext cx="1126981" cy="11269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98281" y="-141430"/>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434891" y="-262518"/>
            <a:ext cx="1126981" cy="11269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59300" y="465210"/>
            <a:ext cx="1126981" cy="11269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572508" y="-262518"/>
            <a:ext cx="1126981" cy="11269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563490" y="9107033"/>
            <a:ext cx="1126981" cy="11269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97860" y="9258300"/>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86810" y="9670524"/>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587291" y="-110118"/>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739691" y="42282"/>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7892091" y="194682"/>
            <a:ext cx="1126981" cy="112698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1869255" y="1028700"/>
            <a:ext cx="14084281" cy="9275819"/>
          </a:xfrm>
          <a:custGeom>
            <a:avLst/>
            <a:gdLst/>
            <a:ahLst/>
            <a:cxnLst/>
            <a:rect r="r" b="b" t="t" l="l"/>
            <a:pathLst>
              <a:path h="9275819" w="14084281">
                <a:moveTo>
                  <a:pt x="0" y="0"/>
                </a:moveTo>
                <a:lnTo>
                  <a:pt x="14084281" y="0"/>
                </a:lnTo>
                <a:lnTo>
                  <a:pt x="14084281" y="9275819"/>
                </a:lnTo>
                <a:lnTo>
                  <a:pt x="0" y="9275819"/>
                </a:lnTo>
                <a:lnTo>
                  <a:pt x="0" y="0"/>
                </a:lnTo>
                <a:close/>
              </a:path>
            </a:pathLst>
          </a:custGeom>
          <a:blipFill>
            <a:blip r:embed="rId4"/>
            <a:stretch>
              <a:fillRect l="0" t="0" r="0" b="0"/>
            </a:stretch>
          </a:blipFill>
        </p:spPr>
      </p:sp>
      <p:sp>
        <p:nvSpPr>
          <p:cNvPr name="TextBox 32" id="32"/>
          <p:cNvSpPr txBox="true"/>
          <p:nvPr/>
        </p:nvSpPr>
        <p:spPr>
          <a:xfrm rot="0">
            <a:off x="3111744" y="503922"/>
            <a:ext cx="5129918" cy="552317"/>
          </a:xfrm>
          <a:prstGeom prst="rect">
            <a:avLst/>
          </a:prstGeom>
        </p:spPr>
        <p:txBody>
          <a:bodyPr anchor="t" rtlCol="false" tIns="0" lIns="0" bIns="0" rIns="0">
            <a:spAutoFit/>
          </a:bodyPr>
          <a:lstStyle/>
          <a:p>
            <a:pPr algn="just" marL="648833" indent="-324417" lvl="1">
              <a:lnSpc>
                <a:spcPts val="4207"/>
              </a:lnSpc>
              <a:spcBef>
                <a:spcPct val="0"/>
              </a:spcBef>
              <a:buFont typeface="Arial"/>
              <a:buChar char="•"/>
            </a:pPr>
            <a:r>
              <a:rPr lang="en-US" b="true" sz="3005">
                <a:solidFill>
                  <a:srgbClr val="3FBA64"/>
                </a:solidFill>
                <a:latin typeface="Poppins Bold"/>
                <a:ea typeface="Poppins Bold"/>
                <a:cs typeface="Poppins Bold"/>
                <a:sym typeface="Poppins Bold"/>
              </a:rPr>
              <a:t>Relational ER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23854" y="4077210"/>
            <a:ext cx="586740" cy="586740"/>
          </a:xfrm>
          <a:custGeom>
            <a:avLst/>
            <a:gdLst/>
            <a:ahLst/>
            <a:cxnLst/>
            <a:rect r="r" b="b" t="t" l="l"/>
            <a:pathLst>
              <a:path h="586740" w="586740">
                <a:moveTo>
                  <a:pt x="0" y="0"/>
                </a:moveTo>
                <a:lnTo>
                  <a:pt x="586740" y="0"/>
                </a:lnTo>
                <a:lnTo>
                  <a:pt x="586740" y="586740"/>
                </a:lnTo>
                <a:lnTo>
                  <a:pt x="0" y="586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97" y="0"/>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0" y="2869121"/>
            <a:ext cx="17808627" cy="7408042"/>
            <a:chOff x="0" y="0"/>
            <a:chExt cx="4690338" cy="1951089"/>
          </a:xfrm>
        </p:grpSpPr>
        <p:sp>
          <p:nvSpPr>
            <p:cNvPr name="Freeform 7" id="7"/>
            <p:cNvSpPr/>
            <p:nvPr/>
          </p:nvSpPr>
          <p:spPr>
            <a:xfrm flipH="false" flipV="false" rot="0">
              <a:off x="0" y="0"/>
              <a:ext cx="4690338" cy="1951089"/>
            </a:xfrm>
            <a:custGeom>
              <a:avLst/>
              <a:gdLst/>
              <a:ahLst/>
              <a:cxnLst/>
              <a:rect r="r" b="b" t="t" l="l"/>
              <a:pathLst>
                <a:path h="1951089" w="4690338">
                  <a:moveTo>
                    <a:pt x="22171" y="0"/>
                  </a:moveTo>
                  <a:lnTo>
                    <a:pt x="4668167" y="0"/>
                  </a:lnTo>
                  <a:cubicBezTo>
                    <a:pt x="4674047" y="0"/>
                    <a:pt x="4679686" y="2336"/>
                    <a:pt x="4683844" y="6494"/>
                  </a:cubicBezTo>
                  <a:cubicBezTo>
                    <a:pt x="4688002" y="10652"/>
                    <a:pt x="4690338" y="16291"/>
                    <a:pt x="4690338" y="22171"/>
                  </a:cubicBezTo>
                  <a:lnTo>
                    <a:pt x="4690338" y="1928918"/>
                  </a:lnTo>
                  <a:cubicBezTo>
                    <a:pt x="4690338" y="1934798"/>
                    <a:pt x="4688002" y="1940438"/>
                    <a:pt x="4683844" y="1944596"/>
                  </a:cubicBezTo>
                  <a:cubicBezTo>
                    <a:pt x="4679686" y="1948754"/>
                    <a:pt x="4674047" y="1951089"/>
                    <a:pt x="4668167" y="1951089"/>
                  </a:cubicBezTo>
                  <a:lnTo>
                    <a:pt x="22171" y="1951089"/>
                  </a:lnTo>
                  <a:cubicBezTo>
                    <a:pt x="16291" y="1951089"/>
                    <a:pt x="10652" y="1948754"/>
                    <a:pt x="6494" y="1944596"/>
                  </a:cubicBezTo>
                  <a:cubicBezTo>
                    <a:pt x="2336" y="1940438"/>
                    <a:pt x="0" y="1934798"/>
                    <a:pt x="0" y="1928918"/>
                  </a:cubicBezTo>
                  <a:lnTo>
                    <a:pt x="0" y="22171"/>
                  </a:lnTo>
                  <a:cubicBezTo>
                    <a:pt x="0" y="16291"/>
                    <a:pt x="2336" y="10652"/>
                    <a:pt x="6494" y="6494"/>
                  </a:cubicBezTo>
                  <a:cubicBezTo>
                    <a:pt x="10652" y="2336"/>
                    <a:pt x="16291" y="0"/>
                    <a:pt x="22171" y="0"/>
                  </a:cubicBezTo>
                  <a:close/>
                </a:path>
              </a:pathLst>
            </a:custGeom>
            <a:solidFill>
              <a:srgbClr val="3A5A9A"/>
            </a:solidFill>
          </p:spPr>
        </p:sp>
        <p:sp>
          <p:nvSpPr>
            <p:cNvPr name="TextBox 8" id="8"/>
            <p:cNvSpPr txBox="true"/>
            <p:nvPr/>
          </p:nvSpPr>
          <p:spPr>
            <a:xfrm>
              <a:off x="0" y="-57150"/>
              <a:ext cx="4690338" cy="2008239"/>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6871401" y="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434891" y="46521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434891" y="-262518"/>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935227" y="-414016"/>
            <a:ext cx="14929651" cy="2958959"/>
            <a:chOff x="0" y="0"/>
            <a:chExt cx="3932089" cy="779314"/>
          </a:xfrm>
        </p:grpSpPr>
        <p:sp>
          <p:nvSpPr>
            <p:cNvPr name="Freeform 19" id="19"/>
            <p:cNvSpPr/>
            <p:nvPr/>
          </p:nvSpPr>
          <p:spPr>
            <a:xfrm flipH="false" flipV="false" rot="0">
              <a:off x="0" y="0"/>
              <a:ext cx="3932089" cy="779314"/>
            </a:xfrm>
            <a:custGeom>
              <a:avLst/>
              <a:gdLst/>
              <a:ahLst/>
              <a:cxnLst/>
              <a:rect r="r" b="b" t="t" l="l"/>
              <a:pathLst>
                <a:path h="779314" w="3932089">
                  <a:moveTo>
                    <a:pt x="26447" y="0"/>
                  </a:moveTo>
                  <a:lnTo>
                    <a:pt x="3905643" y="0"/>
                  </a:lnTo>
                  <a:cubicBezTo>
                    <a:pt x="3912657" y="0"/>
                    <a:pt x="3919384" y="2786"/>
                    <a:pt x="3924343" y="7746"/>
                  </a:cubicBezTo>
                  <a:cubicBezTo>
                    <a:pt x="3929303" y="12706"/>
                    <a:pt x="3932089" y="19432"/>
                    <a:pt x="3932089" y="26447"/>
                  </a:cubicBezTo>
                  <a:lnTo>
                    <a:pt x="3932089" y="752868"/>
                  </a:lnTo>
                  <a:cubicBezTo>
                    <a:pt x="3932089" y="767474"/>
                    <a:pt x="3920249" y="779314"/>
                    <a:pt x="3905643" y="779314"/>
                  </a:cubicBezTo>
                  <a:lnTo>
                    <a:pt x="26447" y="779314"/>
                  </a:lnTo>
                  <a:cubicBezTo>
                    <a:pt x="11841" y="779314"/>
                    <a:pt x="0" y="767474"/>
                    <a:pt x="0" y="752868"/>
                  </a:cubicBezTo>
                  <a:lnTo>
                    <a:pt x="0" y="26447"/>
                  </a:lnTo>
                  <a:cubicBezTo>
                    <a:pt x="0" y="11841"/>
                    <a:pt x="11841" y="0"/>
                    <a:pt x="26447" y="0"/>
                  </a:cubicBezTo>
                  <a:close/>
                </a:path>
              </a:pathLst>
            </a:custGeom>
            <a:solidFill>
              <a:srgbClr val="3A5A9A"/>
            </a:solidFill>
          </p:spPr>
        </p:sp>
        <p:sp>
          <p:nvSpPr>
            <p:cNvPr name="TextBox 20" id="20"/>
            <p:cNvSpPr txBox="true"/>
            <p:nvPr/>
          </p:nvSpPr>
          <p:spPr>
            <a:xfrm>
              <a:off x="0" y="-57150"/>
              <a:ext cx="3932089" cy="836464"/>
            </a:xfrm>
            <a:prstGeom prst="rect">
              <a:avLst/>
            </a:prstGeom>
          </p:spPr>
          <p:txBody>
            <a:bodyPr anchor="ctr" rtlCol="false" tIns="50800" lIns="50800" bIns="50800" rIns="50800"/>
            <a:lstStyle/>
            <a:p>
              <a:pPr algn="ctr">
                <a:lnSpc>
                  <a:spcPts val="2940"/>
                </a:lnSpc>
              </a:pPr>
            </a:p>
          </p:txBody>
        </p:sp>
      </p:grpSp>
      <p:sp>
        <p:nvSpPr>
          <p:cNvPr name="TextBox 21" id="21"/>
          <p:cNvSpPr txBox="true"/>
          <p:nvPr/>
        </p:nvSpPr>
        <p:spPr>
          <a:xfrm rot="0">
            <a:off x="2347103" y="639690"/>
            <a:ext cx="14524298" cy="910589"/>
          </a:xfrm>
          <a:prstGeom prst="rect">
            <a:avLst/>
          </a:prstGeom>
        </p:spPr>
        <p:txBody>
          <a:bodyPr anchor="t" rtlCol="false" tIns="0" lIns="0" bIns="0" rIns="0">
            <a:spAutoFit/>
          </a:bodyPr>
          <a:lstStyle/>
          <a:p>
            <a:pPr algn="ctr">
              <a:lnSpc>
                <a:spcPts val="3599"/>
              </a:lnSpc>
            </a:pPr>
            <a:r>
              <a:rPr lang="en-US" sz="3599" b="true">
                <a:solidFill>
                  <a:srgbClr val="FFFFFF"/>
                </a:solidFill>
                <a:latin typeface="DM Sans Bold"/>
                <a:ea typeface="DM Sans Bold"/>
                <a:cs typeface="DM Sans Bold"/>
                <a:sym typeface="DM Sans Bold"/>
              </a:rPr>
              <a:t>YISAKAL SACCO DATABASE NORMALIZATION ANALYSIS</a:t>
            </a:r>
          </a:p>
          <a:p>
            <a:pPr algn="ctr">
              <a:lnSpc>
                <a:spcPts val="3599"/>
              </a:lnSpc>
            </a:pPr>
          </a:p>
        </p:txBody>
      </p:sp>
      <p:sp>
        <p:nvSpPr>
          <p:cNvPr name="TextBox 22" id="22"/>
          <p:cNvSpPr txBox="true"/>
          <p:nvPr/>
        </p:nvSpPr>
        <p:spPr>
          <a:xfrm rot="0">
            <a:off x="584054" y="4707277"/>
            <a:ext cx="16083180" cy="2759865"/>
          </a:xfrm>
          <a:prstGeom prst="rect">
            <a:avLst/>
          </a:prstGeom>
        </p:spPr>
        <p:txBody>
          <a:bodyPr anchor="t" rtlCol="false" tIns="0" lIns="0" bIns="0" rIns="0">
            <a:spAutoFit/>
          </a:bodyPr>
          <a:lstStyle/>
          <a:p>
            <a:pPr algn="l" marL="789355" indent="-394678" lvl="1">
              <a:lnSpc>
                <a:spcPts val="3656"/>
              </a:lnSpc>
              <a:buFont typeface="Arial"/>
              <a:buChar char="•"/>
            </a:pPr>
            <a:r>
              <a:rPr lang="en-US" sz="3656">
                <a:solidFill>
                  <a:srgbClr val="FFFFFF"/>
                </a:solidFill>
                <a:latin typeface="DM Sans"/>
                <a:ea typeface="DM Sans"/>
                <a:cs typeface="DM Sans"/>
                <a:sym typeface="DM Sans"/>
              </a:rPr>
              <a:t>In this PPT, some table samples are inserted to illu</a:t>
            </a:r>
            <a:r>
              <a:rPr lang="en-US" sz="3656">
                <a:solidFill>
                  <a:srgbClr val="FFFFFF"/>
                </a:solidFill>
                <a:latin typeface="DM Sans"/>
                <a:ea typeface="DM Sans"/>
                <a:cs typeface="DM Sans"/>
                <a:sym typeface="DM Sans"/>
              </a:rPr>
              <a:t>strate how the</a:t>
            </a:r>
          </a:p>
          <a:p>
            <a:pPr algn="l">
              <a:lnSpc>
                <a:spcPts val="3656"/>
              </a:lnSpc>
            </a:pPr>
            <a:r>
              <a:rPr lang="en-US" sz="3656">
                <a:solidFill>
                  <a:srgbClr val="FFFFFF"/>
                </a:solidFill>
                <a:latin typeface="DM Sans"/>
                <a:ea typeface="DM Sans"/>
                <a:cs typeface="DM Sans"/>
                <a:sym typeface="DM Sans"/>
              </a:rPr>
              <a:t> normalization process was perfor</a:t>
            </a:r>
            <a:r>
              <a:rPr lang="en-US" sz="3656">
                <a:solidFill>
                  <a:srgbClr val="FFFFFF"/>
                </a:solidFill>
                <a:latin typeface="DM Sans"/>
                <a:ea typeface="DM Sans"/>
                <a:cs typeface="DM Sans"/>
                <a:sym typeface="DM Sans"/>
              </a:rPr>
              <a:t>med from UNF up to BCNF.</a:t>
            </a:r>
          </a:p>
          <a:p>
            <a:pPr algn="l">
              <a:lnSpc>
                <a:spcPts val="3656"/>
              </a:lnSpc>
            </a:pPr>
          </a:p>
          <a:p>
            <a:pPr algn="l" marL="789355" indent="-394678" lvl="1">
              <a:lnSpc>
                <a:spcPts val="3656"/>
              </a:lnSpc>
              <a:buFont typeface="Arial"/>
              <a:buChar char="•"/>
            </a:pPr>
            <a:r>
              <a:rPr lang="en-US" sz="3656">
                <a:solidFill>
                  <a:srgbClr val="FFFFFF"/>
                </a:solidFill>
                <a:latin typeface="DM Sans"/>
                <a:ea typeface="DM Sans"/>
                <a:cs typeface="DM Sans"/>
                <a:sym typeface="DM Sans"/>
              </a:rPr>
              <a:t>The tables demonstrate the step-by-step decomposition of data to remove redundancy and improve database consistency.</a:t>
            </a:r>
          </a:p>
          <a:p>
            <a:pPr algn="l">
              <a:lnSpc>
                <a:spcPts val="3656"/>
              </a:lnSpc>
            </a:pPr>
          </a:p>
        </p:txBody>
      </p:sp>
      <p:grpSp>
        <p:nvGrpSpPr>
          <p:cNvPr name="Group 23" id="23"/>
          <p:cNvGrpSpPr/>
          <p:nvPr/>
        </p:nvGrpSpPr>
        <p:grpSpPr>
          <a:xfrm rot="0">
            <a:off x="17259300" y="9494624"/>
            <a:ext cx="1126981" cy="112698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7434891" y="8931134"/>
            <a:ext cx="1126981" cy="112698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23854" y="4077210"/>
            <a:ext cx="586740" cy="586740"/>
          </a:xfrm>
          <a:custGeom>
            <a:avLst/>
            <a:gdLst/>
            <a:ahLst/>
            <a:cxnLst/>
            <a:rect r="r" b="b" t="t" l="l"/>
            <a:pathLst>
              <a:path h="586740" w="586740">
                <a:moveTo>
                  <a:pt x="0" y="0"/>
                </a:moveTo>
                <a:lnTo>
                  <a:pt x="586740" y="0"/>
                </a:lnTo>
                <a:lnTo>
                  <a:pt x="586740" y="586740"/>
                </a:lnTo>
                <a:lnTo>
                  <a:pt x="0" y="586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97" y="0"/>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5597" y="2814562"/>
            <a:ext cx="17783471" cy="3273341"/>
            <a:chOff x="0" y="0"/>
            <a:chExt cx="4683712" cy="862114"/>
          </a:xfrm>
        </p:grpSpPr>
        <p:sp>
          <p:nvSpPr>
            <p:cNvPr name="Freeform 7" id="7"/>
            <p:cNvSpPr/>
            <p:nvPr/>
          </p:nvSpPr>
          <p:spPr>
            <a:xfrm flipH="false" flipV="false" rot="0">
              <a:off x="0" y="0"/>
              <a:ext cx="4683713" cy="862114"/>
            </a:xfrm>
            <a:custGeom>
              <a:avLst/>
              <a:gdLst/>
              <a:ahLst/>
              <a:cxnLst/>
              <a:rect r="r" b="b" t="t" l="l"/>
              <a:pathLst>
                <a:path h="862114" w="4683713">
                  <a:moveTo>
                    <a:pt x="22203" y="0"/>
                  </a:moveTo>
                  <a:lnTo>
                    <a:pt x="4661510" y="0"/>
                  </a:lnTo>
                  <a:cubicBezTo>
                    <a:pt x="4667398" y="0"/>
                    <a:pt x="4673046" y="2339"/>
                    <a:pt x="4677209" y="6503"/>
                  </a:cubicBezTo>
                  <a:cubicBezTo>
                    <a:pt x="4681374" y="10667"/>
                    <a:pt x="4683713" y="16314"/>
                    <a:pt x="4683713" y="22203"/>
                  </a:cubicBezTo>
                  <a:lnTo>
                    <a:pt x="4683713" y="839912"/>
                  </a:lnTo>
                  <a:cubicBezTo>
                    <a:pt x="4683713" y="852174"/>
                    <a:pt x="4673772" y="862114"/>
                    <a:pt x="4661510" y="862114"/>
                  </a:cubicBezTo>
                  <a:lnTo>
                    <a:pt x="22203" y="862114"/>
                  </a:lnTo>
                  <a:cubicBezTo>
                    <a:pt x="16314" y="862114"/>
                    <a:pt x="10667" y="859775"/>
                    <a:pt x="6503" y="855611"/>
                  </a:cubicBezTo>
                  <a:cubicBezTo>
                    <a:pt x="2339" y="851448"/>
                    <a:pt x="0" y="845800"/>
                    <a:pt x="0" y="839912"/>
                  </a:cubicBezTo>
                  <a:lnTo>
                    <a:pt x="0" y="22203"/>
                  </a:lnTo>
                  <a:cubicBezTo>
                    <a:pt x="0" y="16314"/>
                    <a:pt x="2339" y="10667"/>
                    <a:pt x="6503" y="6503"/>
                  </a:cubicBezTo>
                  <a:cubicBezTo>
                    <a:pt x="10667" y="2339"/>
                    <a:pt x="16314" y="0"/>
                    <a:pt x="22203" y="0"/>
                  </a:cubicBezTo>
                  <a:close/>
                </a:path>
              </a:pathLst>
            </a:custGeom>
            <a:solidFill>
              <a:srgbClr val="3A5A9A"/>
            </a:solidFill>
          </p:spPr>
        </p:sp>
        <p:sp>
          <p:nvSpPr>
            <p:cNvPr name="TextBox 8" id="8"/>
            <p:cNvSpPr txBox="true"/>
            <p:nvPr/>
          </p:nvSpPr>
          <p:spPr>
            <a:xfrm>
              <a:off x="0" y="-57150"/>
              <a:ext cx="4683712" cy="919264"/>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6871401" y="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434891" y="46521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434891" y="-262518"/>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58738" y="-262518"/>
            <a:ext cx="16387207" cy="2597009"/>
            <a:chOff x="0" y="0"/>
            <a:chExt cx="4315972" cy="683986"/>
          </a:xfrm>
        </p:grpSpPr>
        <p:sp>
          <p:nvSpPr>
            <p:cNvPr name="Freeform 19" id="19"/>
            <p:cNvSpPr/>
            <p:nvPr/>
          </p:nvSpPr>
          <p:spPr>
            <a:xfrm flipH="false" flipV="false" rot="0">
              <a:off x="0" y="0"/>
              <a:ext cx="4315972" cy="683986"/>
            </a:xfrm>
            <a:custGeom>
              <a:avLst/>
              <a:gdLst/>
              <a:ahLst/>
              <a:cxnLst/>
              <a:rect r="r" b="b" t="t" l="l"/>
              <a:pathLst>
                <a:path h="683986" w="4315972">
                  <a:moveTo>
                    <a:pt x="24094" y="0"/>
                  </a:moveTo>
                  <a:lnTo>
                    <a:pt x="4291878" y="0"/>
                  </a:lnTo>
                  <a:cubicBezTo>
                    <a:pt x="4298268" y="0"/>
                    <a:pt x="4304397" y="2538"/>
                    <a:pt x="4308915" y="7057"/>
                  </a:cubicBezTo>
                  <a:cubicBezTo>
                    <a:pt x="4313434" y="11576"/>
                    <a:pt x="4315972" y="17704"/>
                    <a:pt x="4315972" y="24094"/>
                  </a:cubicBezTo>
                  <a:lnTo>
                    <a:pt x="4315972" y="659892"/>
                  </a:lnTo>
                  <a:cubicBezTo>
                    <a:pt x="4315972" y="666282"/>
                    <a:pt x="4313434" y="672410"/>
                    <a:pt x="4308915" y="676929"/>
                  </a:cubicBezTo>
                  <a:cubicBezTo>
                    <a:pt x="4304397" y="681447"/>
                    <a:pt x="4298268" y="683986"/>
                    <a:pt x="4291878" y="683986"/>
                  </a:cubicBezTo>
                  <a:lnTo>
                    <a:pt x="24094" y="683986"/>
                  </a:lnTo>
                  <a:cubicBezTo>
                    <a:pt x="17704" y="683986"/>
                    <a:pt x="11576" y="681447"/>
                    <a:pt x="7057" y="676929"/>
                  </a:cubicBezTo>
                  <a:cubicBezTo>
                    <a:pt x="2538" y="672410"/>
                    <a:pt x="0" y="666282"/>
                    <a:pt x="0" y="659892"/>
                  </a:cubicBezTo>
                  <a:lnTo>
                    <a:pt x="0" y="24094"/>
                  </a:lnTo>
                  <a:cubicBezTo>
                    <a:pt x="0" y="17704"/>
                    <a:pt x="2538" y="11576"/>
                    <a:pt x="7057" y="7057"/>
                  </a:cubicBezTo>
                  <a:cubicBezTo>
                    <a:pt x="11576" y="2538"/>
                    <a:pt x="17704" y="0"/>
                    <a:pt x="24094" y="0"/>
                  </a:cubicBezTo>
                  <a:close/>
                </a:path>
              </a:pathLst>
            </a:custGeom>
            <a:solidFill>
              <a:srgbClr val="3A5A9A"/>
            </a:solidFill>
          </p:spPr>
        </p:sp>
        <p:sp>
          <p:nvSpPr>
            <p:cNvPr name="TextBox 20" id="20"/>
            <p:cNvSpPr txBox="true"/>
            <p:nvPr/>
          </p:nvSpPr>
          <p:spPr>
            <a:xfrm>
              <a:off x="0" y="-57150"/>
              <a:ext cx="4315972" cy="741136"/>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348580" y="6268931"/>
            <a:ext cx="9724070" cy="3694127"/>
            <a:chOff x="0" y="0"/>
            <a:chExt cx="2561072" cy="972939"/>
          </a:xfrm>
        </p:grpSpPr>
        <p:sp>
          <p:nvSpPr>
            <p:cNvPr name="Freeform 22" id="22"/>
            <p:cNvSpPr/>
            <p:nvPr/>
          </p:nvSpPr>
          <p:spPr>
            <a:xfrm flipH="false" flipV="false" rot="0">
              <a:off x="0" y="0"/>
              <a:ext cx="2561072" cy="972939"/>
            </a:xfrm>
            <a:custGeom>
              <a:avLst/>
              <a:gdLst/>
              <a:ahLst/>
              <a:cxnLst/>
              <a:rect r="r" b="b" t="t" l="l"/>
              <a:pathLst>
                <a:path h="972939" w="2561072">
                  <a:moveTo>
                    <a:pt x="40604" y="0"/>
                  </a:moveTo>
                  <a:lnTo>
                    <a:pt x="2520468" y="0"/>
                  </a:lnTo>
                  <a:cubicBezTo>
                    <a:pt x="2531237" y="0"/>
                    <a:pt x="2541564" y="4278"/>
                    <a:pt x="2549179" y="11893"/>
                  </a:cubicBezTo>
                  <a:cubicBezTo>
                    <a:pt x="2556794" y="19507"/>
                    <a:pt x="2561072" y="29835"/>
                    <a:pt x="2561072" y="40604"/>
                  </a:cubicBezTo>
                  <a:lnTo>
                    <a:pt x="2561072" y="932335"/>
                  </a:lnTo>
                  <a:cubicBezTo>
                    <a:pt x="2561072" y="954760"/>
                    <a:pt x="2542893" y="972939"/>
                    <a:pt x="2520468" y="972939"/>
                  </a:cubicBezTo>
                  <a:lnTo>
                    <a:pt x="40604" y="972939"/>
                  </a:lnTo>
                  <a:cubicBezTo>
                    <a:pt x="18179" y="972939"/>
                    <a:pt x="0" y="954760"/>
                    <a:pt x="0" y="932335"/>
                  </a:cubicBezTo>
                  <a:lnTo>
                    <a:pt x="0" y="40604"/>
                  </a:lnTo>
                  <a:cubicBezTo>
                    <a:pt x="0" y="18179"/>
                    <a:pt x="18179" y="0"/>
                    <a:pt x="40604" y="0"/>
                  </a:cubicBezTo>
                  <a:close/>
                </a:path>
              </a:pathLst>
            </a:custGeom>
            <a:solidFill>
              <a:srgbClr val="3A5A9A"/>
            </a:solidFill>
          </p:spPr>
        </p:sp>
        <p:sp>
          <p:nvSpPr>
            <p:cNvPr name="TextBox 23" id="23"/>
            <p:cNvSpPr txBox="true"/>
            <p:nvPr/>
          </p:nvSpPr>
          <p:spPr>
            <a:xfrm>
              <a:off x="0" y="-57150"/>
              <a:ext cx="2561072" cy="1030089"/>
            </a:xfrm>
            <a:prstGeom prst="rect">
              <a:avLst/>
            </a:prstGeom>
          </p:spPr>
          <p:txBody>
            <a:bodyPr anchor="ctr" rtlCol="false" tIns="50800" lIns="50800" bIns="50800" rIns="50800"/>
            <a:lstStyle/>
            <a:p>
              <a:pPr algn="ctr">
                <a:lnSpc>
                  <a:spcPts val="2940"/>
                </a:lnSpc>
              </a:pPr>
            </a:p>
          </p:txBody>
        </p:sp>
      </p:grpSp>
      <p:sp>
        <p:nvSpPr>
          <p:cNvPr name="Freeform 24" id="24"/>
          <p:cNvSpPr/>
          <p:nvPr/>
        </p:nvSpPr>
        <p:spPr>
          <a:xfrm flipH="false" flipV="false" rot="0">
            <a:off x="99542" y="6564153"/>
            <a:ext cx="8827827" cy="2846200"/>
          </a:xfrm>
          <a:custGeom>
            <a:avLst/>
            <a:gdLst/>
            <a:ahLst/>
            <a:cxnLst/>
            <a:rect r="r" b="b" t="t" l="l"/>
            <a:pathLst>
              <a:path h="2846200" w="8827827">
                <a:moveTo>
                  <a:pt x="0" y="0"/>
                </a:moveTo>
                <a:lnTo>
                  <a:pt x="8827827" y="0"/>
                </a:lnTo>
                <a:lnTo>
                  <a:pt x="8827827" y="2846200"/>
                </a:lnTo>
                <a:lnTo>
                  <a:pt x="0" y="2846200"/>
                </a:lnTo>
                <a:lnTo>
                  <a:pt x="0" y="0"/>
                </a:lnTo>
                <a:close/>
              </a:path>
            </a:pathLst>
          </a:custGeom>
          <a:blipFill>
            <a:blip r:embed="rId10"/>
            <a:stretch>
              <a:fillRect l="0" t="-1426" r="0" b="-538"/>
            </a:stretch>
          </a:blipFill>
        </p:spPr>
      </p:sp>
      <p:grpSp>
        <p:nvGrpSpPr>
          <p:cNvPr name="Group 25" id="25"/>
          <p:cNvGrpSpPr/>
          <p:nvPr/>
        </p:nvGrpSpPr>
        <p:grpSpPr>
          <a:xfrm rot="0">
            <a:off x="10045051" y="6164103"/>
            <a:ext cx="8823019" cy="3798954"/>
            <a:chOff x="0" y="0"/>
            <a:chExt cx="2323758" cy="1000548"/>
          </a:xfrm>
        </p:grpSpPr>
        <p:sp>
          <p:nvSpPr>
            <p:cNvPr name="Freeform 26" id="26"/>
            <p:cNvSpPr/>
            <p:nvPr/>
          </p:nvSpPr>
          <p:spPr>
            <a:xfrm flipH="false" flipV="false" rot="0">
              <a:off x="0" y="0"/>
              <a:ext cx="2323758" cy="1000548"/>
            </a:xfrm>
            <a:custGeom>
              <a:avLst/>
              <a:gdLst/>
              <a:ahLst/>
              <a:cxnLst/>
              <a:rect r="r" b="b" t="t" l="l"/>
              <a:pathLst>
                <a:path h="1000548" w="2323758">
                  <a:moveTo>
                    <a:pt x="44751" y="0"/>
                  </a:moveTo>
                  <a:lnTo>
                    <a:pt x="2279007" y="0"/>
                  </a:lnTo>
                  <a:cubicBezTo>
                    <a:pt x="2290876" y="0"/>
                    <a:pt x="2302258" y="4715"/>
                    <a:pt x="2310651" y="13107"/>
                  </a:cubicBezTo>
                  <a:cubicBezTo>
                    <a:pt x="2319043" y="21500"/>
                    <a:pt x="2323758" y="32882"/>
                    <a:pt x="2323758" y="44751"/>
                  </a:cubicBezTo>
                  <a:lnTo>
                    <a:pt x="2323758" y="955797"/>
                  </a:lnTo>
                  <a:cubicBezTo>
                    <a:pt x="2323758" y="967665"/>
                    <a:pt x="2319043" y="979048"/>
                    <a:pt x="2310651" y="987440"/>
                  </a:cubicBezTo>
                  <a:cubicBezTo>
                    <a:pt x="2302258" y="995833"/>
                    <a:pt x="2290876" y="1000548"/>
                    <a:pt x="2279007" y="1000548"/>
                  </a:cubicBezTo>
                  <a:lnTo>
                    <a:pt x="44751" y="1000548"/>
                  </a:lnTo>
                  <a:cubicBezTo>
                    <a:pt x="32882" y="1000548"/>
                    <a:pt x="21500" y="995833"/>
                    <a:pt x="13107" y="987440"/>
                  </a:cubicBezTo>
                  <a:cubicBezTo>
                    <a:pt x="4715" y="979048"/>
                    <a:pt x="0" y="967665"/>
                    <a:pt x="0" y="955797"/>
                  </a:cubicBezTo>
                  <a:lnTo>
                    <a:pt x="0" y="44751"/>
                  </a:lnTo>
                  <a:cubicBezTo>
                    <a:pt x="0" y="32882"/>
                    <a:pt x="4715" y="21500"/>
                    <a:pt x="13107" y="13107"/>
                  </a:cubicBezTo>
                  <a:cubicBezTo>
                    <a:pt x="21500" y="4715"/>
                    <a:pt x="32882" y="0"/>
                    <a:pt x="44751" y="0"/>
                  </a:cubicBezTo>
                  <a:close/>
                </a:path>
              </a:pathLst>
            </a:custGeom>
            <a:solidFill>
              <a:srgbClr val="3A5A9A"/>
            </a:solidFill>
          </p:spPr>
        </p:sp>
        <p:sp>
          <p:nvSpPr>
            <p:cNvPr name="TextBox 27" id="27"/>
            <p:cNvSpPr txBox="true"/>
            <p:nvPr/>
          </p:nvSpPr>
          <p:spPr>
            <a:xfrm>
              <a:off x="0" y="-57150"/>
              <a:ext cx="2323758" cy="1057698"/>
            </a:xfrm>
            <a:prstGeom prst="rect">
              <a:avLst/>
            </a:prstGeom>
          </p:spPr>
          <p:txBody>
            <a:bodyPr anchor="ctr" rtlCol="false" tIns="50800" lIns="50800" bIns="50800" rIns="50800"/>
            <a:lstStyle/>
            <a:p>
              <a:pPr algn="ctr">
                <a:lnSpc>
                  <a:spcPts val="2940"/>
                </a:lnSpc>
              </a:pPr>
            </a:p>
          </p:txBody>
        </p:sp>
      </p:grpSp>
      <p:sp>
        <p:nvSpPr>
          <p:cNvPr name="Freeform 28" id="28"/>
          <p:cNvSpPr/>
          <p:nvPr/>
        </p:nvSpPr>
        <p:spPr>
          <a:xfrm flipH="false" flipV="false" rot="0">
            <a:off x="10094397" y="6414005"/>
            <a:ext cx="7997940" cy="3299150"/>
          </a:xfrm>
          <a:custGeom>
            <a:avLst/>
            <a:gdLst/>
            <a:ahLst/>
            <a:cxnLst/>
            <a:rect r="r" b="b" t="t" l="l"/>
            <a:pathLst>
              <a:path h="3299150" w="7997940">
                <a:moveTo>
                  <a:pt x="0" y="0"/>
                </a:moveTo>
                <a:lnTo>
                  <a:pt x="7997940" y="0"/>
                </a:lnTo>
                <a:lnTo>
                  <a:pt x="7997940" y="3299151"/>
                </a:lnTo>
                <a:lnTo>
                  <a:pt x="0" y="3299151"/>
                </a:lnTo>
                <a:lnTo>
                  <a:pt x="0" y="0"/>
                </a:lnTo>
                <a:close/>
              </a:path>
            </a:pathLst>
          </a:custGeom>
          <a:blipFill>
            <a:blip r:embed="rId11"/>
            <a:stretch>
              <a:fillRect l="0" t="0" r="0" b="0"/>
            </a:stretch>
          </a:blipFill>
        </p:spPr>
      </p:sp>
      <p:sp>
        <p:nvSpPr>
          <p:cNvPr name="TextBox 29" id="29"/>
          <p:cNvSpPr txBox="true"/>
          <p:nvPr/>
        </p:nvSpPr>
        <p:spPr>
          <a:xfrm rot="0">
            <a:off x="2347103" y="639690"/>
            <a:ext cx="14524298" cy="910589"/>
          </a:xfrm>
          <a:prstGeom prst="rect">
            <a:avLst/>
          </a:prstGeom>
        </p:spPr>
        <p:txBody>
          <a:bodyPr anchor="t" rtlCol="false" tIns="0" lIns="0" bIns="0" rIns="0">
            <a:spAutoFit/>
          </a:bodyPr>
          <a:lstStyle/>
          <a:p>
            <a:pPr algn="ctr">
              <a:lnSpc>
                <a:spcPts val="3599"/>
              </a:lnSpc>
            </a:pPr>
            <a:r>
              <a:rPr lang="en-US" sz="3599" b="true">
                <a:solidFill>
                  <a:srgbClr val="FFFFFF"/>
                </a:solidFill>
                <a:latin typeface="DM Sans Bold"/>
                <a:ea typeface="DM Sans Bold"/>
                <a:cs typeface="DM Sans Bold"/>
                <a:sym typeface="DM Sans Bold"/>
              </a:rPr>
              <a:t>YISAKAL SACCO DATABASE NORMALIZATION ANALYSIS</a:t>
            </a:r>
          </a:p>
          <a:p>
            <a:pPr algn="ctr">
              <a:lnSpc>
                <a:spcPts val="3599"/>
              </a:lnSpc>
            </a:pPr>
          </a:p>
        </p:txBody>
      </p:sp>
      <p:sp>
        <p:nvSpPr>
          <p:cNvPr name="TextBox 30" id="30"/>
          <p:cNvSpPr txBox="true"/>
          <p:nvPr/>
        </p:nvSpPr>
        <p:spPr>
          <a:xfrm rot="0">
            <a:off x="658738" y="3255307"/>
            <a:ext cx="8193603" cy="2908796"/>
          </a:xfrm>
          <a:prstGeom prst="rect">
            <a:avLst/>
          </a:prstGeom>
        </p:spPr>
        <p:txBody>
          <a:bodyPr anchor="t" rtlCol="false" tIns="0" lIns="0" bIns="0" rIns="0">
            <a:spAutoFit/>
          </a:bodyPr>
          <a:lstStyle/>
          <a:p>
            <a:pPr algn="l">
              <a:lnSpc>
                <a:spcPts val="1831"/>
              </a:lnSpc>
            </a:pPr>
          </a:p>
          <a:p>
            <a:pPr algn="l" marL="438551" indent="-219276" lvl="1">
              <a:lnSpc>
                <a:spcPts val="2031"/>
              </a:lnSpc>
              <a:buFont typeface="Arial"/>
              <a:buChar char="•"/>
            </a:pPr>
            <a:r>
              <a:rPr lang="en-US" sz="2031">
                <a:solidFill>
                  <a:srgbClr val="FFFFFF"/>
                </a:solidFill>
                <a:latin typeface="DM Sans"/>
                <a:ea typeface="DM Sans"/>
                <a:cs typeface="DM Sans"/>
                <a:sym typeface="DM Sans"/>
              </a:rPr>
              <a:t>In this PPT, some table samples are inserted to illustrate how the</a:t>
            </a:r>
          </a:p>
          <a:p>
            <a:pPr algn="l">
              <a:lnSpc>
                <a:spcPts val="2031"/>
              </a:lnSpc>
            </a:pPr>
            <a:r>
              <a:rPr lang="en-US" sz="2031">
                <a:solidFill>
                  <a:srgbClr val="FFFFFF"/>
                </a:solidFill>
                <a:latin typeface="DM Sans"/>
                <a:ea typeface="DM Sans"/>
                <a:cs typeface="DM Sans"/>
                <a:sym typeface="DM Sans"/>
              </a:rPr>
              <a:t> normalization process was performed from UNF up to BCNF.</a:t>
            </a:r>
          </a:p>
          <a:p>
            <a:pPr algn="l">
              <a:lnSpc>
                <a:spcPts val="1931"/>
              </a:lnSpc>
            </a:pPr>
          </a:p>
          <a:p>
            <a:pPr algn="l" marL="416962" indent="-208481" lvl="1">
              <a:lnSpc>
                <a:spcPts val="1931"/>
              </a:lnSpc>
              <a:buFont typeface="Arial"/>
              <a:buChar char="•"/>
            </a:pPr>
            <a:r>
              <a:rPr lang="en-US" sz="1931">
                <a:solidFill>
                  <a:srgbClr val="FFFFFF"/>
                </a:solidFill>
                <a:latin typeface="DM Sans"/>
                <a:ea typeface="DM Sans"/>
                <a:cs typeface="DM Sans"/>
                <a:sym typeface="DM Sans"/>
              </a:rPr>
              <a:t>The tables demonstrate the step-by-step decomposition of data to remove redundancy and improve database consistency.</a:t>
            </a:r>
          </a:p>
          <a:p>
            <a:pPr algn="l">
              <a:lnSpc>
                <a:spcPts val="1557"/>
              </a:lnSpc>
            </a:pPr>
          </a:p>
          <a:p>
            <a:pPr algn="l">
              <a:lnSpc>
                <a:spcPts val="1857"/>
              </a:lnSpc>
            </a:pPr>
          </a:p>
          <a:p>
            <a:pPr algn="l">
              <a:lnSpc>
                <a:spcPts val="1857"/>
              </a:lnSpc>
            </a:pPr>
            <a:r>
              <a:rPr lang="en-US" sz="1857" b="true">
                <a:solidFill>
                  <a:srgbClr val="FFFFFF"/>
                </a:solidFill>
                <a:latin typeface="DM Sans Bold"/>
                <a:ea typeface="DM Sans Bold"/>
                <a:cs typeface="DM Sans Bold"/>
                <a:sym typeface="DM Sans Bold"/>
              </a:rPr>
              <a:t> Administrative location,Branch and MemberSubsystem</a:t>
            </a:r>
          </a:p>
          <a:p>
            <a:pPr algn="l">
              <a:lnSpc>
                <a:spcPts val="1557"/>
              </a:lnSpc>
            </a:pPr>
          </a:p>
          <a:p>
            <a:pPr algn="l">
              <a:lnSpc>
                <a:spcPts val="2076"/>
              </a:lnSpc>
            </a:pPr>
            <a:r>
              <a:rPr lang="en-US" sz="2076" b="true">
                <a:solidFill>
                  <a:srgbClr val="FFFFFF"/>
                </a:solidFill>
                <a:latin typeface="DM Sans Bold"/>
                <a:ea typeface="DM Sans Bold"/>
                <a:cs typeface="DM Sans Bold"/>
                <a:sym typeface="DM Sans Bold"/>
              </a:rPr>
              <a:t>Step 1: Create unnormalized data  </a:t>
            </a:r>
          </a:p>
          <a:p>
            <a:pPr algn="l">
              <a:lnSpc>
                <a:spcPts val="1376"/>
              </a:lnSpc>
            </a:pPr>
          </a:p>
          <a:p>
            <a:pPr algn="ctr">
              <a:lnSpc>
                <a:spcPts val="1457"/>
              </a:lnSpc>
            </a:pPr>
          </a:p>
        </p:txBody>
      </p:sp>
      <p:sp>
        <p:nvSpPr>
          <p:cNvPr name="TextBox 31" id="31"/>
          <p:cNvSpPr txBox="true"/>
          <p:nvPr/>
        </p:nvSpPr>
        <p:spPr>
          <a:xfrm rot="0">
            <a:off x="10674466" y="3454002"/>
            <a:ext cx="8193603" cy="487541"/>
          </a:xfrm>
          <a:prstGeom prst="rect">
            <a:avLst/>
          </a:prstGeom>
        </p:spPr>
        <p:txBody>
          <a:bodyPr anchor="t" rtlCol="false" tIns="0" lIns="0" bIns="0" rIns="0">
            <a:spAutoFit/>
          </a:bodyPr>
          <a:lstStyle/>
          <a:p>
            <a:pPr algn="l">
              <a:lnSpc>
                <a:spcPts val="2431"/>
              </a:lnSpc>
            </a:pPr>
            <a:r>
              <a:rPr lang="en-US" sz="2431">
                <a:solidFill>
                  <a:srgbClr val="FFFFFF"/>
                </a:solidFill>
                <a:latin typeface="DM Sans"/>
                <a:ea typeface="DM Sans"/>
                <a:cs typeface="DM Sans"/>
                <a:sym typeface="DM Sans"/>
              </a:rPr>
              <a:t>Convert t</a:t>
            </a:r>
            <a:r>
              <a:rPr lang="en-US" sz="2431">
                <a:solidFill>
                  <a:srgbClr val="FFFFFF"/>
                </a:solidFill>
                <a:latin typeface="DM Sans"/>
                <a:ea typeface="DM Sans"/>
                <a:cs typeface="DM Sans"/>
                <a:sym typeface="DM Sans"/>
              </a:rPr>
              <a:t>o</a:t>
            </a:r>
            <a:r>
              <a:rPr lang="en-US" sz="2431">
                <a:solidFill>
                  <a:srgbClr val="FFFFFF"/>
                </a:solidFill>
                <a:latin typeface="DM Sans"/>
                <a:ea typeface="DM Sans"/>
                <a:cs typeface="DM Sans"/>
                <a:sym typeface="DM Sans"/>
              </a:rPr>
              <a:t> 1NF:-</a:t>
            </a:r>
          </a:p>
          <a:p>
            <a:pPr algn="ctr">
              <a:lnSpc>
                <a:spcPts val="145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23854" y="4077210"/>
            <a:ext cx="586740" cy="586740"/>
          </a:xfrm>
          <a:custGeom>
            <a:avLst/>
            <a:gdLst/>
            <a:ahLst/>
            <a:cxnLst/>
            <a:rect r="r" b="b" t="t" l="l"/>
            <a:pathLst>
              <a:path h="586740" w="586740">
                <a:moveTo>
                  <a:pt x="0" y="0"/>
                </a:moveTo>
                <a:lnTo>
                  <a:pt x="586740" y="0"/>
                </a:lnTo>
                <a:lnTo>
                  <a:pt x="586740" y="586740"/>
                </a:lnTo>
                <a:lnTo>
                  <a:pt x="0" y="586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97" y="0"/>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5597" y="1728925"/>
            <a:ext cx="17783471" cy="7681428"/>
            <a:chOff x="0" y="0"/>
            <a:chExt cx="4683712" cy="2023092"/>
          </a:xfrm>
        </p:grpSpPr>
        <p:sp>
          <p:nvSpPr>
            <p:cNvPr name="Freeform 7" id="7"/>
            <p:cNvSpPr/>
            <p:nvPr/>
          </p:nvSpPr>
          <p:spPr>
            <a:xfrm flipH="false" flipV="false" rot="0">
              <a:off x="0" y="0"/>
              <a:ext cx="4683713" cy="2023092"/>
            </a:xfrm>
            <a:custGeom>
              <a:avLst/>
              <a:gdLst/>
              <a:ahLst/>
              <a:cxnLst/>
              <a:rect r="r" b="b" t="t" l="l"/>
              <a:pathLst>
                <a:path h="2023092" w="4683713">
                  <a:moveTo>
                    <a:pt x="22203" y="0"/>
                  </a:moveTo>
                  <a:lnTo>
                    <a:pt x="4661510" y="0"/>
                  </a:lnTo>
                  <a:cubicBezTo>
                    <a:pt x="4667398" y="0"/>
                    <a:pt x="4673046" y="2339"/>
                    <a:pt x="4677209" y="6503"/>
                  </a:cubicBezTo>
                  <a:cubicBezTo>
                    <a:pt x="4681374" y="10667"/>
                    <a:pt x="4683713" y="16314"/>
                    <a:pt x="4683713" y="22203"/>
                  </a:cubicBezTo>
                  <a:lnTo>
                    <a:pt x="4683713" y="2000889"/>
                  </a:lnTo>
                  <a:cubicBezTo>
                    <a:pt x="4683713" y="2013152"/>
                    <a:pt x="4673772" y="2023092"/>
                    <a:pt x="4661510" y="2023092"/>
                  </a:cubicBezTo>
                  <a:lnTo>
                    <a:pt x="22203" y="2023092"/>
                  </a:lnTo>
                  <a:cubicBezTo>
                    <a:pt x="16314" y="2023092"/>
                    <a:pt x="10667" y="2020753"/>
                    <a:pt x="6503" y="2016589"/>
                  </a:cubicBezTo>
                  <a:cubicBezTo>
                    <a:pt x="2339" y="2012425"/>
                    <a:pt x="0" y="2006778"/>
                    <a:pt x="0" y="2000889"/>
                  </a:cubicBezTo>
                  <a:lnTo>
                    <a:pt x="0" y="22203"/>
                  </a:lnTo>
                  <a:cubicBezTo>
                    <a:pt x="0" y="16314"/>
                    <a:pt x="2339" y="10667"/>
                    <a:pt x="6503" y="6503"/>
                  </a:cubicBezTo>
                  <a:cubicBezTo>
                    <a:pt x="10667" y="2339"/>
                    <a:pt x="16314" y="0"/>
                    <a:pt x="22203" y="0"/>
                  </a:cubicBezTo>
                  <a:close/>
                </a:path>
              </a:pathLst>
            </a:custGeom>
            <a:solidFill>
              <a:srgbClr val="3A5A9A"/>
            </a:solidFill>
          </p:spPr>
        </p:sp>
        <p:sp>
          <p:nvSpPr>
            <p:cNvPr name="TextBox 8" id="8"/>
            <p:cNvSpPr txBox="true"/>
            <p:nvPr/>
          </p:nvSpPr>
          <p:spPr>
            <a:xfrm>
              <a:off x="0" y="-57150"/>
              <a:ext cx="4683712" cy="2080242"/>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6871401" y="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434891" y="46521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434891" y="-262518"/>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58738" y="-262518"/>
            <a:ext cx="16387207" cy="1991443"/>
            <a:chOff x="0" y="0"/>
            <a:chExt cx="4315972" cy="524495"/>
          </a:xfrm>
        </p:grpSpPr>
        <p:sp>
          <p:nvSpPr>
            <p:cNvPr name="Freeform 19" id="19"/>
            <p:cNvSpPr/>
            <p:nvPr/>
          </p:nvSpPr>
          <p:spPr>
            <a:xfrm flipH="false" flipV="false" rot="0">
              <a:off x="0" y="0"/>
              <a:ext cx="4315972" cy="524495"/>
            </a:xfrm>
            <a:custGeom>
              <a:avLst/>
              <a:gdLst/>
              <a:ahLst/>
              <a:cxnLst/>
              <a:rect r="r" b="b" t="t" l="l"/>
              <a:pathLst>
                <a:path h="524495" w="4315972">
                  <a:moveTo>
                    <a:pt x="24094" y="0"/>
                  </a:moveTo>
                  <a:lnTo>
                    <a:pt x="4291878" y="0"/>
                  </a:lnTo>
                  <a:cubicBezTo>
                    <a:pt x="4298268" y="0"/>
                    <a:pt x="4304397" y="2538"/>
                    <a:pt x="4308915" y="7057"/>
                  </a:cubicBezTo>
                  <a:cubicBezTo>
                    <a:pt x="4313434" y="11576"/>
                    <a:pt x="4315972" y="17704"/>
                    <a:pt x="4315972" y="24094"/>
                  </a:cubicBezTo>
                  <a:lnTo>
                    <a:pt x="4315972" y="500401"/>
                  </a:lnTo>
                  <a:cubicBezTo>
                    <a:pt x="4315972" y="506791"/>
                    <a:pt x="4313434" y="512920"/>
                    <a:pt x="4308915" y="517438"/>
                  </a:cubicBezTo>
                  <a:cubicBezTo>
                    <a:pt x="4304397" y="521957"/>
                    <a:pt x="4298268" y="524495"/>
                    <a:pt x="4291878" y="524495"/>
                  </a:cubicBezTo>
                  <a:lnTo>
                    <a:pt x="24094" y="524495"/>
                  </a:lnTo>
                  <a:cubicBezTo>
                    <a:pt x="17704" y="524495"/>
                    <a:pt x="11576" y="521957"/>
                    <a:pt x="7057" y="517438"/>
                  </a:cubicBezTo>
                  <a:cubicBezTo>
                    <a:pt x="2538" y="512920"/>
                    <a:pt x="0" y="506791"/>
                    <a:pt x="0" y="500401"/>
                  </a:cubicBezTo>
                  <a:lnTo>
                    <a:pt x="0" y="24094"/>
                  </a:lnTo>
                  <a:cubicBezTo>
                    <a:pt x="0" y="17704"/>
                    <a:pt x="2538" y="11576"/>
                    <a:pt x="7057" y="7057"/>
                  </a:cubicBezTo>
                  <a:cubicBezTo>
                    <a:pt x="11576" y="2538"/>
                    <a:pt x="17704" y="0"/>
                    <a:pt x="24094" y="0"/>
                  </a:cubicBezTo>
                  <a:close/>
                </a:path>
              </a:pathLst>
            </a:custGeom>
            <a:solidFill>
              <a:srgbClr val="3A5A9A"/>
            </a:solidFill>
          </p:spPr>
        </p:sp>
        <p:sp>
          <p:nvSpPr>
            <p:cNvPr name="TextBox 20" id="20"/>
            <p:cNvSpPr txBox="true"/>
            <p:nvPr/>
          </p:nvSpPr>
          <p:spPr>
            <a:xfrm>
              <a:off x="0" y="-57150"/>
              <a:ext cx="4315972" cy="581645"/>
            </a:xfrm>
            <a:prstGeom prst="rect">
              <a:avLst/>
            </a:prstGeom>
          </p:spPr>
          <p:txBody>
            <a:bodyPr anchor="ctr" rtlCol="false" tIns="50800" lIns="50800" bIns="50800" rIns="50800"/>
            <a:lstStyle/>
            <a:p>
              <a:pPr algn="ctr">
                <a:lnSpc>
                  <a:spcPts val="2940"/>
                </a:lnSpc>
              </a:pPr>
            </a:p>
          </p:txBody>
        </p:sp>
      </p:grpSp>
      <p:sp>
        <p:nvSpPr>
          <p:cNvPr name="Freeform 21" id="21"/>
          <p:cNvSpPr/>
          <p:nvPr/>
        </p:nvSpPr>
        <p:spPr>
          <a:xfrm flipH="false" flipV="false" rot="0">
            <a:off x="3084138" y="2505944"/>
            <a:ext cx="9451222" cy="1571266"/>
          </a:xfrm>
          <a:custGeom>
            <a:avLst/>
            <a:gdLst/>
            <a:ahLst/>
            <a:cxnLst/>
            <a:rect r="r" b="b" t="t" l="l"/>
            <a:pathLst>
              <a:path h="1571266" w="9451222">
                <a:moveTo>
                  <a:pt x="0" y="0"/>
                </a:moveTo>
                <a:lnTo>
                  <a:pt x="9451222" y="0"/>
                </a:lnTo>
                <a:lnTo>
                  <a:pt x="9451222" y="1571266"/>
                </a:lnTo>
                <a:lnTo>
                  <a:pt x="0" y="1571266"/>
                </a:lnTo>
                <a:lnTo>
                  <a:pt x="0" y="0"/>
                </a:lnTo>
                <a:close/>
              </a:path>
            </a:pathLst>
          </a:custGeom>
          <a:blipFill>
            <a:blip r:embed="rId10"/>
            <a:stretch>
              <a:fillRect l="0" t="0" r="0" b="0"/>
            </a:stretch>
          </a:blipFill>
        </p:spPr>
      </p:sp>
      <p:sp>
        <p:nvSpPr>
          <p:cNvPr name="Freeform 22" id="22"/>
          <p:cNvSpPr/>
          <p:nvPr/>
        </p:nvSpPr>
        <p:spPr>
          <a:xfrm flipH="false" flipV="false" rot="0">
            <a:off x="3084138" y="5143500"/>
            <a:ext cx="10919132" cy="1733490"/>
          </a:xfrm>
          <a:custGeom>
            <a:avLst/>
            <a:gdLst/>
            <a:ahLst/>
            <a:cxnLst/>
            <a:rect r="r" b="b" t="t" l="l"/>
            <a:pathLst>
              <a:path h="1733490" w="10919132">
                <a:moveTo>
                  <a:pt x="0" y="0"/>
                </a:moveTo>
                <a:lnTo>
                  <a:pt x="10919132" y="0"/>
                </a:lnTo>
                <a:lnTo>
                  <a:pt x="10919132" y="1733490"/>
                </a:lnTo>
                <a:lnTo>
                  <a:pt x="0" y="1733490"/>
                </a:lnTo>
                <a:lnTo>
                  <a:pt x="0" y="0"/>
                </a:lnTo>
                <a:close/>
              </a:path>
            </a:pathLst>
          </a:custGeom>
          <a:blipFill>
            <a:blip r:embed="rId11"/>
            <a:stretch>
              <a:fillRect l="0" t="0" r="-1604" b="0"/>
            </a:stretch>
          </a:blipFill>
        </p:spPr>
      </p:sp>
      <p:sp>
        <p:nvSpPr>
          <p:cNvPr name="Freeform 23" id="23"/>
          <p:cNvSpPr/>
          <p:nvPr/>
        </p:nvSpPr>
        <p:spPr>
          <a:xfrm flipH="false" flipV="false" rot="0">
            <a:off x="2702011" y="7803263"/>
            <a:ext cx="11301259" cy="1455037"/>
          </a:xfrm>
          <a:custGeom>
            <a:avLst/>
            <a:gdLst/>
            <a:ahLst/>
            <a:cxnLst/>
            <a:rect r="r" b="b" t="t" l="l"/>
            <a:pathLst>
              <a:path h="1455037" w="11301259">
                <a:moveTo>
                  <a:pt x="0" y="0"/>
                </a:moveTo>
                <a:lnTo>
                  <a:pt x="11301259" y="0"/>
                </a:lnTo>
                <a:lnTo>
                  <a:pt x="11301259" y="1455037"/>
                </a:lnTo>
                <a:lnTo>
                  <a:pt x="0" y="1455037"/>
                </a:lnTo>
                <a:lnTo>
                  <a:pt x="0" y="0"/>
                </a:lnTo>
                <a:close/>
              </a:path>
            </a:pathLst>
          </a:custGeom>
          <a:blipFill>
            <a:blip r:embed="rId12"/>
            <a:stretch>
              <a:fillRect l="0" t="0" r="0" b="0"/>
            </a:stretch>
          </a:blipFill>
        </p:spPr>
      </p:sp>
      <p:sp>
        <p:nvSpPr>
          <p:cNvPr name="TextBox 24" id="24"/>
          <p:cNvSpPr txBox="true"/>
          <p:nvPr/>
        </p:nvSpPr>
        <p:spPr>
          <a:xfrm rot="0">
            <a:off x="2347103" y="639690"/>
            <a:ext cx="14524298" cy="910589"/>
          </a:xfrm>
          <a:prstGeom prst="rect">
            <a:avLst/>
          </a:prstGeom>
        </p:spPr>
        <p:txBody>
          <a:bodyPr anchor="t" rtlCol="false" tIns="0" lIns="0" bIns="0" rIns="0">
            <a:spAutoFit/>
          </a:bodyPr>
          <a:lstStyle/>
          <a:p>
            <a:pPr algn="ctr">
              <a:lnSpc>
                <a:spcPts val="3599"/>
              </a:lnSpc>
            </a:pPr>
            <a:r>
              <a:rPr lang="en-US" sz="3599" b="true">
                <a:solidFill>
                  <a:srgbClr val="FFFFFF"/>
                </a:solidFill>
                <a:latin typeface="DM Sans Bold"/>
                <a:ea typeface="DM Sans Bold"/>
                <a:cs typeface="DM Sans Bold"/>
                <a:sym typeface="DM Sans Bold"/>
              </a:rPr>
              <a:t>YISAKAL SACCO DATABASE NORMALIZATION ANALYSIS</a:t>
            </a:r>
          </a:p>
          <a:p>
            <a:pPr algn="ctr">
              <a:lnSpc>
                <a:spcPts val="3599"/>
              </a:lnSpc>
            </a:pPr>
          </a:p>
        </p:txBody>
      </p:sp>
      <p:sp>
        <p:nvSpPr>
          <p:cNvPr name="TextBox 25" id="25"/>
          <p:cNvSpPr txBox="true"/>
          <p:nvPr/>
        </p:nvSpPr>
        <p:spPr>
          <a:xfrm rot="0">
            <a:off x="3084138" y="1938065"/>
            <a:ext cx="8193603" cy="876498"/>
          </a:xfrm>
          <a:prstGeom prst="rect">
            <a:avLst/>
          </a:prstGeom>
        </p:spPr>
        <p:txBody>
          <a:bodyPr anchor="t" rtlCol="false" tIns="0" lIns="0" bIns="0" rIns="0">
            <a:spAutoFit/>
          </a:bodyPr>
          <a:lstStyle/>
          <a:p>
            <a:pPr algn="ctr">
              <a:lnSpc>
                <a:spcPts val="2257"/>
              </a:lnSpc>
            </a:pPr>
            <a:r>
              <a:rPr lang="en-US" sz="2257" b="true">
                <a:solidFill>
                  <a:srgbClr val="FFFFFF"/>
                </a:solidFill>
                <a:latin typeface="DM Sans Bold"/>
                <a:ea typeface="DM Sans Bold"/>
                <a:cs typeface="DM Sans Bold"/>
                <a:sym typeface="DM Sans Bold"/>
              </a:rPr>
              <a:t>Step 3:- Convert </a:t>
            </a:r>
            <a:r>
              <a:rPr lang="en-US" sz="2257" b="true">
                <a:solidFill>
                  <a:srgbClr val="FFFFFF"/>
                </a:solidFill>
                <a:latin typeface="DM Sans Bold"/>
                <a:ea typeface="DM Sans Bold"/>
                <a:cs typeface="DM Sans Bold"/>
                <a:sym typeface="DM Sans Bold"/>
              </a:rPr>
              <a:t>to 2NF</a:t>
            </a:r>
          </a:p>
          <a:p>
            <a:pPr algn="ctr">
              <a:lnSpc>
                <a:spcPts val="2257"/>
              </a:lnSpc>
            </a:pPr>
          </a:p>
          <a:p>
            <a:pPr algn="ctr">
              <a:lnSpc>
                <a:spcPts val="2257"/>
              </a:lnSpc>
            </a:pPr>
          </a:p>
        </p:txBody>
      </p:sp>
      <p:sp>
        <p:nvSpPr>
          <p:cNvPr name="TextBox 26" id="26"/>
          <p:cNvSpPr txBox="true"/>
          <p:nvPr/>
        </p:nvSpPr>
        <p:spPr>
          <a:xfrm rot="0">
            <a:off x="4602254" y="4592350"/>
            <a:ext cx="8193603" cy="487541"/>
          </a:xfrm>
          <a:prstGeom prst="rect">
            <a:avLst/>
          </a:prstGeom>
        </p:spPr>
        <p:txBody>
          <a:bodyPr anchor="t" rtlCol="false" tIns="0" lIns="0" bIns="0" rIns="0">
            <a:spAutoFit/>
          </a:bodyPr>
          <a:lstStyle/>
          <a:p>
            <a:pPr algn="l">
              <a:lnSpc>
                <a:spcPts val="2431"/>
              </a:lnSpc>
            </a:pPr>
            <a:r>
              <a:rPr lang="en-US" sz="2431">
                <a:solidFill>
                  <a:srgbClr val="FFFFFF"/>
                </a:solidFill>
                <a:latin typeface="DM Sans"/>
                <a:ea typeface="DM Sans"/>
                <a:cs typeface="DM Sans"/>
                <a:sym typeface="DM Sans"/>
              </a:rPr>
              <a:t>STEP 4 — Convert t</a:t>
            </a:r>
            <a:r>
              <a:rPr lang="en-US" sz="2431">
                <a:solidFill>
                  <a:srgbClr val="FFFFFF"/>
                </a:solidFill>
                <a:latin typeface="DM Sans"/>
                <a:ea typeface="DM Sans"/>
                <a:cs typeface="DM Sans"/>
                <a:sym typeface="DM Sans"/>
              </a:rPr>
              <a:t>o</a:t>
            </a:r>
            <a:r>
              <a:rPr lang="en-US" sz="2431">
                <a:solidFill>
                  <a:srgbClr val="FFFFFF"/>
                </a:solidFill>
                <a:latin typeface="DM Sans"/>
                <a:ea typeface="DM Sans"/>
                <a:cs typeface="DM Sans"/>
                <a:sym typeface="DM Sans"/>
              </a:rPr>
              <a:t> 3NF</a:t>
            </a:r>
          </a:p>
          <a:p>
            <a:pPr algn="ctr">
              <a:lnSpc>
                <a:spcPts val="1457"/>
              </a:lnSpc>
            </a:pPr>
          </a:p>
        </p:txBody>
      </p:sp>
      <p:sp>
        <p:nvSpPr>
          <p:cNvPr name="TextBox 27" id="27"/>
          <p:cNvSpPr txBox="true"/>
          <p:nvPr/>
        </p:nvSpPr>
        <p:spPr>
          <a:xfrm rot="0">
            <a:off x="2617224" y="7381815"/>
            <a:ext cx="8193603" cy="590748"/>
          </a:xfrm>
          <a:prstGeom prst="rect">
            <a:avLst/>
          </a:prstGeom>
        </p:spPr>
        <p:txBody>
          <a:bodyPr anchor="t" rtlCol="false" tIns="0" lIns="0" bIns="0" rIns="0">
            <a:spAutoFit/>
          </a:bodyPr>
          <a:lstStyle/>
          <a:p>
            <a:pPr algn="ctr">
              <a:lnSpc>
                <a:spcPts val="2257"/>
              </a:lnSpc>
            </a:pPr>
            <a:r>
              <a:rPr lang="en-US" sz="2257" b="true">
                <a:solidFill>
                  <a:srgbClr val="FFFFFF"/>
                </a:solidFill>
                <a:latin typeface="DM Sans Bold"/>
                <a:ea typeface="DM Sans Bold"/>
                <a:cs typeface="DM Sans Bold"/>
                <a:sym typeface="DM Sans Bold"/>
              </a:rPr>
              <a:t>Step  5 — Convert </a:t>
            </a:r>
            <a:r>
              <a:rPr lang="en-US" sz="2257" b="true">
                <a:solidFill>
                  <a:srgbClr val="FFFFFF"/>
                </a:solidFill>
                <a:latin typeface="DM Sans Bold"/>
                <a:ea typeface="DM Sans Bold"/>
                <a:cs typeface="DM Sans Bold"/>
                <a:sym typeface="DM Sans Bold"/>
              </a:rPr>
              <a:t>to BCNF</a:t>
            </a:r>
          </a:p>
          <a:p>
            <a:pPr algn="ctr">
              <a:lnSpc>
                <a:spcPts val="2257"/>
              </a:lnSpc>
            </a:pPr>
          </a:p>
        </p:txBody>
      </p:sp>
      <p:grpSp>
        <p:nvGrpSpPr>
          <p:cNvPr name="Group 28" id="28"/>
          <p:cNvGrpSpPr/>
          <p:nvPr/>
        </p:nvGrpSpPr>
        <p:grpSpPr>
          <a:xfrm rot="0">
            <a:off x="16871401" y="7094648"/>
            <a:ext cx="1126981" cy="1126981"/>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7609435" y="7094648"/>
            <a:ext cx="1126981" cy="112698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7152504" y="7967291"/>
            <a:ext cx="1126981" cy="112698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23854" y="4077210"/>
            <a:ext cx="586740" cy="586740"/>
          </a:xfrm>
          <a:custGeom>
            <a:avLst/>
            <a:gdLst/>
            <a:ahLst/>
            <a:cxnLst/>
            <a:rect r="r" b="b" t="t" l="l"/>
            <a:pathLst>
              <a:path h="586740" w="586740">
                <a:moveTo>
                  <a:pt x="0" y="0"/>
                </a:moveTo>
                <a:lnTo>
                  <a:pt x="586740" y="0"/>
                </a:lnTo>
                <a:lnTo>
                  <a:pt x="586740" y="586740"/>
                </a:lnTo>
                <a:lnTo>
                  <a:pt x="0" y="586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97" y="0"/>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239575" y="1341965"/>
            <a:ext cx="17758807" cy="7565894"/>
            <a:chOff x="0" y="0"/>
            <a:chExt cx="4677217" cy="1992663"/>
          </a:xfrm>
        </p:grpSpPr>
        <p:sp>
          <p:nvSpPr>
            <p:cNvPr name="Freeform 7" id="7"/>
            <p:cNvSpPr/>
            <p:nvPr/>
          </p:nvSpPr>
          <p:spPr>
            <a:xfrm flipH="false" flipV="false" rot="0">
              <a:off x="0" y="0"/>
              <a:ext cx="4677216" cy="1992663"/>
            </a:xfrm>
            <a:custGeom>
              <a:avLst/>
              <a:gdLst/>
              <a:ahLst/>
              <a:cxnLst/>
              <a:rect r="r" b="b" t="t" l="l"/>
              <a:pathLst>
                <a:path h="1992663" w="4677216">
                  <a:moveTo>
                    <a:pt x="22233" y="0"/>
                  </a:moveTo>
                  <a:lnTo>
                    <a:pt x="4654983" y="0"/>
                  </a:lnTo>
                  <a:cubicBezTo>
                    <a:pt x="4660880" y="0"/>
                    <a:pt x="4666535" y="2342"/>
                    <a:pt x="4670704" y="6512"/>
                  </a:cubicBezTo>
                  <a:cubicBezTo>
                    <a:pt x="4674874" y="10682"/>
                    <a:pt x="4677216" y="16337"/>
                    <a:pt x="4677216" y="22233"/>
                  </a:cubicBezTo>
                  <a:lnTo>
                    <a:pt x="4677216" y="1970430"/>
                  </a:lnTo>
                  <a:cubicBezTo>
                    <a:pt x="4677216" y="1976327"/>
                    <a:pt x="4674874" y="1981982"/>
                    <a:pt x="4670704" y="1986151"/>
                  </a:cubicBezTo>
                  <a:cubicBezTo>
                    <a:pt x="4666535" y="1990321"/>
                    <a:pt x="4660880" y="1992663"/>
                    <a:pt x="4654983" y="1992663"/>
                  </a:cubicBezTo>
                  <a:lnTo>
                    <a:pt x="22233" y="1992663"/>
                  </a:lnTo>
                  <a:cubicBezTo>
                    <a:pt x="16337" y="1992663"/>
                    <a:pt x="10682" y="1990321"/>
                    <a:pt x="6512" y="1986151"/>
                  </a:cubicBezTo>
                  <a:cubicBezTo>
                    <a:pt x="2342" y="1981982"/>
                    <a:pt x="0" y="1976327"/>
                    <a:pt x="0" y="1970430"/>
                  </a:cubicBezTo>
                  <a:lnTo>
                    <a:pt x="0" y="22233"/>
                  </a:lnTo>
                  <a:cubicBezTo>
                    <a:pt x="0" y="16337"/>
                    <a:pt x="2342" y="10682"/>
                    <a:pt x="6512" y="6512"/>
                  </a:cubicBezTo>
                  <a:cubicBezTo>
                    <a:pt x="10682" y="2342"/>
                    <a:pt x="16337" y="0"/>
                    <a:pt x="22233" y="0"/>
                  </a:cubicBezTo>
                  <a:close/>
                </a:path>
              </a:pathLst>
            </a:custGeom>
            <a:solidFill>
              <a:srgbClr val="3A5A9A"/>
            </a:solidFill>
          </p:spPr>
        </p:sp>
        <p:sp>
          <p:nvSpPr>
            <p:cNvPr name="TextBox 8" id="8"/>
            <p:cNvSpPr txBox="true"/>
            <p:nvPr/>
          </p:nvSpPr>
          <p:spPr>
            <a:xfrm>
              <a:off x="0" y="-57150"/>
              <a:ext cx="4677217" cy="2049813"/>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6871401" y="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434891" y="46521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434891" y="-262518"/>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935227" y="-414016"/>
            <a:ext cx="14929651" cy="2958959"/>
            <a:chOff x="0" y="0"/>
            <a:chExt cx="3932089" cy="779314"/>
          </a:xfrm>
        </p:grpSpPr>
        <p:sp>
          <p:nvSpPr>
            <p:cNvPr name="Freeform 19" id="19"/>
            <p:cNvSpPr/>
            <p:nvPr/>
          </p:nvSpPr>
          <p:spPr>
            <a:xfrm flipH="false" flipV="false" rot="0">
              <a:off x="0" y="0"/>
              <a:ext cx="3932089" cy="779314"/>
            </a:xfrm>
            <a:custGeom>
              <a:avLst/>
              <a:gdLst/>
              <a:ahLst/>
              <a:cxnLst/>
              <a:rect r="r" b="b" t="t" l="l"/>
              <a:pathLst>
                <a:path h="779314" w="3932089">
                  <a:moveTo>
                    <a:pt x="26447" y="0"/>
                  </a:moveTo>
                  <a:lnTo>
                    <a:pt x="3905643" y="0"/>
                  </a:lnTo>
                  <a:cubicBezTo>
                    <a:pt x="3912657" y="0"/>
                    <a:pt x="3919384" y="2786"/>
                    <a:pt x="3924343" y="7746"/>
                  </a:cubicBezTo>
                  <a:cubicBezTo>
                    <a:pt x="3929303" y="12706"/>
                    <a:pt x="3932089" y="19432"/>
                    <a:pt x="3932089" y="26447"/>
                  </a:cubicBezTo>
                  <a:lnTo>
                    <a:pt x="3932089" y="752868"/>
                  </a:lnTo>
                  <a:cubicBezTo>
                    <a:pt x="3932089" y="767474"/>
                    <a:pt x="3920249" y="779314"/>
                    <a:pt x="3905643" y="779314"/>
                  </a:cubicBezTo>
                  <a:lnTo>
                    <a:pt x="26447" y="779314"/>
                  </a:lnTo>
                  <a:cubicBezTo>
                    <a:pt x="11841" y="779314"/>
                    <a:pt x="0" y="767474"/>
                    <a:pt x="0" y="752868"/>
                  </a:cubicBezTo>
                  <a:lnTo>
                    <a:pt x="0" y="26447"/>
                  </a:lnTo>
                  <a:cubicBezTo>
                    <a:pt x="0" y="11841"/>
                    <a:pt x="11841" y="0"/>
                    <a:pt x="26447" y="0"/>
                  </a:cubicBezTo>
                  <a:close/>
                </a:path>
              </a:pathLst>
            </a:custGeom>
            <a:solidFill>
              <a:srgbClr val="3A5A9A"/>
            </a:solidFill>
          </p:spPr>
        </p:sp>
        <p:sp>
          <p:nvSpPr>
            <p:cNvPr name="TextBox 20" id="20"/>
            <p:cNvSpPr txBox="true"/>
            <p:nvPr/>
          </p:nvSpPr>
          <p:spPr>
            <a:xfrm>
              <a:off x="0" y="-57150"/>
              <a:ext cx="3932089" cy="836464"/>
            </a:xfrm>
            <a:prstGeom prst="rect">
              <a:avLst/>
            </a:prstGeom>
          </p:spPr>
          <p:txBody>
            <a:bodyPr anchor="ctr" rtlCol="false" tIns="50800" lIns="50800" bIns="50800" rIns="50800"/>
            <a:lstStyle/>
            <a:p>
              <a:pPr algn="ctr">
                <a:lnSpc>
                  <a:spcPts val="2940"/>
                </a:lnSpc>
              </a:pPr>
            </a:p>
          </p:txBody>
        </p:sp>
      </p:grpSp>
      <p:sp>
        <p:nvSpPr>
          <p:cNvPr name="Freeform 21" id="21"/>
          <p:cNvSpPr/>
          <p:nvPr/>
        </p:nvSpPr>
        <p:spPr>
          <a:xfrm flipH="false" flipV="false" rot="0">
            <a:off x="239575" y="4034658"/>
            <a:ext cx="8772689" cy="4101232"/>
          </a:xfrm>
          <a:custGeom>
            <a:avLst/>
            <a:gdLst/>
            <a:ahLst/>
            <a:cxnLst/>
            <a:rect r="r" b="b" t="t" l="l"/>
            <a:pathLst>
              <a:path h="4101232" w="8772689">
                <a:moveTo>
                  <a:pt x="0" y="0"/>
                </a:moveTo>
                <a:lnTo>
                  <a:pt x="8772689" y="0"/>
                </a:lnTo>
                <a:lnTo>
                  <a:pt x="8772689" y="4101233"/>
                </a:lnTo>
                <a:lnTo>
                  <a:pt x="0" y="4101233"/>
                </a:lnTo>
                <a:lnTo>
                  <a:pt x="0" y="0"/>
                </a:lnTo>
                <a:close/>
              </a:path>
            </a:pathLst>
          </a:custGeom>
          <a:blipFill>
            <a:blip r:embed="rId10"/>
            <a:stretch>
              <a:fillRect l="0" t="0" r="0" b="0"/>
            </a:stretch>
          </a:blipFill>
        </p:spPr>
      </p:sp>
      <p:sp>
        <p:nvSpPr>
          <p:cNvPr name="Freeform 22" id="22"/>
          <p:cNvSpPr/>
          <p:nvPr/>
        </p:nvSpPr>
        <p:spPr>
          <a:xfrm flipH="false" flipV="false" rot="0">
            <a:off x="9243487" y="6269878"/>
            <a:ext cx="8015813" cy="915191"/>
          </a:xfrm>
          <a:custGeom>
            <a:avLst/>
            <a:gdLst/>
            <a:ahLst/>
            <a:cxnLst/>
            <a:rect r="r" b="b" t="t" l="l"/>
            <a:pathLst>
              <a:path h="915191" w="8015813">
                <a:moveTo>
                  <a:pt x="0" y="0"/>
                </a:moveTo>
                <a:lnTo>
                  <a:pt x="8015813" y="0"/>
                </a:lnTo>
                <a:lnTo>
                  <a:pt x="8015813" y="915192"/>
                </a:lnTo>
                <a:lnTo>
                  <a:pt x="0" y="915192"/>
                </a:lnTo>
                <a:lnTo>
                  <a:pt x="0" y="0"/>
                </a:lnTo>
                <a:close/>
              </a:path>
            </a:pathLst>
          </a:custGeom>
          <a:blipFill>
            <a:blip r:embed="rId11"/>
            <a:stretch>
              <a:fillRect l="0" t="0" r="0" b="0"/>
            </a:stretch>
          </a:blipFill>
        </p:spPr>
      </p:sp>
      <p:sp>
        <p:nvSpPr>
          <p:cNvPr name="Freeform 23" id="23"/>
          <p:cNvSpPr/>
          <p:nvPr/>
        </p:nvSpPr>
        <p:spPr>
          <a:xfrm flipH="false" flipV="false" rot="0">
            <a:off x="9340649" y="7185070"/>
            <a:ext cx="8094242" cy="1241191"/>
          </a:xfrm>
          <a:custGeom>
            <a:avLst/>
            <a:gdLst/>
            <a:ahLst/>
            <a:cxnLst/>
            <a:rect r="r" b="b" t="t" l="l"/>
            <a:pathLst>
              <a:path h="1241191" w="8094242">
                <a:moveTo>
                  <a:pt x="0" y="0"/>
                </a:moveTo>
                <a:lnTo>
                  <a:pt x="8094242" y="0"/>
                </a:lnTo>
                <a:lnTo>
                  <a:pt x="8094242" y="1241190"/>
                </a:lnTo>
                <a:lnTo>
                  <a:pt x="0" y="1241190"/>
                </a:lnTo>
                <a:lnTo>
                  <a:pt x="0" y="0"/>
                </a:lnTo>
                <a:close/>
              </a:path>
            </a:pathLst>
          </a:custGeom>
          <a:blipFill>
            <a:blip r:embed="rId12"/>
            <a:stretch>
              <a:fillRect l="0" t="0" r="-11720" b="0"/>
            </a:stretch>
          </a:blipFill>
        </p:spPr>
      </p:sp>
      <p:sp>
        <p:nvSpPr>
          <p:cNvPr name="Freeform 24" id="24"/>
          <p:cNvSpPr/>
          <p:nvPr/>
        </p:nvSpPr>
        <p:spPr>
          <a:xfrm flipH="false" flipV="false" rot="0">
            <a:off x="9258399" y="4110082"/>
            <a:ext cx="8739983" cy="1988346"/>
          </a:xfrm>
          <a:custGeom>
            <a:avLst/>
            <a:gdLst/>
            <a:ahLst/>
            <a:cxnLst/>
            <a:rect r="r" b="b" t="t" l="l"/>
            <a:pathLst>
              <a:path h="1988346" w="8739983">
                <a:moveTo>
                  <a:pt x="0" y="0"/>
                </a:moveTo>
                <a:lnTo>
                  <a:pt x="8739983" y="0"/>
                </a:lnTo>
                <a:lnTo>
                  <a:pt x="8739983" y="1988346"/>
                </a:lnTo>
                <a:lnTo>
                  <a:pt x="0" y="1988346"/>
                </a:lnTo>
                <a:lnTo>
                  <a:pt x="0" y="0"/>
                </a:lnTo>
                <a:close/>
              </a:path>
            </a:pathLst>
          </a:custGeom>
          <a:blipFill>
            <a:blip r:embed="rId13"/>
            <a:stretch>
              <a:fillRect l="0" t="0" r="0" b="0"/>
            </a:stretch>
          </a:blipFill>
        </p:spPr>
      </p:sp>
      <p:sp>
        <p:nvSpPr>
          <p:cNvPr name="TextBox 25" id="25"/>
          <p:cNvSpPr txBox="true"/>
          <p:nvPr/>
        </p:nvSpPr>
        <p:spPr>
          <a:xfrm rot="0">
            <a:off x="2347103" y="639690"/>
            <a:ext cx="14524298" cy="910589"/>
          </a:xfrm>
          <a:prstGeom prst="rect">
            <a:avLst/>
          </a:prstGeom>
        </p:spPr>
        <p:txBody>
          <a:bodyPr anchor="t" rtlCol="false" tIns="0" lIns="0" bIns="0" rIns="0">
            <a:spAutoFit/>
          </a:bodyPr>
          <a:lstStyle/>
          <a:p>
            <a:pPr algn="ctr">
              <a:lnSpc>
                <a:spcPts val="3599"/>
              </a:lnSpc>
            </a:pPr>
            <a:r>
              <a:rPr lang="en-US" sz="3599" b="true">
                <a:solidFill>
                  <a:srgbClr val="FFFFFF"/>
                </a:solidFill>
                <a:latin typeface="DM Sans Bold"/>
                <a:ea typeface="DM Sans Bold"/>
                <a:cs typeface="DM Sans Bold"/>
                <a:sym typeface="DM Sans Bold"/>
              </a:rPr>
              <a:t>YISAKAL SACCO DATABASE NORMALIZATION ANALYSIS</a:t>
            </a:r>
          </a:p>
          <a:p>
            <a:pPr algn="ctr">
              <a:lnSpc>
                <a:spcPts val="359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376680" y="446564"/>
            <a:ext cx="2846243" cy="1733621"/>
          </a:xfrm>
          <a:custGeom>
            <a:avLst/>
            <a:gdLst/>
            <a:ahLst/>
            <a:cxnLst/>
            <a:rect r="r" b="b" t="t" l="l"/>
            <a:pathLst>
              <a:path h="1733621" w="2846243">
                <a:moveTo>
                  <a:pt x="0" y="0"/>
                </a:moveTo>
                <a:lnTo>
                  <a:pt x="2846243" y="0"/>
                </a:lnTo>
                <a:lnTo>
                  <a:pt x="2846243" y="1733621"/>
                </a:lnTo>
                <a:lnTo>
                  <a:pt x="0" y="1733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434891" y="-262518"/>
            <a:ext cx="1126981" cy="11269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59300" y="465210"/>
            <a:ext cx="1126981" cy="11269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572508" y="-262518"/>
            <a:ext cx="1126981" cy="11269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86810" y="8543543"/>
            <a:ext cx="1126981" cy="11269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40171" y="9410353"/>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8281" y="9410353"/>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465210" y="1592190"/>
            <a:ext cx="8779630" cy="8684973"/>
            <a:chOff x="0" y="0"/>
            <a:chExt cx="2312331" cy="2287400"/>
          </a:xfrm>
        </p:grpSpPr>
        <p:sp>
          <p:nvSpPr>
            <p:cNvPr name="Freeform 23" id="23"/>
            <p:cNvSpPr/>
            <p:nvPr/>
          </p:nvSpPr>
          <p:spPr>
            <a:xfrm flipH="false" flipV="false" rot="0">
              <a:off x="0" y="0"/>
              <a:ext cx="2312331" cy="2287400"/>
            </a:xfrm>
            <a:custGeom>
              <a:avLst/>
              <a:gdLst/>
              <a:ahLst/>
              <a:cxnLst/>
              <a:rect r="r" b="b" t="t" l="l"/>
              <a:pathLst>
                <a:path h="2287400" w="2312331">
                  <a:moveTo>
                    <a:pt x="44972" y="0"/>
                  </a:moveTo>
                  <a:lnTo>
                    <a:pt x="2267359" y="0"/>
                  </a:lnTo>
                  <a:cubicBezTo>
                    <a:pt x="2279286" y="0"/>
                    <a:pt x="2290725" y="4738"/>
                    <a:pt x="2299158" y="13172"/>
                  </a:cubicBezTo>
                  <a:cubicBezTo>
                    <a:pt x="2307592" y="21606"/>
                    <a:pt x="2312331" y="33045"/>
                    <a:pt x="2312331" y="44972"/>
                  </a:cubicBezTo>
                  <a:lnTo>
                    <a:pt x="2312331" y="2242428"/>
                  </a:lnTo>
                  <a:cubicBezTo>
                    <a:pt x="2312331" y="2254356"/>
                    <a:pt x="2307592" y="2265794"/>
                    <a:pt x="2299158" y="2274228"/>
                  </a:cubicBezTo>
                  <a:cubicBezTo>
                    <a:pt x="2290725" y="2282662"/>
                    <a:pt x="2279286" y="2287400"/>
                    <a:pt x="2267359" y="2287400"/>
                  </a:cubicBezTo>
                  <a:lnTo>
                    <a:pt x="44972" y="2287400"/>
                  </a:lnTo>
                  <a:cubicBezTo>
                    <a:pt x="33045" y="2287400"/>
                    <a:pt x="21606" y="2282662"/>
                    <a:pt x="13172" y="2274228"/>
                  </a:cubicBezTo>
                  <a:cubicBezTo>
                    <a:pt x="4738" y="2265794"/>
                    <a:pt x="0" y="2254356"/>
                    <a:pt x="0" y="2242428"/>
                  </a:cubicBezTo>
                  <a:lnTo>
                    <a:pt x="0" y="44972"/>
                  </a:lnTo>
                  <a:cubicBezTo>
                    <a:pt x="0" y="33045"/>
                    <a:pt x="4738" y="21606"/>
                    <a:pt x="13172" y="13172"/>
                  </a:cubicBezTo>
                  <a:cubicBezTo>
                    <a:pt x="21606" y="4738"/>
                    <a:pt x="33045" y="0"/>
                    <a:pt x="44972" y="0"/>
                  </a:cubicBezTo>
                  <a:close/>
                </a:path>
              </a:pathLst>
            </a:custGeom>
            <a:solidFill>
              <a:srgbClr val="3A5A9A"/>
            </a:solidFill>
          </p:spPr>
        </p:sp>
        <p:sp>
          <p:nvSpPr>
            <p:cNvPr name="TextBox 24" id="24"/>
            <p:cNvSpPr txBox="true"/>
            <p:nvPr/>
          </p:nvSpPr>
          <p:spPr>
            <a:xfrm>
              <a:off x="0" y="-57150"/>
              <a:ext cx="2312331" cy="2344550"/>
            </a:xfrm>
            <a:prstGeom prst="rect">
              <a:avLst/>
            </a:prstGeom>
          </p:spPr>
          <p:txBody>
            <a:bodyPr anchor="ctr" rtlCol="false" tIns="50800" lIns="50800" bIns="50800" rIns="50800"/>
            <a:lstStyle/>
            <a:p>
              <a:pPr algn="ctr">
                <a:lnSpc>
                  <a:spcPts val="2940"/>
                </a:lnSpc>
              </a:pPr>
            </a:p>
          </p:txBody>
        </p:sp>
      </p:grpSp>
      <p:grpSp>
        <p:nvGrpSpPr>
          <p:cNvPr name="Group 25" id="25"/>
          <p:cNvGrpSpPr/>
          <p:nvPr/>
        </p:nvGrpSpPr>
        <p:grpSpPr>
          <a:xfrm rot="0">
            <a:off x="9606651" y="1592190"/>
            <a:ext cx="8779630" cy="8945143"/>
            <a:chOff x="0" y="0"/>
            <a:chExt cx="2312331" cy="2355923"/>
          </a:xfrm>
        </p:grpSpPr>
        <p:sp>
          <p:nvSpPr>
            <p:cNvPr name="Freeform 26" id="26"/>
            <p:cNvSpPr/>
            <p:nvPr/>
          </p:nvSpPr>
          <p:spPr>
            <a:xfrm flipH="false" flipV="false" rot="0">
              <a:off x="0" y="0"/>
              <a:ext cx="2312331" cy="2355922"/>
            </a:xfrm>
            <a:custGeom>
              <a:avLst/>
              <a:gdLst/>
              <a:ahLst/>
              <a:cxnLst/>
              <a:rect r="r" b="b" t="t" l="l"/>
              <a:pathLst>
                <a:path h="2355922" w="2312331">
                  <a:moveTo>
                    <a:pt x="44972" y="0"/>
                  </a:moveTo>
                  <a:lnTo>
                    <a:pt x="2267359" y="0"/>
                  </a:lnTo>
                  <a:cubicBezTo>
                    <a:pt x="2279286" y="0"/>
                    <a:pt x="2290725" y="4738"/>
                    <a:pt x="2299158" y="13172"/>
                  </a:cubicBezTo>
                  <a:cubicBezTo>
                    <a:pt x="2307592" y="21606"/>
                    <a:pt x="2312331" y="33045"/>
                    <a:pt x="2312331" y="44972"/>
                  </a:cubicBezTo>
                  <a:lnTo>
                    <a:pt x="2312331" y="2310950"/>
                  </a:lnTo>
                  <a:cubicBezTo>
                    <a:pt x="2312331" y="2322878"/>
                    <a:pt x="2307592" y="2334317"/>
                    <a:pt x="2299158" y="2342750"/>
                  </a:cubicBezTo>
                  <a:cubicBezTo>
                    <a:pt x="2290725" y="2351184"/>
                    <a:pt x="2279286" y="2355922"/>
                    <a:pt x="2267359" y="2355922"/>
                  </a:cubicBezTo>
                  <a:lnTo>
                    <a:pt x="44972" y="2355922"/>
                  </a:lnTo>
                  <a:cubicBezTo>
                    <a:pt x="33045" y="2355922"/>
                    <a:pt x="21606" y="2351184"/>
                    <a:pt x="13172" y="2342750"/>
                  </a:cubicBezTo>
                  <a:cubicBezTo>
                    <a:pt x="4738" y="2334317"/>
                    <a:pt x="0" y="2322878"/>
                    <a:pt x="0" y="2310950"/>
                  </a:cubicBezTo>
                  <a:lnTo>
                    <a:pt x="0" y="44972"/>
                  </a:lnTo>
                  <a:cubicBezTo>
                    <a:pt x="0" y="33045"/>
                    <a:pt x="4738" y="21606"/>
                    <a:pt x="13172" y="13172"/>
                  </a:cubicBezTo>
                  <a:cubicBezTo>
                    <a:pt x="21606" y="4738"/>
                    <a:pt x="33045" y="0"/>
                    <a:pt x="44972" y="0"/>
                  </a:cubicBezTo>
                  <a:close/>
                </a:path>
              </a:pathLst>
            </a:custGeom>
            <a:solidFill>
              <a:srgbClr val="3A5A9A"/>
            </a:solidFill>
          </p:spPr>
        </p:sp>
        <p:sp>
          <p:nvSpPr>
            <p:cNvPr name="TextBox 27" id="27"/>
            <p:cNvSpPr txBox="true"/>
            <p:nvPr/>
          </p:nvSpPr>
          <p:spPr>
            <a:xfrm>
              <a:off x="0" y="-57150"/>
              <a:ext cx="2312331" cy="2413073"/>
            </a:xfrm>
            <a:prstGeom prst="rect">
              <a:avLst/>
            </a:prstGeom>
          </p:spPr>
          <p:txBody>
            <a:bodyPr anchor="ctr" rtlCol="false" tIns="50800" lIns="50800" bIns="50800" rIns="50800"/>
            <a:lstStyle/>
            <a:p>
              <a:pPr algn="l">
                <a:lnSpc>
                  <a:spcPts val="2940"/>
                </a:lnSpc>
              </a:pPr>
            </a:p>
          </p:txBody>
        </p:sp>
      </p:grpSp>
      <p:sp>
        <p:nvSpPr>
          <p:cNvPr name="Freeform 28" id="28"/>
          <p:cNvSpPr/>
          <p:nvPr/>
        </p:nvSpPr>
        <p:spPr>
          <a:xfrm flipH="false" flipV="false" rot="0">
            <a:off x="1315609" y="4246954"/>
            <a:ext cx="6300826" cy="4830343"/>
          </a:xfrm>
          <a:custGeom>
            <a:avLst/>
            <a:gdLst/>
            <a:ahLst/>
            <a:cxnLst/>
            <a:rect r="r" b="b" t="t" l="l"/>
            <a:pathLst>
              <a:path h="4830343" w="6300826">
                <a:moveTo>
                  <a:pt x="0" y="0"/>
                </a:moveTo>
                <a:lnTo>
                  <a:pt x="6300826" y="0"/>
                </a:lnTo>
                <a:lnTo>
                  <a:pt x="6300826" y="4830344"/>
                </a:lnTo>
                <a:lnTo>
                  <a:pt x="0" y="4830344"/>
                </a:lnTo>
                <a:lnTo>
                  <a:pt x="0" y="0"/>
                </a:lnTo>
                <a:close/>
              </a:path>
            </a:pathLst>
          </a:custGeom>
          <a:blipFill>
            <a:blip r:embed="rId4"/>
            <a:stretch>
              <a:fillRect l="-6876" t="-17200" r="-6876" b="0"/>
            </a:stretch>
          </a:blipFill>
        </p:spPr>
      </p:sp>
      <p:sp>
        <p:nvSpPr>
          <p:cNvPr name="Freeform 29" id="29"/>
          <p:cNvSpPr/>
          <p:nvPr/>
        </p:nvSpPr>
        <p:spPr>
          <a:xfrm flipH="false" flipV="false" rot="0">
            <a:off x="9921486" y="4246954"/>
            <a:ext cx="8366514" cy="3375445"/>
          </a:xfrm>
          <a:custGeom>
            <a:avLst/>
            <a:gdLst/>
            <a:ahLst/>
            <a:cxnLst/>
            <a:rect r="r" b="b" t="t" l="l"/>
            <a:pathLst>
              <a:path h="3375445" w="8366514">
                <a:moveTo>
                  <a:pt x="0" y="0"/>
                </a:moveTo>
                <a:lnTo>
                  <a:pt x="8366514" y="0"/>
                </a:lnTo>
                <a:lnTo>
                  <a:pt x="8366514" y="3375445"/>
                </a:lnTo>
                <a:lnTo>
                  <a:pt x="0" y="3375445"/>
                </a:lnTo>
                <a:lnTo>
                  <a:pt x="0" y="0"/>
                </a:lnTo>
                <a:close/>
              </a:path>
            </a:pathLst>
          </a:custGeom>
          <a:blipFill>
            <a:blip r:embed="rId5"/>
            <a:stretch>
              <a:fillRect l="0" t="-3088" r="0" b="-3088"/>
            </a:stretch>
          </a:blipFill>
        </p:spPr>
      </p:sp>
      <p:sp>
        <p:nvSpPr>
          <p:cNvPr name="TextBox 30" id="30"/>
          <p:cNvSpPr txBox="true"/>
          <p:nvPr/>
        </p:nvSpPr>
        <p:spPr>
          <a:xfrm rot="0">
            <a:off x="702690" y="1828551"/>
            <a:ext cx="8304669" cy="4106126"/>
          </a:xfrm>
          <a:prstGeom prst="rect">
            <a:avLst/>
          </a:prstGeom>
        </p:spPr>
        <p:txBody>
          <a:bodyPr anchor="t" rtlCol="false" tIns="0" lIns="0" bIns="0" rIns="0">
            <a:spAutoFit/>
          </a:bodyPr>
          <a:lstStyle/>
          <a:p>
            <a:pPr algn="l">
              <a:lnSpc>
                <a:spcPts val="2053"/>
              </a:lnSpc>
            </a:pPr>
          </a:p>
          <a:p>
            <a:pPr algn="l">
              <a:lnSpc>
                <a:spcPts val="2053"/>
              </a:lnSpc>
            </a:pPr>
          </a:p>
          <a:p>
            <a:pPr algn="l">
              <a:lnSpc>
                <a:spcPts val="2053"/>
              </a:lnSpc>
            </a:pPr>
          </a:p>
          <a:p>
            <a:pPr algn="l">
              <a:lnSpc>
                <a:spcPts val="2053"/>
              </a:lnSpc>
            </a:pPr>
          </a:p>
          <a:p>
            <a:pPr algn="l">
              <a:lnSpc>
                <a:spcPts val="2053"/>
              </a:lnSpc>
            </a:pPr>
            <a:r>
              <a:rPr lang="en-US" sz="1466" b="true">
                <a:solidFill>
                  <a:srgbClr val="FFFFFF"/>
                </a:solidFill>
                <a:latin typeface="Canva Sans Bold"/>
                <a:ea typeface="Canva Sans Bold"/>
                <a:cs typeface="Canva Sans Bold"/>
                <a:sym typeface="Canva Sans Bold"/>
              </a:rPr>
              <a:t>This section shows sample SQL queries for creating tables such as Branch and Employee. The same structure and approach were applied to all other tables in the database, ensuring consistency, proper relationships, and data integrity across the entire SACCO system.</a:t>
            </a:r>
          </a:p>
          <a:p>
            <a:pPr algn="l">
              <a:lnSpc>
                <a:spcPts val="2053"/>
              </a:lnSpc>
            </a:pPr>
          </a:p>
          <a:p>
            <a:pPr algn="l">
              <a:lnSpc>
                <a:spcPts val="2053"/>
              </a:lnSpc>
            </a:pPr>
          </a:p>
          <a:p>
            <a:pPr algn="l">
              <a:lnSpc>
                <a:spcPts val="2053"/>
              </a:lnSpc>
            </a:pPr>
          </a:p>
          <a:p>
            <a:pPr algn="l">
              <a:lnSpc>
                <a:spcPts val="2053"/>
              </a:lnSpc>
            </a:pPr>
          </a:p>
          <a:p>
            <a:pPr algn="l">
              <a:lnSpc>
                <a:spcPts val="2053"/>
              </a:lnSpc>
            </a:pPr>
          </a:p>
          <a:p>
            <a:pPr algn="l">
              <a:lnSpc>
                <a:spcPts val="2053"/>
              </a:lnSpc>
            </a:pPr>
          </a:p>
          <a:p>
            <a:pPr algn="l">
              <a:lnSpc>
                <a:spcPts val="2053"/>
              </a:lnSpc>
            </a:pPr>
          </a:p>
          <a:p>
            <a:pPr algn="l">
              <a:lnSpc>
                <a:spcPts val="2053"/>
              </a:lnSpc>
            </a:pPr>
          </a:p>
          <a:p>
            <a:pPr algn="l">
              <a:lnSpc>
                <a:spcPts val="2053"/>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376680" y="446564"/>
            <a:ext cx="2846243" cy="1733621"/>
          </a:xfrm>
          <a:custGeom>
            <a:avLst/>
            <a:gdLst/>
            <a:ahLst/>
            <a:cxnLst/>
            <a:rect r="r" b="b" t="t" l="l"/>
            <a:pathLst>
              <a:path h="1733621" w="2846243">
                <a:moveTo>
                  <a:pt x="0" y="0"/>
                </a:moveTo>
                <a:lnTo>
                  <a:pt x="2846243" y="0"/>
                </a:lnTo>
                <a:lnTo>
                  <a:pt x="2846243" y="1733621"/>
                </a:lnTo>
                <a:lnTo>
                  <a:pt x="0" y="1733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434891" y="-262518"/>
            <a:ext cx="1126981" cy="11269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59300" y="465210"/>
            <a:ext cx="1126981" cy="11269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572508" y="-262518"/>
            <a:ext cx="1126981" cy="11269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86810" y="8543543"/>
            <a:ext cx="1126981" cy="11269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40171" y="9410353"/>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98281" y="9410353"/>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465210" y="1592190"/>
            <a:ext cx="8779630" cy="8684973"/>
            <a:chOff x="0" y="0"/>
            <a:chExt cx="2312331" cy="2287400"/>
          </a:xfrm>
        </p:grpSpPr>
        <p:sp>
          <p:nvSpPr>
            <p:cNvPr name="Freeform 23" id="23"/>
            <p:cNvSpPr/>
            <p:nvPr/>
          </p:nvSpPr>
          <p:spPr>
            <a:xfrm flipH="false" flipV="false" rot="0">
              <a:off x="0" y="0"/>
              <a:ext cx="2312331" cy="2287400"/>
            </a:xfrm>
            <a:custGeom>
              <a:avLst/>
              <a:gdLst/>
              <a:ahLst/>
              <a:cxnLst/>
              <a:rect r="r" b="b" t="t" l="l"/>
              <a:pathLst>
                <a:path h="2287400" w="2312331">
                  <a:moveTo>
                    <a:pt x="44972" y="0"/>
                  </a:moveTo>
                  <a:lnTo>
                    <a:pt x="2267359" y="0"/>
                  </a:lnTo>
                  <a:cubicBezTo>
                    <a:pt x="2279286" y="0"/>
                    <a:pt x="2290725" y="4738"/>
                    <a:pt x="2299158" y="13172"/>
                  </a:cubicBezTo>
                  <a:cubicBezTo>
                    <a:pt x="2307592" y="21606"/>
                    <a:pt x="2312331" y="33045"/>
                    <a:pt x="2312331" y="44972"/>
                  </a:cubicBezTo>
                  <a:lnTo>
                    <a:pt x="2312331" y="2242428"/>
                  </a:lnTo>
                  <a:cubicBezTo>
                    <a:pt x="2312331" y="2254356"/>
                    <a:pt x="2307592" y="2265794"/>
                    <a:pt x="2299158" y="2274228"/>
                  </a:cubicBezTo>
                  <a:cubicBezTo>
                    <a:pt x="2290725" y="2282662"/>
                    <a:pt x="2279286" y="2287400"/>
                    <a:pt x="2267359" y="2287400"/>
                  </a:cubicBezTo>
                  <a:lnTo>
                    <a:pt x="44972" y="2287400"/>
                  </a:lnTo>
                  <a:cubicBezTo>
                    <a:pt x="33045" y="2287400"/>
                    <a:pt x="21606" y="2282662"/>
                    <a:pt x="13172" y="2274228"/>
                  </a:cubicBezTo>
                  <a:cubicBezTo>
                    <a:pt x="4738" y="2265794"/>
                    <a:pt x="0" y="2254356"/>
                    <a:pt x="0" y="2242428"/>
                  </a:cubicBezTo>
                  <a:lnTo>
                    <a:pt x="0" y="44972"/>
                  </a:lnTo>
                  <a:cubicBezTo>
                    <a:pt x="0" y="33045"/>
                    <a:pt x="4738" y="21606"/>
                    <a:pt x="13172" y="13172"/>
                  </a:cubicBezTo>
                  <a:cubicBezTo>
                    <a:pt x="21606" y="4738"/>
                    <a:pt x="33045" y="0"/>
                    <a:pt x="44972" y="0"/>
                  </a:cubicBezTo>
                  <a:close/>
                </a:path>
              </a:pathLst>
            </a:custGeom>
            <a:solidFill>
              <a:srgbClr val="3A5A9A"/>
            </a:solidFill>
          </p:spPr>
        </p:sp>
        <p:sp>
          <p:nvSpPr>
            <p:cNvPr name="TextBox 24" id="24"/>
            <p:cNvSpPr txBox="true"/>
            <p:nvPr/>
          </p:nvSpPr>
          <p:spPr>
            <a:xfrm>
              <a:off x="0" y="-57150"/>
              <a:ext cx="2312331" cy="2344550"/>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465210" y="2325166"/>
            <a:ext cx="8434456" cy="11697836"/>
          </a:xfrm>
          <a:prstGeom prst="rect">
            <a:avLst/>
          </a:prstGeom>
        </p:spPr>
        <p:txBody>
          <a:bodyPr anchor="t" rtlCol="false" tIns="0" lIns="0" bIns="0" rIns="0">
            <a:spAutoFit/>
          </a:bodyPr>
          <a:lstStyle/>
          <a:p>
            <a:pPr algn="ctr">
              <a:lnSpc>
                <a:spcPts val="3047"/>
              </a:lnSpc>
            </a:pPr>
            <a:r>
              <a:rPr lang="en-US" sz="2176" b="true">
                <a:solidFill>
                  <a:srgbClr val="FFFFFF"/>
                </a:solidFill>
                <a:latin typeface="Canva Sans Bold"/>
                <a:ea typeface="Canva Sans Bold"/>
                <a:cs typeface="Canva Sans Bold"/>
                <a:sym typeface="Canva Sans Bold"/>
              </a:rPr>
              <a:t>The MySQL system was implemented using relational tables</a:t>
            </a:r>
          </a:p>
          <a:p>
            <a:pPr algn="l">
              <a:lnSpc>
                <a:spcPts val="3047"/>
              </a:lnSpc>
            </a:pPr>
            <a:r>
              <a:rPr lang="en-US" sz="2176" b="true">
                <a:solidFill>
                  <a:srgbClr val="FFFFFF"/>
                </a:solidFill>
                <a:latin typeface="Canva Sans Bold"/>
                <a:ea typeface="Canva Sans Bold"/>
                <a:cs typeface="Canva Sans Bold"/>
                <a:sym typeface="Canva Sans Bold"/>
              </a:rPr>
              <a:t> for SACCO entities, with primary and foreign keys, constraints, and sample data inserted to simulate real SACCO</a:t>
            </a:r>
          </a:p>
          <a:p>
            <a:pPr algn="l">
              <a:lnSpc>
                <a:spcPts val="3047"/>
              </a:lnSpc>
            </a:pPr>
            <a:r>
              <a:rPr lang="en-US" sz="2176" b="true">
                <a:solidFill>
                  <a:srgbClr val="FFFFFF"/>
                </a:solidFill>
                <a:latin typeface="Canva Sans Bold"/>
                <a:ea typeface="Canva Sans Bold"/>
                <a:cs typeface="Canva Sans Bold"/>
                <a:sym typeface="Canva Sans Bold"/>
              </a:rPr>
              <a:t> operations such as members, loans, savings, transactions, and auditing.</a:t>
            </a:r>
          </a:p>
          <a:p>
            <a:pPr algn="l">
              <a:lnSpc>
                <a:spcPts val="3047"/>
              </a:lnSpc>
            </a:pPr>
          </a:p>
          <a:p>
            <a:pPr algn="l">
              <a:lnSpc>
                <a:spcPts val="3047"/>
              </a:lnSpc>
            </a:pPr>
          </a:p>
          <a:p>
            <a:pPr algn="l" marL="470010" indent="-235005" lvl="1">
              <a:lnSpc>
                <a:spcPts val="3047"/>
              </a:lnSpc>
              <a:buFont typeface="Arial"/>
              <a:buChar char="•"/>
            </a:pPr>
            <a:r>
              <a:rPr lang="en-US" b="true" sz="2176">
                <a:solidFill>
                  <a:srgbClr val="FFFFFF"/>
                </a:solidFill>
                <a:latin typeface="Canva Sans Bold"/>
                <a:ea typeface="Canva Sans Bold"/>
                <a:cs typeface="Canva Sans Bold"/>
                <a:sym typeface="Canva Sans Bold"/>
              </a:rPr>
              <a:t>The system database was created in MySQL Workbench (Yisakal_SACCO).</a:t>
            </a:r>
          </a:p>
          <a:p>
            <a:pPr algn="l" marL="470010" indent="-235005" lvl="1">
              <a:lnSpc>
                <a:spcPts val="3047"/>
              </a:lnSpc>
              <a:buFont typeface="Arial"/>
              <a:buChar char="•"/>
            </a:pPr>
            <a:r>
              <a:rPr lang="en-US" b="true" sz="2176">
                <a:solidFill>
                  <a:srgbClr val="FFFFFF"/>
                </a:solidFill>
                <a:latin typeface="Canva Sans Bold"/>
                <a:ea typeface="Canva Sans Bold"/>
                <a:cs typeface="Canva Sans Bold"/>
                <a:sym typeface="Canva Sans Bold"/>
              </a:rPr>
              <a:t>Tables were designed for key entities such as Branch, Member, Employee, Loan, Savings, Transactions, Collateral, and Fees.</a:t>
            </a:r>
          </a:p>
          <a:p>
            <a:pPr algn="l" marL="470010" indent="-235005" lvl="1">
              <a:lnSpc>
                <a:spcPts val="3047"/>
              </a:lnSpc>
              <a:buFont typeface="Arial"/>
              <a:buChar char="•"/>
            </a:pPr>
            <a:r>
              <a:rPr lang="en-US" b="true" sz="2176">
                <a:solidFill>
                  <a:srgbClr val="FFFFFF"/>
                </a:solidFill>
                <a:latin typeface="Canva Sans Bold"/>
                <a:ea typeface="Canva Sans Bold"/>
                <a:cs typeface="Canva Sans Bold"/>
                <a:sym typeface="Canva Sans Bold"/>
              </a:rPr>
              <a:t>Primary keys and foreign keys were used to maintain relationships and data integrity.</a:t>
            </a:r>
          </a:p>
          <a:p>
            <a:pPr algn="l" marL="470010" indent="-235005" lvl="1">
              <a:lnSpc>
                <a:spcPts val="3047"/>
              </a:lnSpc>
              <a:buFont typeface="Arial"/>
              <a:buChar char="•"/>
            </a:pPr>
            <a:r>
              <a:rPr lang="en-US" b="true" sz="2176">
                <a:solidFill>
                  <a:srgbClr val="FFFFFF"/>
                </a:solidFill>
                <a:latin typeface="Canva Sans Bold"/>
                <a:ea typeface="Canva Sans Bold"/>
                <a:cs typeface="Canva Sans Bold"/>
                <a:sym typeface="Canva Sans Bold"/>
              </a:rPr>
              <a:t>Sample data was inserted to simulate real SACCO operations (loans, savings, payments, and fees).</a:t>
            </a:r>
          </a:p>
          <a:p>
            <a:pPr algn="l" marL="470010" indent="-235005" lvl="1">
              <a:lnSpc>
                <a:spcPts val="3047"/>
              </a:lnSpc>
              <a:buFont typeface="Arial"/>
              <a:buChar char="•"/>
            </a:pPr>
            <a:r>
              <a:rPr lang="en-US" b="true" sz="2176">
                <a:solidFill>
                  <a:srgbClr val="FFFFFF"/>
                </a:solidFill>
                <a:latin typeface="Canva Sans Bold"/>
                <a:ea typeface="Canva Sans Bold"/>
                <a:cs typeface="Canva Sans Bold"/>
                <a:sym typeface="Canva Sans Bold"/>
              </a:rPr>
              <a:t>The system was tested using SQL insert and query operations to verify functionality.</a:t>
            </a: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pPr>
          </a:p>
          <a:p>
            <a:pPr algn="l">
              <a:lnSpc>
                <a:spcPts val="3047"/>
              </a:lnSpc>
              <a:spcBef>
                <a:spcPct val="0"/>
              </a:spcBef>
            </a:pPr>
          </a:p>
        </p:txBody>
      </p:sp>
      <p:grpSp>
        <p:nvGrpSpPr>
          <p:cNvPr name="Group 26" id="26"/>
          <p:cNvGrpSpPr/>
          <p:nvPr/>
        </p:nvGrpSpPr>
        <p:grpSpPr>
          <a:xfrm rot="0">
            <a:off x="9606651" y="1592190"/>
            <a:ext cx="8779630" cy="8945143"/>
            <a:chOff x="0" y="0"/>
            <a:chExt cx="2312331" cy="2355923"/>
          </a:xfrm>
        </p:grpSpPr>
        <p:sp>
          <p:nvSpPr>
            <p:cNvPr name="Freeform 27" id="27"/>
            <p:cNvSpPr/>
            <p:nvPr/>
          </p:nvSpPr>
          <p:spPr>
            <a:xfrm flipH="false" flipV="false" rot="0">
              <a:off x="0" y="0"/>
              <a:ext cx="2312331" cy="2355922"/>
            </a:xfrm>
            <a:custGeom>
              <a:avLst/>
              <a:gdLst/>
              <a:ahLst/>
              <a:cxnLst/>
              <a:rect r="r" b="b" t="t" l="l"/>
              <a:pathLst>
                <a:path h="2355922" w="2312331">
                  <a:moveTo>
                    <a:pt x="44972" y="0"/>
                  </a:moveTo>
                  <a:lnTo>
                    <a:pt x="2267359" y="0"/>
                  </a:lnTo>
                  <a:cubicBezTo>
                    <a:pt x="2279286" y="0"/>
                    <a:pt x="2290725" y="4738"/>
                    <a:pt x="2299158" y="13172"/>
                  </a:cubicBezTo>
                  <a:cubicBezTo>
                    <a:pt x="2307592" y="21606"/>
                    <a:pt x="2312331" y="33045"/>
                    <a:pt x="2312331" y="44972"/>
                  </a:cubicBezTo>
                  <a:lnTo>
                    <a:pt x="2312331" y="2310950"/>
                  </a:lnTo>
                  <a:cubicBezTo>
                    <a:pt x="2312331" y="2322878"/>
                    <a:pt x="2307592" y="2334317"/>
                    <a:pt x="2299158" y="2342750"/>
                  </a:cubicBezTo>
                  <a:cubicBezTo>
                    <a:pt x="2290725" y="2351184"/>
                    <a:pt x="2279286" y="2355922"/>
                    <a:pt x="2267359" y="2355922"/>
                  </a:cubicBezTo>
                  <a:lnTo>
                    <a:pt x="44972" y="2355922"/>
                  </a:lnTo>
                  <a:cubicBezTo>
                    <a:pt x="33045" y="2355922"/>
                    <a:pt x="21606" y="2351184"/>
                    <a:pt x="13172" y="2342750"/>
                  </a:cubicBezTo>
                  <a:cubicBezTo>
                    <a:pt x="4738" y="2334317"/>
                    <a:pt x="0" y="2322878"/>
                    <a:pt x="0" y="2310950"/>
                  </a:cubicBezTo>
                  <a:lnTo>
                    <a:pt x="0" y="44972"/>
                  </a:lnTo>
                  <a:cubicBezTo>
                    <a:pt x="0" y="33045"/>
                    <a:pt x="4738" y="21606"/>
                    <a:pt x="13172" y="13172"/>
                  </a:cubicBezTo>
                  <a:cubicBezTo>
                    <a:pt x="21606" y="4738"/>
                    <a:pt x="33045" y="0"/>
                    <a:pt x="44972" y="0"/>
                  </a:cubicBezTo>
                  <a:close/>
                </a:path>
              </a:pathLst>
            </a:custGeom>
            <a:solidFill>
              <a:srgbClr val="3A5A9A"/>
            </a:solidFill>
          </p:spPr>
        </p:sp>
        <p:sp>
          <p:nvSpPr>
            <p:cNvPr name="TextBox 28" id="28"/>
            <p:cNvSpPr txBox="true"/>
            <p:nvPr/>
          </p:nvSpPr>
          <p:spPr>
            <a:xfrm>
              <a:off x="0" y="-57150"/>
              <a:ext cx="2312331" cy="2413073"/>
            </a:xfrm>
            <a:prstGeom prst="rect">
              <a:avLst/>
            </a:prstGeom>
          </p:spPr>
          <p:txBody>
            <a:bodyPr anchor="ctr" rtlCol="false" tIns="50800" lIns="50800" bIns="50800" rIns="50800"/>
            <a:lstStyle/>
            <a:p>
              <a:pPr algn="l">
                <a:lnSpc>
                  <a:spcPts val="2940"/>
                </a:lnSpc>
              </a:pPr>
            </a:p>
          </p:txBody>
        </p:sp>
      </p:grpSp>
      <p:sp>
        <p:nvSpPr>
          <p:cNvPr name="TextBox 29" id="29"/>
          <p:cNvSpPr txBox="true"/>
          <p:nvPr/>
        </p:nvSpPr>
        <p:spPr>
          <a:xfrm rot="0">
            <a:off x="9779237" y="2242716"/>
            <a:ext cx="8434456" cy="1116517"/>
          </a:xfrm>
          <a:prstGeom prst="rect">
            <a:avLst/>
          </a:prstGeom>
        </p:spPr>
        <p:txBody>
          <a:bodyPr anchor="t" rtlCol="false" tIns="0" lIns="0" bIns="0" rIns="0">
            <a:spAutoFit/>
          </a:bodyPr>
          <a:lstStyle/>
          <a:p>
            <a:pPr algn="l">
              <a:lnSpc>
                <a:spcPts val="3047"/>
              </a:lnSpc>
            </a:pPr>
            <a:r>
              <a:rPr lang="en-US" sz="2176" b="true">
                <a:solidFill>
                  <a:srgbClr val="FFFFFF"/>
                </a:solidFill>
                <a:latin typeface="Canva Sans Bold"/>
                <a:ea typeface="Canva Sans Bold"/>
                <a:cs typeface="Canva Sans Bold"/>
                <a:sym typeface="Canva Sans Bold"/>
              </a:rPr>
              <a:t>The following SQL examples</a:t>
            </a:r>
            <a:r>
              <a:rPr lang="en-US" sz="2176" b="true">
                <a:solidFill>
                  <a:srgbClr val="FFFFFF"/>
                </a:solidFill>
                <a:latin typeface="Canva Sans Bold"/>
                <a:ea typeface="Canva Sans Bold"/>
                <a:cs typeface="Canva Sans Bold"/>
                <a:sym typeface="Canva Sans Bold"/>
              </a:rPr>
              <a:t> demonstrate basic database</a:t>
            </a:r>
          </a:p>
          <a:p>
            <a:pPr algn="l">
              <a:lnSpc>
                <a:spcPts val="3047"/>
              </a:lnSpc>
              <a:spcBef>
                <a:spcPct val="0"/>
              </a:spcBef>
            </a:pPr>
            <a:r>
              <a:rPr lang="en-US" b="true" sz="2176">
                <a:solidFill>
                  <a:srgbClr val="FFFFFF"/>
                </a:solidFill>
                <a:latin typeface="Canva Sans Bold"/>
                <a:ea typeface="Canva Sans Bold"/>
                <a:cs typeface="Canva Sans Bold"/>
                <a:sym typeface="Canva Sans Bold"/>
              </a:rPr>
              <a:t>operations such as retrieving, updating, modifying, and deleting data within the SACCO system.</a:t>
            </a:r>
          </a:p>
        </p:txBody>
      </p:sp>
      <p:sp>
        <p:nvSpPr>
          <p:cNvPr name="TextBox 30" id="30"/>
          <p:cNvSpPr txBox="true"/>
          <p:nvPr/>
        </p:nvSpPr>
        <p:spPr>
          <a:xfrm rot="0">
            <a:off x="10027361" y="3649825"/>
            <a:ext cx="7108637" cy="8462321"/>
          </a:xfrm>
          <a:prstGeom prst="rect">
            <a:avLst/>
          </a:prstGeom>
        </p:spPr>
        <p:txBody>
          <a:bodyPr anchor="t" rtlCol="false" tIns="0" lIns="0" bIns="0" rIns="0">
            <a:spAutoFit/>
          </a:bodyPr>
          <a:lstStyle/>
          <a:p>
            <a:pPr algn="l">
              <a:lnSpc>
                <a:spcPts val="3202"/>
              </a:lnSpc>
            </a:pPr>
            <a:r>
              <a:rPr lang="en-US" sz="2287" b="true">
                <a:solidFill>
                  <a:srgbClr val="90B77D"/>
                </a:solidFill>
                <a:latin typeface="Canva Sans Bold"/>
                <a:ea typeface="Canva Sans Bold"/>
                <a:cs typeface="Canva Sans Bold"/>
                <a:sym typeface="Canva Sans Bold"/>
              </a:rPr>
              <a:t>1. Retrieve all members</a:t>
            </a:r>
          </a:p>
          <a:p>
            <a:pPr algn="l">
              <a:lnSpc>
                <a:spcPts val="2642"/>
              </a:lnSpc>
            </a:pPr>
            <a:r>
              <a:rPr lang="en-US" sz="1887" b="true">
                <a:solidFill>
                  <a:srgbClr val="FFFFFF"/>
                </a:solidFill>
                <a:latin typeface="Canva Sans Bold"/>
                <a:ea typeface="Canva Sans Bold"/>
                <a:cs typeface="Canva Sans Bold"/>
                <a:sym typeface="Canva Sans Bold"/>
              </a:rPr>
              <a:t>SELE</a:t>
            </a:r>
            <a:r>
              <a:rPr lang="en-US" sz="1887" b="true">
                <a:solidFill>
                  <a:srgbClr val="FFFFFF"/>
                </a:solidFill>
                <a:latin typeface="Canva Sans Bold"/>
                <a:ea typeface="Canva Sans Bold"/>
                <a:cs typeface="Canva Sans Bold"/>
                <a:sym typeface="Canva Sans Bold"/>
              </a:rPr>
              <a:t>CT * FROM Member;</a:t>
            </a:r>
          </a:p>
          <a:p>
            <a:pPr algn="l">
              <a:lnSpc>
                <a:spcPts val="2642"/>
              </a:lnSpc>
            </a:pPr>
          </a:p>
          <a:p>
            <a:pPr algn="l">
              <a:lnSpc>
                <a:spcPts val="2642"/>
              </a:lnSpc>
            </a:pPr>
            <a:r>
              <a:rPr lang="en-US" sz="1887" b="true">
                <a:solidFill>
                  <a:srgbClr val="679E5C"/>
                </a:solidFill>
                <a:latin typeface="Canva Sans Bold"/>
                <a:ea typeface="Canva Sans Bold"/>
                <a:cs typeface="Canva Sans Bold"/>
                <a:sym typeface="Canva Sans Bold"/>
              </a:rPr>
              <a:t>2. Get members from a specific branch</a:t>
            </a:r>
          </a:p>
          <a:p>
            <a:pPr algn="l">
              <a:lnSpc>
                <a:spcPts val="2642"/>
              </a:lnSpc>
            </a:pPr>
            <a:r>
              <a:rPr lang="en-US" sz="1887" b="true">
                <a:solidFill>
                  <a:srgbClr val="FFFFFF"/>
                </a:solidFill>
                <a:latin typeface="Canva Sans Bold"/>
                <a:ea typeface="Canva Sans Bold"/>
                <a:cs typeface="Canva Sans Bold"/>
                <a:sym typeface="Canva Sans Bold"/>
              </a:rPr>
              <a:t>S</a:t>
            </a:r>
            <a:r>
              <a:rPr lang="en-US" sz="1887">
                <a:solidFill>
                  <a:srgbClr val="FFFFFF"/>
                </a:solidFill>
                <a:latin typeface="Canva Sans"/>
                <a:ea typeface="Canva Sans"/>
                <a:cs typeface="Canva Sans"/>
                <a:sym typeface="Canva Sans"/>
              </a:rPr>
              <a:t>ELECT * FROM Member WHERE branch_id = 1;</a:t>
            </a:r>
          </a:p>
          <a:p>
            <a:pPr algn="l">
              <a:lnSpc>
                <a:spcPts val="2642"/>
              </a:lnSpc>
            </a:pPr>
            <a:r>
              <a:rPr lang="en-US" sz="1887" b="true">
                <a:solidFill>
                  <a:srgbClr val="679E5C"/>
                </a:solidFill>
                <a:latin typeface="Canva Sans Bold"/>
                <a:ea typeface="Canva Sans Bold"/>
                <a:cs typeface="Canva Sans Bold"/>
                <a:sym typeface="Canva Sans Bold"/>
              </a:rPr>
              <a:t>3. Update member phone number</a:t>
            </a:r>
          </a:p>
          <a:p>
            <a:pPr algn="l">
              <a:lnSpc>
                <a:spcPts val="2642"/>
              </a:lnSpc>
            </a:pPr>
            <a:r>
              <a:rPr lang="en-US" sz="1887">
                <a:solidFill>
                  <a:srgbClr val="FFFFFF"/>
                </a:solidFill>
                <a:latin typeface="Canva Sans"/>
                <a:ea typeface="Canva Sans"/>
                <a:cs typeface="Canva Sans"/>
                <a:sym typeface="Canva Sans"/>
              </a:rPr>
              <a:t>UPDATE Member </a:t>
            </a:r>
          </a:p>
          <a:p>
            <a:pPr algn="l">
              <a:lnSpc>
                <a:spcPts val="2642"/>
              </a:lnSpc>
            </a:pPr>
            <a:r>
              <a:rPr lang="en-US" sz="1887">
                <a:solidFill>
                  <a:srgbClr val="FFFFFF"/>
                </a:solidFill>
                <a:latin typeface="Canva Sans"/>
                <a:ea typeface="Canva Sans"/>
                <a:cs typeface="Canva Sans"/>
                <a:sym typeface="Canva Sans"/>
              </a:rPr>
              <a:t>SET phone_number = '0912345678' </a:t>
            </a:r>
          </a:p>
          <a:p>
            <a:pPr algn="l">
              <a:lnSpc>
                <a:spcPts val="2642"/>
              </a:lnSpc>
            </a:pPr>
            <a:r>
              <a:rPr lang="en-US" sz="1887">
                <a:solidFill>
                  <a:srgbClr val="FFFFFF"/>
                </a:solidFill>
                <a:latin typeface="Canva Sans"/>
                <a:ea typeface="Canva Sans"/>
                <a:cs typeface="Canva Sans"/>
                <a:sym typeface="Canva Sans"/>
              </a:rPr>
              <a:t>WHERE member_id = 201;</a:t>
            </a:r>
          </a:p>
          <a:p>
            <a:pPr algn="l">
              <a:lnSpc>
                <a:spcPts val="2782"/>
              </a:lnSpc>
            </a:pPr>
            <a:r>
              <a:rPr lang="en-US" sz="1987" b="true">
                <a:solidFill>
                  <a:srgbClr val="679E5C"/>
                </a:solidFill>
                <a:latin typeface="Canva Sans Bold"/>
                <a:ea typeface="Canva Sans Bold"/>
                <a:cs typeface="Canva Sans Bold"/>
                <a:sym typeface="Canva Sans Bold"/>
              </a:rPr>
              <a:t>4. Update savings account balance</a:t>
            </a:r>
          </a:p>
          <a:p>
            <a:pPr algn="l">
              <a:lnSpc>
                <a:spcPts val="2642"/>
              </a:lnSpc>
            </a:pPr>
            <a:r>
              <a:rPr lang="en-US" sz="1887" b="true">
                <a:solidFill>
                  <a:srgbClr val="FFFFFF"/>
                </a:solidFill>
                <a:latin typeface="Canva Sans Bold"/>
                <a:ea typeface="Canva Sans Bold"/>
                <a:cs typeface="Canva Sans Bold"/>
                <a:sym typeface="Canva Sans Bold"/>
              </a:rPr>
              <a:t>U</a:t>
            </a:r>
            <a:r>
              <a:rPr lang="en-US" sz="1887">
                <a:solidFill>
                  <a:srgbClr val="FFFFFF"/>
                </a:solidFill>
                <a:latin typeface="Canva Sans"/>
                <a:ea typeface="Canva Sans"/>
                <a:cs typeface="Canva Sans"/>
                <a:sym typeface="Canva Sans"/>
              </a:rPr>
              <a:t>PDATE SavingAccount </a:t>
            </a:r>
          </a:p>
          <a:p>
            <a:pPr algn="l">
              <a:lnSpc>
                <a:spcPts val="2642"/>
              </a:lnSpc>
            </a:pPr>
            <a:r>
              <a:rPr lang="en-US" sz="1887">
                <a:solidFill>
                  <a:srgbClr val="FFFFFF"/>
                </a:solidFill>
                <a:latin typeface="Canva Sans"/>
                <a:ea typeface="Canva Sans"/>
                <a:cs typeface="Canva Sans"/>
                <a:sym typeface="Canva Sans"/>
              </a:rPr>
              <a:t>SET current_balance = 30000 </a:t>
            </a:r>
          </a:p>
          <a:p>
            <a:pPr algn="l">
              <a:lnSpc>
                <a:spcPts val="2642"/>
              </a:lnSpc>
            </a:pPr>
            <a:r>
              <a:rPr lang="en-US" sz="1887">
                <a:solidFill>
                  <a:srgbClr val="FFFFFF"/>
                </a:solidFill>
                <a:latin typeface="Canva Sans"/>
                <a:ea typeface="Canva Sans"/>
                <a:cs typeface="Canva Sans"/>
                <a:sym typeface="Canva Sans"/>
              </a:rPr>
              <a:t>WHERE account_id = 501;</a:t>
            </a:r>
          </a:p>
          <a:p>
            <a:pPr algn="l">
              <a:lnSpc>
                <a:spcPts val="2922"/>
              </a:lnSpc>
            </a:pPr>
            <a:r>
              <a:rPr lang="en-US" sz="2087" b="true">
                <a:solidFill>
                  <a:srgbClr val="298445"/>
                </a:solidFill>
                <a:latin typeface="Canva Sans Bold"/>
                <a:ea typeface="Canva Sans Bold"/>
                <a:cs typeface="Canva Sans Bold"/>
                <a:sym typeface="Canva Sans Bold"/>
              </a:rPr>
              <a:t>5. Delete a member</a:t>
            </a:r>
          </a:p>
          <a:p>
            <a:pPr algn="l">
              <a:lnSpc>
                <a:spcPts val="2642"/>
              </a:lnSpc>
            </a:pPr>
            <a:r>
              <a:rPr lang="en-US" sz="1887">
                <a:solidFill>
                  <a:srgbClr val="FFFFFF"/>
                </a:solidFill>
                <a:latin typeface="Canva Sans"/>
                <a:ea typeface="Canva Sans"/>
                <a:cs typeface="Canva Sans"/>
                <a:sym typeface="Canva Sans"/>
              </a:rPr>
              <a:t>DELETE FROM Member </a:t>
            </a:r>
          </a:p>
          <a:p>
            <a:pPr algn="l">
              <a:lnSpc>
                <a:spcPts val="2642"/>
              </a:lnSpc>
            </a:pPr>
            <a:r>
              <a:rPr lang="en-US" sz="1887">
                <a:solidFill>
                  <a:srgbClr val="FFFFFF"/>
                </a:solidFill>
                <a:latin typeface="Canva Sans"/>
                <a:ea typeface="Canva Sans"/>
                <a:cs typeface="Canva Sans"/>
                <a:sym typeface="Canva Sans"/>
              </a:rPr>
              <a:t>WHERE member_id = 205;</a:t>
            </a:r>
          </a:p>
          <a:p>
            <a:pPr algn="l">
              <a:lnSpc>
                <a:spcPts val="2782"/>
              </a:lnSpc>
            </a:pPr>
            <a:r>
              <a:rPr lang="en-US" sz="1987" b="true">
                <a:solidFill>
                  <a:srgbClr val="679E5C"/>
                </a:solidFill>
                <a:latin typeface="Canva Sans Bold"/>
                <a:ea typeface="Canva Sans Bold"/>
                <a:cs typeface="Canva Sans Bold"/>
                <a:sym typeface="Canva Sans Bold"/>
              </a:rPr>
              <a:t>Add a new column to Member table</a:t>
            </a:r>
          </a:p>
          <a:p>
            <a:pPr algn="l">
              <a:lnSpc>
                <a:spcPts val="2642"/>
              </a:lnSpc>
            </a:pPr>
            <a:r>
              <a:rPr lang="en-US" sz="1887">
                <a:solidFill>
                  <a:srgbClr val="FFFFFF"/>
                </a:solidFill>
                <a:latin typeface="Canva Sans"/>
                <a:ea typeface="Canva Sans"/>
                <a:cs typeface="Canva Sans"/>
                <a:sym typeface="Canva Sans"/>
              </a:rPr>
              <a:t>ALTER TABLE Member </a:t>
            </a:r>
          </a:p>
          <a:p>
            <a:pPr algn="l">
              <a:lnSpc>
                <a:spcPts val="2642"/>
              </a:lnSpc>
            </a:pPr>
            <a:r>
              <a:rPr lang="en-US" sz="1887">
                <a:solidFill>
                  <a:srgbClr val="FFFFFF"/>
                </a:solidFill>
                <a:latin typeface="Canva Sans"/>
                <a:ea typeface="Canva Sans"/>
                <a:cs typeface="Canva Sans"/>
                <a:sym typeface="Canva Sans"/>
              </a:rPr>
              <a:t>ADD marital_status VARCHAR(20);</a:t>
            </a:r>
          </a:p>
          <a:p>
            <a:pPr algn="l">
              <a:lnSpc>
                <a:spcPts val="2642"/>
              </a:lnSpc>
            </a:pPr>
          </a:p>
          <a:p>
            <a:pPr algn="l">
              <a:lnSpc>
                <a:spcPts val="2642"/>
              </a:lnSpc>
            </a:pPr>
          </a:p>
          <a:p>
            <a:pPr algn="l">
              <a:lnSpc>
                <a:spcPts val="2642"/>
              </a:lnSpc>
            </a:pPr>
          </a:p>
          <a:p>
            <a:pPr algn="l">
              <a:lnSpc>
                <a:spcPts val="2642"/>
              </a:lnSpc>
            </a:pPr>
          </a:p>
          <a:p>
            <a:pPr algn="l">
              <a:lnSpc>
                <a:spcPts val="2642"/>
              </a:lnSpc>
            </a:pPr>
          </a:p>
          <a:p>
            <a:pPr algn="l">
              <a:lnSpc>
                <a:spcPts val="2642"/>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7222" y="864463"/>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7490" y="-336403"/>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2197507" y="1994137"/>
            <a:ext cx="14500760" cy="2557976"/>
            <a:chOff x="0" y="0"/>
            <a:chExt cx="3819130" cy="673706"/>
          </a:xfrm>
        </p:grpSpPr>
        <p:sp>
          <p:nvSpPr>
            <p:cNvPr name="Freeform 8" id="8"/>
            <p:cNvSpPr/>
            <p:nvPr/>
          </p:nvSpPr>
          <p:spPr>
            <a:xfrm flipH="false" flipV="false" rot="0">
              <a:off x="0" y="0"/>
              <a:ext cx="3819130" cy="673706"/>
            </a:xfrm>
            <a:custGeom>
              <a:avLst/>
              <a:gdLst/>
              <a:ahLst/>
              <a:cxnLst/>
              <a:rect r="r" b="b" t="t" l="l"/>
              <a:pathLst>
                <a:path h="673706" w="3819130">
                  <a:moveTo>
                    <a:pt x="27229" y="0"/>
                  </a:moveTo>
                  <a:lnTo>
                    <a:pt x="3791901" y="0"/>
                  </a:lnTo>
                  <a:cubicBezTo>
                    <a:pt x="3799123" y="0"/>
                    <a:pt x="3806049" y="2869"/>
                    <a:pt x="3811155" y="7975"/>
                  </a:cubicBezTo>
                  <a:cubicBezTo>
                    <a:pt x="3816261" y="13082"/>
                    <a:pt x="3819130" y="20007"/>
                    <a:pt x="3819130" y="27229"/>
                  </a:cubicBezTo>
                  <a:lnTo>
                    <a:pt x="3819130" y="646477"/>
                  </a:lnTo>
                  <a:cubicBezTo>
                    <a:pt x="3819130" y="661515"/>
                    <a:pt x="3806939" y="673706"/>
                    <a:pt x="3791901" y="673706"/>
                  </a:cubicBezTo>
                  <a:lnTo>
                    <a:pt x="27229" y="673706"/>
                  </a:lnTo>
                  <a:cubicBezTo>
                    <a:pt x="20007" y="673706"/>
                    <a:pt x="13082" y="670837"/>
                    <a:pt x="7975" y="665730"/>
                  </a:cubicBezTo>
                  <a:cubicBezTo>
                    <a:pt x="2869" y="660624"/>
                    <a:pt x="0" y="653698"/>
                    <a:pt x="0" y="646477"/>
                  </a:cubicBezTo>
                  <a:lnTo>
                    <a:pt x="0" y="27229"/>
                  </a:lnTo>
                  <a:cubicBezTo>
                    <a:pt x="0" y="12191"/>
                    <a:pt x="12191" y="0"/>
                    <a:pt x="27229" y="0"/>
                  </a:cubicBezTo>
                  <a:close/>
                </a:path>
              </a:pathLst>
            </a:custGeom>
            <a:solidFill>
              <a:srgbClr val="3A5A9A"/>
            </a:solidFill>
          </p:spPr>
        </p:sp>
        <p:sp>
          <p:nvSpPr>
            <p:cNvPr name="TextBox 9" id="9"/>
            <p:cNvSpPr txBox="true"/>
            <p:nvPr/>
          </p:nvSpPr>
          <p:spPr>
            <a:xfrm>
              <a:off x="0" y="-57150"/>
              <a:ext cx="3819130" cy="730856"/>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415343" y="4773952"/>
            <a:ext cx="14411022" cy="2791094"/>
            <a:chOff x="0" y="0"/>
            <a:chExt cx="3795496" cy="735103"/>
          </a:xfrm>
        </p:grpSpPr>
        <p:sp>
          <p:nvSpPr>
            <p:cNvPr name="Freeform 11" id="11"/>
            <p:cNvSpPr/>
            <p:nvPr/>
          </p:nvSpPr>
          <p:spPr>
            <a:xfrm flipH="false" flipV="false" rot="0">
              <a:off x="0" y="0"/>
              <a:ext cx="3795495" cy="735103"/>
            </a:xfrm>
            <a:custGeom>
              <a:avLst/>
              <a:gdLst/>
              <a:ahLst/>
              <a:cxnLst/>
              <a:rect r="r" b="b" t="t" l="l"/>
              <a:pathLst>
                <a:path h="735103" w="3795495">
                  <a:moveTo>
                    <a:pt x="27398" y="0"/>
                  </a:moveTo>
                  <a:lnTo>
                    <a:pt x="3768097" y="0"/>
                  </a:lnTo>
                  <a:cubicBezTo>
                    <a:pt x="3775364" y="0"/>
                    <a:pt x="3782332" y="2887"/>
                    <a:pt x="3787471" y="8025"/>
                  </a:cubicBezTo>
                  <a:cubicBezTo>
                    <a:pt x="3792609" y="13163"/>
                    <a:pt x="3795495" y="20132"/>
                    <a:pt x="3795495" y="27398"/>
                  </a:cubicBezTo>
                  <a:lnTo>
                    <a:pt x="3795495" y="707704"/>
                  </a:lnTo>
                  <a:cubicBezTo>
                    <a:pt x="3795495" y="722836"/>
                    <a:pt x="3783229" y="735103"/>
                    <a:pt x="3768097" y="735103"/>
                  </a:cubicBezTo>
                  <a:lnTo>
                    <a:pt x="27398" y="735103"/>
                  </a:lnTo>
                  <a:cubicBezTo>
                    <a:pt x="12267" y="735103"/>
                    <a:pt x="0" y="722836"/>
                    <a:pt x="0" y="707704"/>
                  </a:cubicBezTo>
                  <a:lnTo>
                    <a:pt x="0" y="27398"/>
                  </a:lnTo>
                  <a:cubicBezTo>
                    <a:pt x="0" y="12267"/>
                    <a:pt x="12267" y="0"/>
                    <a:pt x="27398" y="0"/>
                  </a:cubicBezTo>
                  <a:close/>
                </a:path>
              </a:pathLst>
            </a:custGeom>
            <a:solidFill>
              <a:srgbClr val="3A5A9A"/>
            </a:solidFill>
          </p:spPr>
        </p:sp>
        <p:sp>
          <p:nvSpPr>
            <p:cNvPr name="TextBox 12" id="12"/>
            <p:cNvSpPr txBox="true"/>
            <p:nvPr/>
          </p:nvSpPr>
          <p:spPr>
            <a:xfrm>
              <a:off x="0" y="-57150"/>
              <a:ext cx="3795496" cy="792253"/>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16871401" y="0"/>
            <a:ext cx="1126981" cy="11269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1567091" y="8931134"/>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7434891" y="465210"/>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262518"/>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2468429" y="2068437"/>
            <a:ext cx="13958915" cy="1971697"/>
          </a:xfrm>
          <a:custGeom>
            <a:avLst/>
            <a:gdLst/>
            <a:ahLst/>
            <a:cxnLst/>
            <a:rect r="r" b="b" t="t" l="l"/>
            <a:pathLst>
              <a:path h="1971697" w="13958915">
                <a:moveTo>
                  <a:pt x="0" y="0"/>
                </a:moveTo>
                <a:lnTo>
                  <a:pt x="13958915" y="0"/>
                </a:lnTo>
                <a:lnTo>
                  <a:pt x="13958915" y="1971697"/>
                </a:lnTo>
                <a:lnTo>
                  <a:pt x="0" y="1971697"/>
                </a:lnTo>
                <a:lnTo>
                  <a:pt x="0" y="0"/>
                </a:lnTo>
                <a:close/>
              </a:path>
            </a:pathLst>
          </a:custGeom>
          <a:blipFill>
            <a:blip r:embed="rId12"/>
            <a:stretch>
              <a:fillRect l="0" t="0" r="0" b="0"/>
            </a:stretch>
          </a:blipFill>
        </p:spPr>
      </p:sp>
      <p:sp>
        <p:nvSpPr>
          <p:cNvPr name="Freeform 26" id="26"/>
          <p:cNvSpPr/>
          <p:nvPr/>
        </p:nvSpPr>
        <p:spPr>
          <a:xfrm flipH="false" flipV="false" rot="0">
            <a:off x="201076" y="4099489"/>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2910594" y="4894144"/>
            <a:ext cx="13420521" cy="2734431"/>
          </a:xfrm>
          <a:custGeom>
            <a:avLst/>
            <a:gdLst/>
            <a:ahLst/>
            <a:cxnLst/>
            <a:rect r="r" b="b" t="t" l="l"/>
            <a:pathLst>
              <a:path h="2734431" w="13420521">
                <a:moveTo>
                  <a:pt x="0" y="0"/>
                </a:moveTo>
                <a:lnTo>
                  <a:pt x="13420521" y="0"/>
                </a:lnTo>
                <a:lnTo>
                  <a:pt x="13420521" y="2734431"/>
                </a:lnTo>
                <a:lnTo>
                  <a:pt x="0" y="2734431"/>
                </a:lnTo>
                <a:lnTo>
                  <a:pt x="0" y="0"/>
                </a:lnTo>
                <a:close/>
              </a:path>
            </a:pathLst>
          </a:custGeom>
          <a:blipFill>
            <a:blip r:embed="rId13"/>
            <a:stretch>
              <a:fillRect l="0" t="0" r="0" b="0"/>
            </a:stretch>
          </a:blipFill>
        </p:spPr>
      </p:sp>
      <p:grpSp>
        <p:nvGrpSpPr>
          <p:cNvPr name="Group 28" id="28"/>
          <p:cNvGrpSpPr/>
          <p:nvPr/>
        </p:nvGrpSpPr>
        <p:grpSpPr>
          <a:xfrm rot="0">
            <a:off x="1883702" y="7762624"/>
            <a:ext cx="14792290" cy="2601812"/>
            <a:chOff x="0" y="0"/>
            <a:chExt cx="3895912" cy="685251"/>
          </a:xfrm>
        </p:grpSpPr>
        <p:sp>
          <p:nvSpPr>
            <p:cNvPr name="Freeform 29" id="29"/>
            <p:cNvSpPr/>
            <p:nvPr/>
          </p:nvSpPr>
          <p:spPr>
            <a:xfrm flipH="false" flipV="false" rot="0">
              <a:off x="0" y="0"/>
              <a:ext cx="3895912" cy="685251"/>
            </a:xfrm>
            <a:custGeom>
              <a:avLst/>
              <a:gdLst/>
              <a:ahLst/>
              <a:cxnLst/>
              <a:rect r="r" b="b" t="t" l="l"/>
              <a:pathLst>
                <a:path h="685251" w="3895912">
                  <a:moveTo>
                    <a:pt x="26692" y="0"/>
                  </a:moveTo>
                  <a:lnTo>
                    <a:pt x="3869220" y="0"/>
                  </a:lnTo>
                  <a:cubicBezTo>
                    <a:pt x="3876299" y="0"/>
                    <a:pt x="3883088" y="2812"/>
                    <a:pt x="3888094" y="7818"/>
                  </a:cubicBezTo>
                  <a:cubicBezTo>
                    <a:pt x="3893100" y="12824"/>
                    <a:pt x="3895912" y="19613"/>
                    <a:pt x="3895912" y="26692"/>
                  </a:cubicBezTo>
                  <a:lnTo>
                    <a:pt x="3895912" y="658559"/>
                  </a:lnTo>
                  <a:cubicBezTo>
                    <a:pt x="3895912" y="665638"/>
                    <a:pt x="3893100" y="672427"/>
                    <a:pt x="3888094" y="677433"/>
                  </a:cubicBezTo>
                  <a:cubicBezTo>
                    <a:pt x="3883088" y="682439"/>
                    <a:pt x="3876299" y="685251"/>
                    <a:pt x="3869220" y="685251"/>
                  </a:cubicBezTo>
                  <a:lnTo>
                    <a:pt x="26692" y="685251"/>
                  </a:lnTo>
                  <a:cubicBezTo>
                    <a:pt x="19613" y="685251"/>
                    <a:pt x="12824" y="682439"/>
                    <a:pt x="7818" y="677433"/>
                  </a:cubicBezTo>
                  <a:cubicBezTo>
                    <a:pt x="2812" y="672427"/>
                    <a:pt x="0" y="665638"/>
                    <a:pt x="0" y="658559"/>
                  </a:cubicBezTo>
                  <a:lnTo>
                    <a:pt x="0" y="26692"/>
                  </a:lnTo>
                  <a:cubicBezTo>
                    <a:pt x="0" y="19613"/>
                    <a:pt x="2812" y="12824"/>
                    <a:pt x="7818" y="7818"/>
                  </a:cubicBezTo>
                  <a:cubicBezTo>
                    <a:pt x="12824" y="2812"/>
                    <a:pt x="19613" y="0"/>
                    <a:pt x="26692" y="0"/>
                  </a:cubicBezTo>
                  <a:close/>
                </a:path>
              </a:pathLst>
            </a:custGeom>
            <a:solidFill>
              <a:srgbClr val="3A5A9A"/>
            </a:solidFill>
          </p:spPr>
        </p:sp>
        <p:sp>
          <p:nvSpPr>
            <p:cNvPr name="TextBox 30" id="30"/>
            <p:cNvSpPr txBox="true"/>
            <p:nvPr/>
          </p:nvSpPr>
          <p:spPr>
            <a:xfrm>
              <a:off x="0" y="-57150"/>
              <a:ext cx="3895912" cy="742401"/>
            </a:xfrm>
            <a:prstGeom prst="rect">
              <a:avLst/>
            </a:prstGeom>
          </p:spPr>
          <p:txBody>
            <a:bodyPr anchor="ctr" rtlCol="false" tIns="50800" lIns="50800" bIns="50800" rIns="50800"/>
            <a:lstStyle/>
            <a:p>
              <a:pPr algn="ctr">
                <a:lnSpc>
                  <a:spcPts val="2940"/>
                </a:lnSpc>
              </a:pPr>
            </a:p>
          </p:txBody>
        </p:sp>
      </p:grpSp>
      <p:sp>
        <p:nvSpPr>
          <p:cNvPr name="Freeform 31" id="31"/>
          <p:cNvSpPr/>
          <p:nvPr/>
        </p:nvSpPr>
        <p:spPr>
          <a:xfrm flipH="false" flipV="false" rot="0">
            <a:off x="2197507" y="8070947"/>
            <a:ext cx="14300574" cy="1957896"/>
          </a:xfrm>
          <a:custGeom>
            <a:avLst/>
            <a:gdLst/>
            <a:ahLst/>
            <a:cxnLst/>
            <a:rect r="r" b="b" t="t" l="l"/>
            <a:pathLst>
              <a:path h="1957896" w="14300574">
                <a:moveTo>
                  <a:pt x="0" y="0"/>
                </a:moveTo>
                <a:lnTo>
                  <a:pt x="14300574" y="0"/>
                </a:lnTo>
                <a:lnTo>
                  <a:pt x="14300574" y="1957896"/>
                </a:lnTo>
                <a:lnTo>
                  <a:pt x="0" y="1957896"/>
                </a:lnTo>
                <a:lnTo>
                  <a:pt x="0" y="0"/>
                </a:lnTo>
                <a:close/>
              </a:path>
            </a:pathLst>
          </a:custGeom>
          <a:blipFill>
            <a:blip r:embed="rId14"/>
            <a:stretch>
              <a:fillRect l="-12231" t="0" r="-12231" b="0"/>
            </a:stretch>
          </a:blipFill>
        </p:spPr>
      </p:sp>
      <p:sp>
        <p:nvSpPr>
          <p:cNvPr name="TextBox 32" id="32"/>
          <p:cNvSpPr txBox="true"/>
          <p:nvPr/>
        </p:nvSpPr>
        <p:spPr>
          <a:xfrm rot="0">
            <a:off x="1883702" y="1353364"/>
            <a:ext cx="3022112" cy="808756"/>
          </a:xfrm>
          <a:prstGeom prst="rect">
            <a:avLst/>
          </a:prstGeom>
        </p:spPr>
        <p:txBody>
          <a:bodyPr anchor="t" rtlCol="false" tIns="0" lIns="0" bIns="0" rIns="0">
            <a:spAutoFit/>
          </a:bodyPr>
          <a:lstStyle/>
          <a:p>
            <a:pPr algn="just">
              <a:lnSpc>
                <a:spcPts val="3197"/>
              </a:lnSpc>
            </a:pPr>
            <a:r>
              <a:rPr lang="en-US" sz="2284" b="true">
                <a:solidFill>
                  <a:srgbClr val="FFFFFF"/>
                </a:solidFill>
                <a:latin typeface="Poppins Bold"/>
                <a:ea typeface="Poppins Bold"/>
                <a:cs typeface="Poppins Bold"/>
                <a:sym typeface="Poppins Bold"/>
              </a:rPr>
              <a:t>Branch table </a:t>
            </a:r>
          </a:p>
          <a:p>
            <a:pPr algn="just">
              <a:lnSpc>
                <a:spcPts val="3197"/>
              </a:lnSpc>
              <a:spcBef>
                <a:spcPct val="0"/>
              </a:spcBef>
            </a:pPr>
          </a:p>
        </p:txBody>
      </p:sp>
      <p:sp>
        <p:nvSpPr>
          <p:cNvPr name="TextBox 33" id="33"/>
          <p:cNvSpPr txBox="true"/>
          <p:nvPr/>
        </p:nvSpPr>
        <p:spPr>
          <a:xfrm rot="0">
            <a:off x="1106168" y="4485438"/>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employee table</a:t>
            </a:r>
          </a:p>
        </p:txBody>
      </p:sp>
      <p:sp>
        <p:nvSpPr>
          <p:cNvPr name="Freeform 34" id="34"/>
          <p:cNvSpPr/>
          <p:nvPr/>
        </p:nvSpPr>
        <p:spPr>
          <a:xfrm flipH="false" flipV="false" rot="0">
            <a:off x="201076" y="6954112"/>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5" id="35"/>
          <p:cNvSpPr txBox="true"/>
          <p:nvPr/>
        </p:nvSpPr>
        <p:spPr>
          <a:xfrm rot="0">
            <a:off x="1061376" y="7390884"/>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member  table</a:t>
            </a:r>
          </a:p>
        </p:txBody>
      </p:sp>
      <p:sp>
        <p:nvSpPr>
          <p:cNvPr name="TextBox 36" id="36"/>
          <p:cNvSpPr txBox="true"/>
          <p:nvPr/>
        </p:nvSpPr>
        <p:spPr>
          <a:xfrm rot="0">
            <a:off x="8219561" y="9372253"/>
            <a:ext cx="10959505" cy="65659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Canva Sans"/>
                <a:ea typeface="Canva Sans"/>
                <a:cs typeface="Canva Sans"/>
                <a:sym typeface="Canva Sans"/>
              </a:rPr>
              <a:t>The following section presents the MySQL query tables created in MySQL Workbench, showing</a:t>
            </a:r>
          </a:p>
          <a:p>
            <a:pPr algn="ctr">
              <a:lnSpc>
                <a:spcPts val="2659"/>
              </a:lnSpc>
              <a:spcBef>
                <a:spcPct val="0"/>
              </a:spcBef>
            </a:pPr>
            <a:r>
              <a:rPr lang="en-US" sz="1899">
                <a:solidFill>
                  <a:srgbClr val="000000"/>
                </a:solidFill>
                <a:latin typeface="Canva Sans"/>
                <a:ea typeface="Canva Sans"/>
                <a:cs typeface="Canva Sans"/>
                <a:sym typeface="Canva Sans"/>
              </a:rPr>
              <a:t> the implemented database structure and relationships used in the SACCO system.</a:t>
            </a:r>
          </a:p>
        </p:txBody>
      </p:sp>
      <p:grpSp>
        <p:nvGrpSpPr>
          <p:cNvPr name="Group 37" id="37"/>
          <p:cNvGrpSpPr/>
          <p:nvPr/>
        </p:nvGrpSpPr>
        <p:grpSpPr>
          <a:xfrm rot="0">
            <a:off x="2858129" y="191657"/>
            <a:ext cx="13352650" cy="1171232"/>
            <a:chOff x="0" y="0"/>
            <a:chExt cx="3516747" cy="308473"/>
          </a:xfrm>
        </p:grpSpPr>
        <p:sp>
          <p:nvSpPr>
            <p:cNvPr name="Freeform 38" id="38"/>
            <p:cNvSpPr/>
            <p:nvPr/>
          </p:nvSpPr>
          <p:spPr>
            <a:xfrm flipH="false" flipV="false" rot="0">
              <a:off x="0" y="0"/>
              <a:ext cx="3516747" cy="308473"/>
            </a:xfrm>
            <a:custGeom>
              <a:avLst/>
              <a:gdLst/>
              <a:ahLst/>
              <a:cxnLst/>
              <a:rect r="r" b="b" t="t" l="l"/>
              <a:pathLst>
                <a:path h="308473" w="3516747">
                  <a:moveTo>
                    <a:pt x="29570" y="0"/>
                  </a:moveTo>
                  <a:lnTo>
                    <a:pt x="3487177" y="0"/>
                  </a:lnTo>
                  <a:cubicBezTo>
                    <a:pt x="3503508" y="0"/>
                    <a:pt x="3516747" y="13239"/>
                    <a:pt x="3516747" y="29570"/>
                  </a:cubicBezTo>
                  <a:lnTo>
                    <a:pt x="3516747" y="278903"/>
                  </a:lnTo>
                  <a:cubicBezTo>
                    <a:pt x="3516747" y="286745"/>
                    <a:pt x="3513632" y="294266"/>
                    <a:pt x="3508087" y="299812"/>
                  </a:cubicBezTo>
                  <a:cubicBezTo>
                    <a:pt x="3502541" y="305357"/>
                    <a:pt x="3495020" y="308473"/>
                    <a:pt x="3487177" y="308473"/>
                  </a:cubicBezTo>
                  <a:lnTo>
                    <a:pt x="29570" y="308473"/>
                  </a:lnTo>
                  <a:cubicBezTo>
                    <a:pt x="21728" y="308473"/>
                    <a:pt x="14206" y="305357"/>
                    <a:pt x="8661" y="299812"/>
                  </a:cubicBezTo>
                  <a:cubicBezTo>
                    <a:pt x="3115" y="294266"/>
                    <a:pt x="0" y="286745"/>
                    <a:pt x="0" y="278903"/>
                  </a:cubicBezTo>
                  <a:lnTo>
                    <a:pt x="0" y="29570"/>
                  </a:lnTo>
                  <a:cubicBezTo>
                    <a:pt x="0" y="21728"/>
                    <a:pt x="3115" y="14206"/>
                    <a:pt x="8661" y="8661"/>
                  </a:cubicBezTo>
                  <a:cubicBezTo>
                    <a:pt x="14206" y="3115"/>
                    <a:pt x="21728" y="0"/>
                    <a:pt x="29570" y="0"/>
                  </a:cubicBezTo>
                  <a:close/>
                </a:path>
              </a:pathLst>
            </a:custGeom>
            <a:solidFill>
              <a:srgbClr val="3A5A9A"/>
            </a:solidFill>
          </p:spPr>
        </p:sp>
        <p:sp>
          <p:nvSpPr>
            <p:cNvPr name="TextBox 39" id="39"/>
            <p:cNvSpPr txBox="true"/>
            <p:nvPr/>
          </p:nvSpPr>
          <p:spPr>
            <a:xfrm>
              <a:off x="0" y="-57150"/>
              <a:ext cx="3516747" cy="365623"/>
            </a:xfrm>
            <a:prstGeom prst="rect">
              <a:avLst/>
            </a:prstGeom>
          </p:spPr>
          <p:txBody>
            <a:bodyPr anchor="ctr" rtlCol="false" tIns="50800" lIns="50800" bIns="50800" rIns="50800"/>
            <a:lstStyle/>
            <a:p>
              <a:pPr algn="ctr">
                <a:lnSpc>
                  <a:spcPts val="2940"/>
                </a:lnSpc>
              </a:pPr>
            </a:p>
          </p:txBody>
        </p:sp>
      </p:grpSp>
      <p:sp>
        <p:nvSpPr>
          <p:cNvPr name="TextBox 40" id="40"/>
          <p:cNvSpPr txBox="true"/>
          <p:nvPr/>
        </p:nvSpPr>
        <p:spPr>
          <a:xfrm rot="0">
            <a:off x="3360066" y="363711"/>
            <a:ext cx="12850713" cy="763270"/>
          </a:xfrm>
          <a:prstGeom prst="rect">
            <a:avLst/>
          </a:prstGeom>
        </p:spPr>
        <p:txBody>
          <a:bodyPr anchor="t" rtlCol="false" tIns="0" lIns="0" bIns="0" rIns="0">
            <a:spAutoFit/>
          </a:bodyPr>
          <a:lstStyle/>
          <a:p>
            <a:pPr algn="ctr">
              <a:lnSpc>
                <a:spcPts val="3079"/>
              </a:lnSpc>
              <a:spcBef>
                <a:spcPct val="0"/>
              </a:spcBef>
            </a:pPr>
            <a:r>
              <a:rPr lang="en-US" b="true" sz="2199">
                <a:solidFill>
                  <a:srgbClr val="FFFFFF"/>
                </a:solidFill>
                <a:latin typeface="Canva Sans Bold"/>
                <a:ea typeface="Canva Sans Bold"/>
                <a:cs typeface="Canva Sans Bold"/>
                <a:sym typeface="Canva Sans Bold"/>
              </a:rPr>
              <a:t>T</a:t>
            </a:r>
            <a:r>
              <a:rPr lang="en-US" b="true" sz="2199">
                <a:solidFill>
                  <a:srgbClr val="FFFFFF"/>
                </a:solidFill>
                <a:latin typeface="Canva Sans Bold"/>
                <a:ea typeface="Canva Sans Bold"/>
                <a:cs typeface="Canva Sans Bold"/>
                <a:sym typeface="Canva Sans Bold"/>
              </a:rPr>
              <a:t>he following section presents the MySQL query tables created in MySQL Workbench, showing</a:t>
            </a:r>
          </a:p>
          <a:p>
            <a:pPr algn="ctr">
              <a:lnSpc>
                <a:spcPts val="3079"/>
              </a:lnSpc>
              <a:spcBef>
                <a:spcPct val="0"/>
              </a:spcBef>
            </a:pPr>
            <a:r>
              <a:rPr lang="en-US" b="true" sz="2199">
                <a:solidFill>
                  <a:srgbClr val="FFFFFF"/>
                </a:solidFill>
                <a:latin typeface="Canva Sans Bold"/>
                <a:ea typeface="Canva Sans Bold"/>
                <a:cs typeface="Canva Sans Bold"/>
                <a:sym typeface="Canva Sans Bold"/>
              </a:rPr>
              <a:t> the implemented database structure and relationships used in the SACCO system.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017" y="-52712"/>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8126" y="-346986"/>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395665" y="1420039"/>
            <a:ext cx="10574281" cy="136419"/>
            <a:chOff x="0" y="0"/>
            <a:chExt cx="2784996" cy="35929"/>
          </a:xfrm>
        </p:grpSpPr>
        <p:sp>
          <p:nvSpPr>
            <p:cNvPr name="Freeform 8" id="8"/>
            <p:cNvSpPr/>
            <p:nvPr/>
          </p:nvSpPr>
          <p:spPr>
            <a:xfrm flipH="false" flipV="false" rot="0">
              <a:off x="0" y="0"/>
              <a:ext cx="2784996" cy="35929"/>
            </a:xfrm>
            <a:custGeom>
              <a:avLst/>
              <a:gdLst/>
              <a:ahLst/>
              <a:cxnLst/>
              <a:rect r="r" b="b" t="t" l="l"/>
              <a:pathLst>
                <a:path h="35929" w="2784996">
                  <a:moveTo>
                    <a:pt x="17965" y="0"/>
                  </a:moveTo>
                  <a:lnTo>
                    <a:pt x="2767031" y="0"/>
                  </a:lnTo>
                  <a:cubicBezTo>
                    <a:pt x="2771796" y="0"/>
                    <a:pt x="2776365" y="1893"/>
                    <a:pt x="2779734" y="5262"/>
                  </a:cubicBezTo>
                  <a:cubicBezTo>
                    <a:pt x="2783103" y="8631"/>
                    <a:pt x="2784996" y="13200"/>
                    <a:pt x="2784996" y="17965"/>
                  </a:cubicBezTo>
                  <a:lnTo>
                    <a:pt x="2784996" y="17965"/>
                  </a:lnTo>
                  <a:cubicBezTo>
                    <a:pt x="2784996" y="27886"/>
                    <a:pt x="2776953" y="35929"/>
                    <a:pt x="2767031" y="35929"/>
                  </a:cubicBezTo>
                  <a:lnTo>
                    <a:pt x="17965" y="35929"/>
                  </a:lnTo>
                  <a:cubicBezTo>
                    <a:pt x="8043" y="35929"/>
                    <a:pt x="0" y="27886"/>
                    <a:pt x="0" y="17965"/>
                  </a:cubicBezTo>
                  <a:lnTo>
                    <a:pt x="0" y="17965"/>
                  </a:lnTo>
                  <a:cubicBezTo>
                    <a:pt x="0" y="8043"/>
                    <a:pt x="8043" y="0"/>
                    <a:pt x="17965" y="0"/>
                  </a:cubicBezTo>
                  <a:close/>
                </a:path>
              </a:pathLst>
            </a:custGeom>
            <a:solidFill>
              <a:srgbClr val="3A5A9A"/>
            </a:solidFill>
          </p:spPr>
        </p:sp>
        <p:sp>
          <p:nvSpPr>
            <p:cNvPr name="TextBox 9" id="9"/>
            <p:cNvSpPr txBox="true"/>
            <p:nvPr/>
          </p:nvSpPr>
          <p:spPr>
            <a:xfrm>
              <a:off x="0" y="-57150"/>
              <a:ext cx="2784996" cy="9307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142283" y="1065616"/>
            <a:ext cx="14500760" cy="2557976"/>
            <a:chOff x="0" y="0"/>
            <a:chExt cx="3819130" cy="673706"/>
          </a:xfrm>
        </p:grpSpPr>
        <p:sp>
          <p:nvSpPr>
            <p:cNvPr name="Freeform 11" id="11"/>
            <p:cNvSpPr/>
            <p:nvPr/>
          </p:nvSpPr>
          <p:spPr>
            <a:xfrm flipH="false" flipV="false" rot="0">
              <a:off x="0" y="0"/>
              <a:ext cx="3819130" cy="673706"/>
            </a:xfrm>
            <a:custGeom>
              <a:avLst/>
              <a:gdLst/>
              <a:ahLst/>
              <a:cxnLst/>
              <a:rect r="r" b="b" t="t" l="l"/>
              <a:pathLst>
                <a:path h="673706" w="3819130">
                  <a:moveTo>
                    <a:pt x="27229" y="0"/>
                  </a:moveTo>
                  <a:lnTo>
                    <a:pt x="3791901" y="0"/>
                  </a:lnTo>
                  <a:cubicBezTo>
                    <a:pt x="3799123" y="0"/>
                    <a:pt x="3806049" y="2869"/>
                    <a:pt x="3811155" y="7975"/>
                  </a:cubicBezTo>
                  <a:cubicBezTo>
                    <a:pt x="3816261" y="13082"/>
                    <a:pt x="3819130" y="20007"/>
                    <a:pt x="3819130" y="27229"/>
                  </a:cubicBezTo>
                  <a:lnTo>
                    <a:pt x="3819130" y="646477"/>
                  </a:lnTo>
                  <a:cubicBezTo>
                    <a:pt x="3819130" y="661515"/>
                    <a:pt x="3806939" y="673706"/>
                    <a:pt x="3791901" y="673706"/>
                  </a:cubicBezTo>
                  <a:lnTo>
                    <a:pt x="27229" y="673706"/>
                  </a:lnTo>
                  <a:cubicBezTo>
                    <a:pt x="20007" y="673706"/>
                    <a:pt x="13082" y="670837"/>
                    <a:pt x="7975" y="665730"/>
                  </a:cubicBezTo>
                  <a:cubicBezTo>
                    <a:pt x="2869" y="660624"/>
                    <a:pt x="0" y="653698"/>
                    <a:pt x="0" y="646477"/>
                  </a:cubicBezTo>
                  <a:lnTo>
                    <a:pt x="0" y="27229"/>
                  </a:lnTo>
                  <a:cubicBezTo>
                    <a:pt x="0" y="12191"/>
                    <a:pt x="12191" y="0"/>
                    <a:pt x="27229" y="0"/>
                  </a:cubicBezTo>
                  <a:close/>
                </a:path>
              </a:pathLst>
            </a:custGeom>
            <a:solidFill>
              <a:srgbClr val="3A5A9A"/>
            </a:solidFill>
          </p:spPr>
        </p:sp>
        <p:sp>
          <p:nvSpPr>
            <p:cNvPr name="TextBox 12" id="12"/>
            <p:cNvSpPr txBox="true"/>
            <p:nvPr/>
          </p:nvSpPr>
          <p:spPr>
            <a:xfrm>
              <a:off x="0" y="-57150"/>
              <a:ext cx="3819130" cy="730856"/>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2044098" y="4110082"/>
            <a:ext cx="14598944" cy="2531825"/>
            <a:chOff x="0" y="0"/>
            <a:chExt cx="3844989" cy="666818"/>
          </a:xfrm>
        </p:grpSpPr>
        <p:sp>
          <p:nvSpPr>
            <p:cNvPr name="Freeform 14" id="14"/>
            <p:cNvSpPr/>
            <p:nvPr/>
          </p:nvSpPr>
          <p:spPr>
            <a:xfrm flipH="false" flipV="false" rot="0">
              <a:off x="0" y="0"/>
              <a:ext cx="3844989" cy="666818"/>
            </a:xfrm>
            <a:custGeom>
              <a:avLst/>
              <a:gdLst/>
              <a:ahLst/>
              <a:cxnLst/>
              <a:rect r="r" b="b" t="t" l="l"/>
              <a:pathLst>
                <a:path h="666818" w="3844989">
                  <a:moveTo>
                    <a:pt x="27046" y="0"/>
                  </a:moveTo>
                  <a:lnTo>
                    <a:pt x="3817944" y="0"/>
                  </a:lnTo>
                  <a:cubicBezTo>
                    <a:pt x="3832881" y="0"/>
                    <a:pt x="3844989" y="12109"/>
                    <a:pt x="3844989" y="27046"/>
                  </a:cubicBezTo>
                  <a:lnTo>
                    <a:pt x="3844989" y="639772"/>
                  </a:lnTo>
                  <a:cubicBezTo>
                    <a:pt x="3844989" y="654709"/>
                    <a:pt x="3832881" y="666818"/>
                    <a:pt x="3817944" y="666818"/>
                  </a:cubicBezTo>
                  <a:lnTo>
                    <a:pt x="27046" y="666818"/>
                  </a:lnTo>
                  <a:cubicBezTo>
                    <a:pt x="12109" y="666818"/>
                    <a:pt x="0" y="654709"/>
                    <a:pt x="0" y="639772"/>
                  </a:cubicBezTo>
                  <a:lnTo>
                    <a:pt x="0" y="27046"/>
                  </a:lnTo>
                  <a:cubicBezTo>
                    <a:pt x="0" y="12109"/>
                    <a:pt x="12109" y="0"/>
                    <a:pt x="27046" y="0"/>
                  </a:cubicBezTo>
                  <a:close/>
                </a:path>
              </a:pathLst>
            </a:custGeom>
            <a:solidFill>
              <a:srgbClr val="3A5A9A"/>
            </a:solidFill>
          </p:spPr>
        </p:sp>
        <p:sp>
          <p:nvSpPr>
            <p:cNvPr name="TextBox 15" id="15"/>
            <p:cNvSpPr txBox="true"/>
            <p:nvPr/>
          </p:nvSpPr>
          <p:spPr>
            <a:xfrm>
              <a:off x="0" y="-57150"/>
              <a:ext cx="3844989" cy="72396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6871401" y="0"/>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567091" y="8931134"/>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465210"/>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434891" y="-262518"/>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395665" y="3222503"/>
            <a:ext cx="3882413" cy="1348926"/>
          </a:xfrm>
          <a:custGeom>
            <a:avLst/>
            <a:gdLst/>
            <a:ahLst/>
            <a:cxnLst/>
            <a:rect r="r" b="b" t="t" l="l"/>
            <a:pathLst>
              <a:path h="1348926" w="3882413">
                <a:moveTo>
                  <a:pt x="0" y="0"/>
                </a:moveTo>
                <a:lnTo>
                  <a:pt x="3882413" y="0"/>
                </a:lnTo>
                <a:lnTo>
                  <a:pt x="3882413" y="1348925"/>
                </a:lnTo>
                <a:lnTo>
                  <a:pt x="0" y="1348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73533" y="6884809"/>
            <a:ext cx="14397868" cy="2609816"/>
            <a:chOff x="0" y="0"/>
            <a:chExt cx="3792031" cy="687359"/>
          </a:xfrm>
        </p:grpSpPr>
        <p:sp>
          <p:nvSpPr>
            <p:cNvPr name="Freeform 30" id="30"/>
            <p:cNvSpPr/>
            <p:nvPr/>
          </p:nvSpPr>
          <p:spPr>
            <a:xfrm flipH="false" flipV="false" rot="0">
              <a:off x="0" y="0"/>
              <a:ext cx="3792031" cy="687359"/>
            </a:xfrm>
            <a:custGeom>
              <a:avLst/>
              <a:gdLst/>
              <a:ahLst/>
              <a:cxnLst/>
              <a:rect r="r" b="b" t="t" l="l"/>
              <a:pathLst>
                <a:path h="687359" w="3792031">
                  <a:moveTo>
                    <a:pt x="27423" y="0"/>
                  </a:moveTo>
                  <a:lnTo>
                    <a:pt x="3764608" y="0"/>
                  </a:lnTo>
                  <a:cubicBezTo>
                    <a:pt x="3779753" y="0"/>
                    <a:pt x="3792031" y="12278"/>
                    <a:pt x="3792031" y="27423"/>
                  </a:cubicBezTo>
                  <a:lnTo>
                    <a:pt x="3792031" y="659935"/>
                  </a:lnTo>
                  <a:cubicBezTo>
                    <a:pt x="3792031" y="675081"/>
                    <a:pt x="3779753" y="687359"/>
                    <a:pt x="3764608" y="687359"/>
                  </a:cubicBezTo>
                  <a:lnTo>
                    <a:pt x="27423" y="687359"/>
                  </a:lnTo>
                  <a:cubicBezTo>
                    <a:pt x="12278" y="687359"/>
                    <a:pt x="0" y="675081"/>
                    <a:pt x="0" y="659935"/>
                  </a:cubicBezTo>
                  <a:lnTo>
                    <a:pt x="0" y="27423"/>
                  </a:lnTo>
                  <a:cubicBezTo>
                    <a:pt x="0" y="12278"/>
                    <a:pt x="12278" y="0"/>
                    <a:pt x="27423" y="0"/>
                  </a:cubicBezTo>
                  <a:close/>
                </a:path>
              </a:pathLst>
            </a:custGeom>
            <a:solidFill>
              <a:srgbClr val="3A5A9A"/>
            </a:solidFill>
          </p:spPr>
        </p:sp>
        <p:sp>
          <p:nvSpPr>
            <p:cNvPr name="TextBox 31" id="31"/>
            <p:cNvSpPr txBox="true"/>
            <p:nvPr/>
          </p:nvSpPr>
          <p:spPr>
            <a:xfrm>
              <a:off x="0" y="-57150"/>
              <a:ext cx="3792031" cy="744509"/>
            </a:xfrm>
            <a:prstGeom prst="rect">
              <a:avLst/>
            </a:prstGeom>
          </p:spPr>
          <p:txBody>
            <a:bodyPr anchor="ctr" rtlCol="false" tIns="50800" lIns="50800" bIns="50800" rIns="50800"/>
            <a:lstStyle/>
            <a:p>
              <a:pPr algn="ctr">
                <a:lnSpc>
                  <a:spcPts val="2940"/>
                </a:lnSpc>
              </a:pPr>
            </a:p>
          </p:txBody>
        </p:sp>
      </p:grpSp>
      <p:sp>
        <p:nvSpPr>
          <p:cNvPr name="Freeform 32" id="32"/>
          <p:cNvSpPr/>
          <p:nvPr/>
        </p:nvSpPr>
        <p:spPr>
          <a:xfrm flipH="false" flipV="false" rot="0">
            <a:off x="201076" y="6495478"/>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2910594" y="1164400"/>
            <a:ext cx="13140169" cy="2189619"/>
          </a:xfrm>
          <a:custGeom>
            <a:avLst/>
            <a:gdLst/>
            <a:ahLst/>
            <a:cxnLst/>
            <a:rect r="r" b="b" t="t" l="l"/>
            <a:pathLst>
              <a:path h="2189619" w="13140169">
                <a:moveTo>
                  <a:pt x="0" y="0"/>
                </a:moveTo>
                <a:lnTo>
                  <a:pt x="13140168" y="0"/>
                </a:lnTo>
                <a:lnTo>
                  <a:pt x="13140168" y="2189618"/>
                </a:lnTo>
                <a:lnTo>
                  <a:pt x="0" y="2189618"/>
                </a:lnTo>
                <a:lnTo>
                  <a:pt x="0" y="0"/>
                </a:lnTo>
                <a:close/>
              </a:path>
            </a:pathLst>
          </a:custGeom>
          <a:blipFill>
            <a:blip r:embed="rId12"/>
            <a:stretch>
              <a:fillRect l="0" t="-8135" r="0" b="-8135"/>
            </a:stretch>
          </a:blipFill>
        </p:spPr>
      </p:sp>
      <p:sp>
        <p:nvSpPr>
          <p:cNvPr name="Freeform 34" id="34"/>
          <p:cNvSpPr/>
          <p:nvPr/>
        </p:nvSpPr>
        <p:spPr>
          <a:xfrm flipH="false" flipV="false" rot="0">
            <a:off x="2293718" y="4438999"/>
            <a:ext cx="14197889" cy="1686832"/>
          </a:xfrm>
          <a:custGeom>
            <a:avLst/>
            <a:gdLst/>
            <a:ahLst/>
            <a:cxnLst/>
            <a:rect r="r" b="b" t="t" l="l"/>
            <a:pathLst>
              <a:path h="1686832" w="14197889">
                <a:moveTo>
                  <a:pt x="0" y="0"/>
                </a:moveTo>
                <a:lnTo>
                  <a:pt x="14197889" y="0"/>
                </a:lnTo>
                <a:lnTo>
                  <a:pt x="14197889" y="1686833"/>
                </a:lnTo>
                <a:lnTo>
                  <a:pt x="0" y="1686833"/>
                </a:lnTo>
                <a:lnTo>
                  <a:pt x="0" y="0"/>
                </a:lnTo>
                <a:close/>
              </a:path>
            </a:pathLst>
          </a:custGeom>
          <a:blipFill>
            <a:blip r:embed="rId13"/>
            <a:stretch>
              <a:fillRect l="-1416" t="0" r="0" b="-6701"/>
            </a:stretch>
          </a:blipFill>
        </p:spPr>
      </p:sp>
      <p:sp>
        <p:nvSpPr>
          <p:cNvPr name="Freeform 35" id="35"/>
          <p:cNvSpPr/>
          <p:nvPr/>
        </p:nvSpPr>
        <p:spPr>
          <a:xfrm flipH="false" flipV="false" rot="0">
            <a:off x="2617224" y="7308657"/>
            <a:ext cx="13956230" cy="1709638"/>
          </a:xfrm>
          <a:custGeom>
            <a:avLst/>
            <a:gdLst/>
            <a:ahLst/>
            <a:cxnLst/>
            <a:rect r="r" b="b" t="t" l="l"/>
            <a:pathLst>
              <a:path h="1709638" w="13956230">
                <a:moveTo>
                  <a:pt x="0" y="0"/>
                </a:moveTo>
                <a:lnTo>
                  <a:pt x="13956230" y="0"/>
                </a:lnTo>
                <a:lnTo>
                  <a:pt x="13956230" y="1709638"/>
                </a:lnTo>
                <a:lnTo>
                  <a:pt x="0" y="1709638"/>
                </a:lnTo>
                <a:lnTo>
                  <a:pt x="0" y="0"/>
                </a:lnTo>
                <a:close/>
              </a:path>
            </a:pathLst>
          </a:custGeom>
          <a:blipFill>
            <a:blip r:embed="rId14"/>
            <a:stretch>
              <a:fillRect l="0" t="0" r="0" b="0"/>
            </a:stretch>
          </a:blipFill>
        </p:spPr>
      </p:sp>
      <p:sp>
        <p:nvSpPr>
          <p:cNvPr name="TextBox 36" id="36"/>
          <p:cNvSpPr txBox="true"/>
          <p:nvPr/>
        </p:nvSpPr>
        <p:spPr>
          <a:xfrm rot="0">
            <a:off x="8184493" y="2373179"/>
            <a:ext cx="3313446" cy="291465"/>
          </a:xfrm>
          <a:prstGeom prst="rect">
            <a:avLst/>
          </a:prstGeom>
        </p:spPr>
        <p:txBody>
          <a:bodyPr anchor="t" rtlCol="false" tIns="0" lIns="0" bIns="0" rIns="0">
            <a:spAutoFit/>
          </a:bodyPr>
          <a:lstStyle/>
          <a:p>
            <a:pPr algn="ctr">
              <a:lnSpc>
                <a:spcPts val="2100"/>
              </a:lnSpc>
            </a:pPr>
            <a:r>
              <a:rPr lang="en-US" sz="2100" b="true">
                <a:solidFill>
                  <a:srgbClr val="FFFFFF"/>
                </a:solidFill>
                <a:latin typeface="DM Sans Bold"/>
                <a:ea typeface="DM Sans Bold"/>
                <a:cs typeface="DM Sans Bold"/>
                <a:sym typeface="DM Sans Bold"/>
              </a:rPr>
              <a:t>Scope of the System</a:t>
            </a:r>
          </a:p>
        </p:txBody>
      </p:sp>
      <p:sp>
        <p:nvSpPr>
          <p:cNvPr name="TextBox 37" id="37"/>
          <p:cNvSpPr txBox="true"/>
          <p:nvPr/>
        </p:nvSpPr>
        <p:spPr>
          <a:xfrm rot="0">
            <a:off x="1028700" y="384061"/>
            <a:ext cx="3799103"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saving accounts table </a:t>
            </a:r>
          </a:p>
        </p:txBody>
      </p:sp>
      <p:sp>
        <p:nvSpPr>
          <p:cNvPr name="TextBox 38" id="38"/>
          <p:cNvSpPr txBox="true"/>
          <p:nvPr/>
        </p:nvSpPr>
        <p:spPr>
          <a:xfrm rot="0">
            <a:off x="1399538" y="3658818"/>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loan product table</a:t>
            </a:r>
          </a:p>
        </p:txBody>
      </p:sp>
      <p:sp>
        <p:nvSpPr>
          <p:cNvPr name="TextBox 39" id="39"/>
          <p:cNvSpPr txBox="true"/>
          <p:nvPr/>
        </p:nvSpPr>
        <p:spPr>
          <a:xfrm rot="0">
            <a:off x="1028700" y="7001493"/>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loan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017" y="-52712"/>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8126" y="-346986"/>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395665" y="1420039"/>
            <a:ext cx="10574281" cy="136419"/>
            <a:chOff x="0" y="0"/>
            <a:chExt cx="2784996" cy="35929"/>
          </a:xfrm>
        </p:grpSpPr>
        <p:sp>
          <p:nvSpPr>
            <p:cNvPr name="Freeform 8" id="8"/>
            <p:cNvSpPr/>
            <p:nvPr/>
          </p:nvSpPr>
          <p:spPr>
            <a:xfrm flipH="false" flipV="false" rot="0">
              <a:off x="0" y="0"/>
              <a:ext cx="2784996" cy="35929"/>
            </a:xfrm>
            <a:custGeom>
              <a:avLst/>
              <a:gdLst/>
              <a:ahLst/>
              <a:cxnLst/>
              <a:rect r="r" b="b" t="t" l="l"/>
              <a:pathLst>
                <a:path h="35929" w="2784996">
                  <a:moveTo>
                    <a:pt x="17965" y="0"/>
                  </a:moveTo>
                  <a:lnTo>
                    <a:pt x="2767031" y="0"/>
                  </a:lnTo>
                  <a:cubicBezTo>
                    <a:pt x="2771796" y="0"/>
                    <a:pt x="2776365" y="1893"/>
                    <a:pt x="2779734" y="5262"/>
                  </a:cubicBezTo>
                  <a:cubicBezTo>
                    <a:pt x="2783103" y="8631"/>
                    <a:pt x="2784996" y="13200"/>
                    <a:pt x="2784996" y="17965"/>
                  </a:cubicBezTo>
                  <a:lnTo>
                    <a:pt x="2784996" y="17965"/>
                  </a:lnTo>
                  <a:cubicBezTo>
                    <a:pt x="2784996" y="27886"/>
                    <a:pt x="2776953" y="35929"/>
                    <a:pt x="2767031" y="35929"/>
                  </a:cubicBezTo>
                  <a:lnTo>
                    <a:pt x="17965" y="35929"/>
                  </a:lnTo>
                  <a:cubicBezTo>
                    <a:pt x="8043" y="35929"/>
                    <a:pt x="0" y="27886"/>
                    <a:pt x="0" y="17965"/>
                  </a:cubicBezTo>
                  <a:lnTo>
                    <a:pt x="0" y="17965"/>
                  </a:lnTo>
                  <a:cubicBezTo>
                    <a:pt x="0" y="8043"/>
                    <a:pt x="8043" y="0"/>
                    <a:pt x="17965" y="0"/>
                  </a:cubicBezTo>
                  <a:close/>
                </a:path>
              </a:pathLst>
            </a:custGeom>
            <a:solidFill>
              <a:srgbClr val="3A5A9A"/>
            </a:solidFill>
          </p:spPr>
        </p:sp>
        <p:sp>
          <p:nvSpPr>
            <p:cNvPr name="TextBox 9" id="9"/>
            <p:cNvSpPr txBox="true"/>
            <p:nvPr/>
          </p:nvSpPr>
          <p:spPr>
            <a:xfrm>
              <a:off x="0" y="-57150"/>
              <a:ext cx="2784996" cy="9307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142283" y="1065616"/>
            <a:ext cx="14500760" cy="2557976"/>
            <a:chOff x="0" y="0"/>
            <a:chExt cx="3819130" cy="673706"/>
          </a:xfrm>
        </p:grpSpPr>
        <p:sp>
          <p:nvSpPr>
            <p:cNvPr name="Freeform 11" id="11"/>
            <p:cNvSpPr/>
            <p:nvPr/>
          </p:nvSpPr>
          <p:spPr>
            <a:xfrm flipH="false" flipV="false" rot="0">
              <a:off x="0" y="0"/>
              <a:ext cx="3819130" cy="673706"/>
            </a:xfrm>
            <a:custGeom>
              <a:avLst/>
              <a:gdLst/>
              <a:ahLst/>
              <a:cxnLst/>
              <a:rect r="r" b="b" t="t" l="l"/>
              <a:pathLst>
                <a:path h="673706" w="3819130">
                  <a:moveTo>
                    <a:pt x="27229" y="0"/>
                  </a:moveTo>
                  <a:lnTo>
                    <a:pt x="3791901" y="0"/>
                  </a:lnTo>
                  <a:cubicBezTo>
                    <a:pt x="3799123" y="0"/>
                    <a:pt x="3806049" y="2869"/>
                    <a:pt x="3811155" y="7975"/>
                  </a:cubicBezTo>
                  <a:cubicBezTo>
                    <a:pt x="3816261" y="13082"/>
                    <a:pt x="3819130" y="20007"/>
                    <a:pt x="3819130" y="27229"/>
                  </a:cubicBezTo>
                  <a:lnTo>
                    <a:pt x="3819130" y="646477"/>
                  </a:lnTo>
                  <a:cubicBezTo>
                    <a:pt x="3819130" y="661515"/>
                    <a:pt x="3806939" y="673706"/>
                    <a:pt x="3791901" y="673706"/>
                  </a:cubicBezTo>
                  <a:lnTo>
                    <a:pt x="27229" y="673706"/>
                  </a:lnTo>
                  <a:cubicBezTo>
                    <a:pt x="20007" y="673706"/>
                    <a:pt x="13082" y="670837"/>
                    <a:pt x="7975" y="665730"/>
                  </a:cubicBezTo>
                  <a:cubicBezTo>
                    <a:pt x="2869" y="660624"/>
                    <a:pt x="0" y="653698"/>
                    <a:pt x="0" y="646477"/>
                  </a:cubicBezTo>
                  <a:lnTo>
                    <a:pt x="0" y="27229"/>
                  </a:lnTo>
                  <a:cubicBezTo>
                    <a:pt x="0" y="12191"/>
                    <a:pt x="12191" y="0"/>
                    <a:pt x="27229" y="0"/>
                  </a:cubicBezTo>
                  <a:close/>
                </a:path>
              </a:pathLst>
            </a:custGeom>
            <a:solidFill>
              <a:srgbClr val="3A5A9A"/>
            </a:solidFill>
          </p:spPr>
        </p:sp>
        <p:sp>
          <p:nvSpPr>
            <p:cNvPr name="TextBox 12" id="12"/>
            <p:cNvSpPr txBox="true"/>
            <p:nvPr/>
          </p:nvSpPr>
          <p:spPr>
            <a:xfrm>
              <a:off x="0" y="-57150"/>
              <a:ext cx="3819130" cy="730856"/>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2044098" y="4110082"/>
            <a:ext cx="15954284" cy="2531825"/>
            <a:chOff x="0" y="0"/>
            <a:chExt cx="4201951" cy="666818"/>
          </a:xfrm>
        </p:grpSpPr>
        <p:sp>
          <p:nvSpPr>
            <p:cNvPr name="Freeform 14" id="14"/>
            <p:cNvSpPr/>
            <p:nvPr/>
          </p:nvSpPr>
          <p:spPr>
            <a:xfrm flipH="false" flipV="false" rot="0">
              <a:off x="0" y="0"/>
              <a:ext cx="4201951" cy="666818"/>
            </a:xfrm>
            <a:custGeom>
              <a:avLst/>
              <a:gdLst/>
              <a:ahLst/>
              <a:cxnLst/>
              <a:rect r="r" b="b" t="t" l="l"/>
              <a:pathLst>
                <a:path h="666818" w="4201951">
                  <a:moveTo>
                    <a:pt x="24748" y="0"/>
                  </a:moveTo>
                  <a:lnTo>
                    <a:pt x="4177203" y="0"/>
                  </a:lnTo>
                  <a:cubicBezTo>
                    <a:pt x="4190871" y="0"/>
                    <a:pt x="4201951" y="11080"/>
                    <a:pt x="4201951" y="24748"/>
                  </a:cubicBezTo>
                  <a:lnTo>
                    <a:pt x="4201951" y="642070"/>
                  </a:lnTo>
                  <a:cubicBezTo>
                    <a:pt x="4201951" y="655738"/>
                    <a:pt x="4190871" y="666818"/>
                    <a:pt x="4177203" y="666818"/>
                  </a:cubicBezTo>
                  <a:lnTo>
                    <a:pt x="24748" y="666818"/>
                  </a:lnTo>
                  <a:cubicBezTo>
                    <a:pt x="11080" y="666818"/>
                    <a:pt x="0" y="655738"/>
                    <a:pt x="0" y="642070"/>
                  </a:cubicBezTo>
                  <a:lnTo>
                    <a:pt x="0" y="24748"/>
                  </a:lnTo>
                  <a:cubicBezTo>
                    <a:pt x="0" y="11080"/>
                    <a:pt x="11080" y="0"/>
                    <a:pt x="24748" y="0"/>
                  </a:cubicBezTo>
                  <a:close/>
                </a:path>
              </a:pathLst>
            </a:custGeom>
            <a:solidFill>
              <a:srgbClr val="3A5A9A"/>
            </a:solidFill>
          </p:spPr>
        </p:sp>
        <p:sp>
          <p:nvSpPr>
            <p:cNvPr name="TextBox 15" id="15"/>
            <p:cNvSpPr txBox="true"/>
            <p:nvPr/>
          </p:nvSpPr>
          <p:spPr>
            <a:xfrm>
              <a:off x="0" y="-57150"/>
              <a:ext cx="4201951" cy="72396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6871401" y="0"/>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567091" y="8931134"/>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465210"/>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434891" y="-262518"/>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395665" y="3222503"/>
            <a:ext cx="3882413" cy="1348926"/>
          </a:xfrm>
          <a:custGeom>
            <a:avLst/>
            <a:gdLst/>
            <a:ahLst/>
            <a:cxnLst/>
            <a:rect r="r" b="b" t="t" l="l"/>
            <a:pathLst>
              <a:path h="1348926" w="3882413">
                <a:moveTo>
                  <a:pt x="0" y="0"/>
                </a:moveTo>
                <a:lnTo>
                  <a:pt x="3882413" y="0"/>
                </a:lnTo>
                <a:lnTo>
                  <a:pt x="3882413" y="1348925"/>
                </a:lnTo>
                <a:lnTo>
                  <a:pt x="0" y="1348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73533" y="6884809"/>
            <a:ext cx="14961359" cy="2609816"/>
            <a:chOff x="0" y="0"/>
            <a:chExt cx="3940440" cy="687359"/>
          </a:xfrm>
        </p:grpSpPr>
        <p:sp>
          <p:nvSpPr>
            <p:cNvPr name="Freeform 30" id="30"/>
            <p:cNvSpPr/>
            <p:nvPr/>
          </p:nvSpPr>
          <p:spPr>
            <a:xfrm flipH="false" flipV="false" rot="0">
              <a:off x="0" y="0"/>
              <a:ext cx="3940440" cy="687359"/>
            </a:xfrm>
            <a:custGeom>
              <a:avLst/>
              <a:gdLst/>
              <a:ahLst/>
              <a:cxnLst/>
              <a:rect r="r" b="b" t="t" l="l"/>
              <a:pathLst>
                <a:path h="687359" w="3940440">
                  <a:moveTo>
                    <a:pt x="26391" y="0"/>
                  </a:moveTo>
                  <a:lnTo>
                    <a:pt x="3914049" y="0"/>
                  </a:lnTo>
                  <a:cubicBezTo>
                    <a:pt x="3921049" y="0"/>
                    <a:pt x="3927761" y="2780"/>
                    <a:pt x="3932710" y="7730"/>
                  </a:cubicBezTo>
                  <a:cubicBezTo>
                    <a:pt x="3937660" y="12679"/>
                    <a:pt x="3940440" y="19391"/>
                    <a:pt x="3940440" y="26391"/>
                  </a:cubicBezTo>
                  <a:lnTo>
                    <a:pt x="3940440" y="660968"/>
                  </a:lnTo>
                  <a:cubicBezTo>
                    <a:pt x="3940440" y="667968"/>
                    <a:pt x="3937660" y="674680"/>
                    <a:pt x="3932710" y="679629"/>
                  </a:cubicBezTo>
                  <a:cubicBezTo>
                    <a:pt x="3927761" y="684578"/>
                    <a:pt x="3921049" y="687359"/>
                    <a:pt x="3914049" y="687359"/>
                  </a:cubicBezTo>
                  <a:lnTo>
                    <a:pt x="26391" y="687359"/>
                  </a:lnTo>
                  <a:cubicBezTo>
                    <a:pt x="19391" y="687359"/>
                    <a:pt x="12679" y="684578"/>
                    <a:pt x="7730" y="679629"/>
                  </a:cubicBezTo>
                  <a:cubicBezTo>
                    <a:pt x="2780" y="674680"/>
                    <a:pt x="0" y="667968"/>
                    <a:pt x="0" y="660968"/>
                  </a:cubicBezTo>
                  <a:lnTo>
                    <a:pt x="0" y="26391"/>
                  </a:lnTo>
                  <a:cubicBezTo>
                    <a:pt x="0" y="19391"/>
                    <a:pt x="2780" y="12679"/>
                    <a:pt x="7730" y="7730"/>
                  </a:cubicBezTo>
                  <a:cubicBezTo>
                    <a:pt x="12679" y="2780"/>
                    <a:pt x="19391" y="0"/>
                    <a:pt x="26391" y="0"/>
                  </a:cubicBezTo>
                  <a:close/>
                </a:path>
              </a:pathLst>
            </a:custGeom>
            <a:solidFill>
              <a:srgbClr val="3A5A9A"/>
            </a:solidFill>
          </p:spPr>
        </p:sp>
        <p:sp>
          <p:nvSpPr>
            <p:cNvPr name="TextBox 31" id="31"/>
            <p:cNvSpPr txBox="true"/>
            <p:nvPr/>
          </p:nvSpPr>
          <p:spPr>
            <a:xfrm>
              <a:off x="0" y="-57150"/>
              <a:ext cx="3940440" cy="744509"/>
            </a:xfrm>
            <a:prstGeom prst="rect">
              <a:avLst/>
            </a:prstGeom>
          </p:spPr>
          <p:txBody>
            <a:bodyPr anchor="ctr" rtlCol="false" tIns="50800" lIns="50800" bIns="50800" rIns="50800"/>
            <a:lstStyle/>
            <a:p>
              <a:pPr algn="ctr">
                <a:lnSpc>
                  <a:spcPts val="2940"/>
                </a:lnSpc>
              </a:pPr>
            </a:p>
          </p:txBody>
        </p:sp>
      </p:grpSp>
      <p:sp>
        <p:nvSpPr>
          <p:cNvPr name="Freeform 32" id="32"/>
          <p:cNvSpPr/>
          <p:nvPr/>
        </p:nvSpPr>
        <p:spPr>
          <a:xfrm flipH="false" flipV="false" rot="0">
            <a:off x="201076" y="6495478"/>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2473533" y="1164321"/>
            <a:ext cx="12165272" cy="2357021"/>
          </a:xfrm>
          <a:custGeom>
            <a:avLst/>
            <a:gdLst/>
            <a:ahLst/>
            <a:cxnLst/>
            <a:rect r="r" b="b" t="t" l="l"/>
            <a:pathLst>
              <a:path h="2357021" w="12165272">
                <a:moveTo>
                  <a:pt x="0" y="0"/>
                </a:moveTo>
                <a:lnTo>
                  <a:pt x="12165271" y="0"/>
                </a:lnTo>
                <a:lnTo>
                  <a:pt x="12165271" y="2357021"/>
                </a:lnTo>
                <a:lnTo>
                  <a:pt x="0" y="2357021"/>
                </a:lnTo>
                <a:lnTo>
                  <a:pt x="0" y="0"/>
                </a:lnTo>
                <a:close/>
              </a:path>
            </a:pathLst>
          </a:custGeom>
          <a:blipFill>
            <a:blip r:embed="rId12"/>
            <a:stretch>
              <a:fillRect l="0" t="0" r="0" b="0"/>
            </a:stretch>
          </a:blipFill>
        </p:spPr>
      </p:sp>
      <p:sp>
        <p:nvSpPr>
          <p:cNvPr name="Freeform 34" id="34"/>
          <p:cNvSpPr/>
          <p:nvPr/>
        </p:nvSpPr>
        <p:spPr>
          <a:xfrm flipH="false" flipV="false" rot="0">
            <a:off x="2617224" y="4288119"/>
            <a:ext cx="14505011" cy="2175752"/>
          </a:xfrm>
          <a:custGeom>
            <a:avLst/>
            <a:gdLst/>
            <a:ahLst/>
            <a:cxnLst/>
            <a:rect r="r" b="b" t="t" l="l"/>
            <a:pathLst>
              <a:path h="2175752" w="14505011">
                <a:moveTo>
                  <a:pt x="0" y="0"/>
                </a:moveTo>
                <a:lnTo>
                  <a:pt x="14505011" y="0"/>
                </a:lnTo>
                <a:lnTo>
                  <a:pt x="14505011" y="2175751"/>
                </a:lnTo>
                <a:lnTo>
                  <a:pt x="0" y="2175751"/>
                </a:lnTo>
                <a:lnTo>
                  <a:pt x="0" y="0"/>
                </a:lnTo>
                <a:close/>
              </a:path>
            </a:pathLst>
          </a:custGeom>
          <a:blipFill>
            <a:blip r:embed="rId13"/>
            <a:stretch>
              <a:fillRect l="0" t="0" r="0" b="0"/>
            </a:stretch>
          </a:blipFill>
        </p:spPr>
      </p:sp>
      <p:sp>
        <p:nvSpPr>
          <p:cNvPr name="Freeform 35" id="35"/>
          <p:cNvSpPr/>
          <p:nvPr/>
        </p:nvSpPr>
        <p:spPr>
          <a:xfrm flipH="false" flipV="false" rot="0">
            <a:off x="2724367" y="7292167"/>
            <a:ext cx="14397868" cy="1795098"/>
          </a:xfrm>
          <a:custGeom>
            <a:avLst/>
            <a:gdLst/>
            <a:ahLst/>
            <a:cxnLst/>
            <a:rect r="r" b="b" t="t" l="l"/>
            <a:pathLst>
              <a:path h="1795098" w="14397868">
                <a:moveTo>
                  <a:pt x="0" y="0"/>
                </a:moveTo>
                <a:lnTo>
                  <a:pt x="14397868" y="0"/>
                </a:lnTo>
                <a:lnTo>
                  <a:pt x="14397868" y="1795098"/>
                </a:lnTo>
                <a:lnTo>
                  <a:pt x="0" y="1795098"/>
                </a:lnTo>
                <a:lnTo>
                  <a:pt x="0" y="0"/>
                </a:lnTo>
                <a:close/>
              </a:path>
            </a:pathLst>
          </a:custGeom>
          <a:blipFill>
            <a:blip r:embed="rId14"/>
            <a:stretch>
              <a:fillRect l="0" t="0" r="-2827" b="0"/>
            </a:stretch>
          </a:blipFill>
        </p:spPr>
      </p:sp>
      <p:sp>
        <p:nvSpPr>
          <p:cNvPr name="TextBox 36" id="36"/>
          <p:cNvSpPr txBox="true"/>
          <p:nvPr/>
        </p:nvSpPr>
        <p:spPr>
          <a:xfrm rot="0">
            <a:off x="8184493" y="2373179"/>
            <a:ext cx="3313446" cy="291465"/>
          </a:xfrm>
          <a:prstGeom prst="rect">
            <a:avLst/>
          </a:prstGeom>
        </p:spPr>
        <p:txBody>
          <a:bodyPr anchor="t" rtlCol="false" tIns="0" lIns="0" bIns="0" rIns="0">
            <a:spAutoFit/>
          </a:bodyPr>
          <a:lstStyle/>
          <a:p>
            <a:pPr algn="ctr">
              <a:lnSpc>
                <a:spcPts val="2100"/>
              </a:lnSpc>
            </a:pPr>
            <a:r>
              <a:rPr lang="en-US" sz="2100" b="true">
                <a:solidFill>
                  <a:srgbClr val="FFFFFF"/>
                </a:solidFill>
                <a:latin typeface="DM Sans Bold"/>
                <a:ea typeface="DM Sans Bold"/>
                <a:cs typeface="DM Sans Bold"/>
                <a:sym typeface="DM Sans Bold"/>
              </a:rPr>
              <a:t>Scope of the System</a:t>
            </a:r>
          </a:p>
        </p:txBody>
      </p:sp>
      <p:sp>
        <p:nvSpPr>
          <p:cNvPr name="TextBox 37" id="37"/>
          <p:cNvSpPr txBox="true"/>
          <p:nvPr/>
        </p:nvSpPr>
        <p:spPr>
          <a:xfrm rot="0">
            <a:off x="676017" y="384061"/>
            <a:ext cx="5089257"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saving account product table </a:t>
            </a:r>
          </a:p>
        </p:txBody>
      </p:sp>
      <p:sp>
        <p:nvSpPr>
          <p:cNvPr name="TextBox 38" id="38"/>
          <p:cNvSpPr txBox="true"/>
          <p:nvPr/>
        </p:nvSpPr>
        <p:spPr>
          <a:xfrm rot="0">
            <a:off x="962476" y="3659275"/>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saving transaction</a:t>
            </a:r>
          </a:p>
        </p:txBody>
      </p:sp>
      <p:sp>
        <p:nvSpPr>
          <p:cNvPr name="TextBox 39" id="39"/>
          <p:cNvSpPr txBox="true"/>
          <p:nvPr/>
        </p:nvSpPr>
        <p:spPr>
          <a:xfrm rot="0">
            <a:off x="533042" y="6794307"/>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loan transaction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017" y="-52712"/>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8126" y="-346986"/>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395665" y="1420039"/>
            <a:ext cx="10574281" cy="136419"/>
            <a:chOff x="0" y="0"/>
            <a:chExt cx="2784996" cy="35929"/>
          </a:xfrm>
        </p:grpSpPr>
        <p:sp>
          <p:nvSpPr>
            <p:cNvPr name="Freeform 8" id="8"/>
            <p:cNvSpPr/>
            <p:nvPr/>
          </p:nvSpPr>
          <p:spPr>
            <a:xfrm flipH="false" flipV="false" rot="0">
              <a:off x="0" y="0"/>
              <a:ext cx="2784996" cy="35929"/>
            </a:xfrm>
            <a:custGeom>
              <a:avLst/>
              <a:gdLst/>
              <a:ahLst/>
              <a:cxnLst/>
              <a:rect r="r" b="b" t="t" l="l"/>
              <a:pathLst>
                <a:path h="35929" w="2784996">
                  <a:moveTo>
                    <a:pt x="17965" y="0"/>
                  </a:moveTo>
                  <a:lnTo>
                    <a:pt x="2767031" y="0"/>
                  </a:lnTo>
                  <a:cubicBezTo>
                    <a:pt x="2771796" y="0"/>
                    <a:pt x="2776365" y="1893"/>
                    <a:pt x="2779734" y="5262"/>
                  </a:cubicBezTo>
                  <a:cubicBezTo>
                    <a:pt x="2783103" y="8631"/>
                    <a:pt x="2784996" y="13200"/>
                    <a:pt x="2784996" y="17965"/>
                  </a:cubicBezTo>
                  <a:lnTo>
                    <a:pt x="2784996" y="17965"/>
                  </a:lnTo>
                  <a:cubicBezTo>
                    <a:pt x="2784996" y="27886"/>
                    <a:pt x="2776953" y="35929"/>
                    <a:pt x="2767031" y="35929"/>
                  </a:cubicBezTo>
                  <a:lnTo>
                    <a:pt x="17965" y="35929"/>
                  </a:lnTo>
                  <a:cubicBezTo>
                    <a:pt x="8043" y="35929"/>
                    <a:pt x="0" y="27886"/>
                    <a:pt x="0" y="17965"/>
                  </a:cubicBezTo>
                  <a:lnTo>
                    <a:pt x="0" y="17965"/>
                  </a:lnTo>
                  <a:cubicBezTo>
                    <a:pt x="0" y="8043"/>
                    <a:pt x="8043" y="0"/>
                    <a:pt x="17965" y="0"/>
                  </a:cubicBezTo>
                  <a:close/>
                </a:path>
              </a:pathLst>
            </a:custGeom>
            <a:solidFill>
              <a:srgbClr val="3A5A9A"/>
            </a:solidFill>
          </p:spPr>
        </p:sp>
        <p:sp>
          <p:nvSpPr>
            <p:cNvPr name="TextBox 9" id="9"/>
            <p:cNvSpPr txBox="true"/>
            <p:nvPr/>
          </p:nvSpPr>
          <p:spPr>
            <a:xfrm>
              <a:off x="0" y="-57150"/>
              <a:ext cx="2784996" cy="9307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142283" y="1065616"/>
            <a:ext cx="14500760" cy="2557976"/>
            <a:chOff x="0" y="0"/>
            <a:chExt cx="3819130" cy="673706"/>
          </a:xfrm>
        </p:grpSpPr>
        <p:sp>
          <p:nvSpPr>
            <p:cNvPr name="Freeform 11" id="11"/>
            <p:cNvSpPr/>
            <p:nvPr/>
          </p:nvSpPr>
          <p:spPr>
            <a:xfrm flipH="false" flipV="false" rot="0">
              <a:off x="0" y="0"/>
              <a:ext cx="3819130" cy="673706"/>
            </a:xfrm>
            <a:custGeom>
              <a:avLst/>
              <a:gdLst/>
              <a:ahLst/>
              <a:cxnLst/>
              <a:rect r="r" b="b" t="t" l="l"/>
              <a:pathLst>
                <a:path h="673706" w="3819130">
                  <a:moveTo>
                    <a:pt x="27229" y="0"/>
                  </a:moveTo>
                  <a:lnTo>
                    <a:pt x="3791901" y="0"/>
                  </a:lnTo>
                  <a:cubicBezTo>
                    <a:pt x="3799123" y="0"/>
                    <a:pt x="3806049" y="2869"/>
                    <a:pt x="3811155" y="7975"/>
                  </a:cubicBezTo>
                  <a:cubicBezTo>
                    <a:pt x="3816261" y="13082"/>
                    <a:pt x="3819130" y="20007"/>
                    <a:pt x="3819130" y="27229"/>
                  </a:cubicBezTo>
                  <a:lnTo>
                    <a:pt x="3819130" y="646477"/>
                  </a:lnTo>
                  <a:cubicBezTo>
                    <a:pt x="3819130" y="661515"/>
                    <a:pt x="3806939" y="673706"/>
                    <a:pt x="3791901" y="673706"/>
                  </a:cubicBezTo>
                  <a:lnTo>
                    <a:pt x="27229" y="673706"/>
                  </a:lnTo>
                  <a:cubicBezTo>
                    <a:pt x="20007" y="673706"/>
                    <a:pt x="13082" y="670837"/>
                    <a:pt x="7975" y="665730"/>
                  </a:cubicBezTo>
                  <a:cubicBezTo>
                    <a:pt x="2869" y="660624"/>
                    <a:pt x="0" y="653698"/>
                    <a:pt x="0" y="646477"/>
                  </a:cubicBezTo>
                  <a:lnTo>
                    <a:pt x="0" y="27229"/>
                  </a:lnTo>
                  <a:cubicBezTo>
                    <a:pt x="0" y="12191"/>
                    <a:pt x="12191" y="0"/>
                    <a:pt x="27229" y="0"/>
                  </a:cubicBezTo>
                  <a:close/>
                </a:path>
              </a:pathLst>
            </a:custGeom>
            <a:solidFill>
              <a:srgbClr val="3A5A9A"/>
            </a:solidFill>
          </p:spPr>
        </p:sp>
        <p:sp>
          <p:nvSpPr>
            <p:cNvPr name="TextBox 12" id="12"/>
            <p:cNvSpPr txBox="true"/>
            <p:nvPr/>
          </p:nvSpPr>
          <p:spPr>
            <a:xfrm>
              <a:off x="0" y="-57150"/>
              <a:ext cx="3819130" cy="730856"/>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2044098" y="4110082"/>
            <a:ext cx="15954284" cy="2531825"/>
            <a:chOff x="0" y="0"/>
            <a:chExt cx="4201951" cy="666818"/>
          </a:xfrm>
        </p:grpSpPr>
        <p:sp>
          <p:nvSpPr>
            <p:cNvPr name="Freeform 14" id="14"/>
            <p:cNvSpPr/>
            <p:nvPr/>
          </p:nvSpPr>
          <p:spPr>
            <a:xfrm flipH="false" flipV="false" rot="0">
              <a:off x="0" y="0"/>
              <a:ext cx="4201951" cy="666818"/>
            </a:xfrm>
            <a:custGeom>
              <a:avLst/>
              <a:gdLst/>
              <a:ahLst/>
              <a:cxnLst/>
              <a:rect r="r" b="b" t="t" l="l"/>
              <a:pathLst>
                <a:path h="666818" w="4201951">
                  <a:moveTo>
                    <a:pt x="24748" y="0"/>
                  </a:moveTo>
                  <a:lnTo>
                    <a:pt x="4177203" y="0"/>
                  </a:lnTo>
                  <a:cubicBezTo>
                    <a:pt x="4190871" y="0"/>
                    <a:pt x="4201951" y="11080"/>
                    <a:pt x="4201951" y="24748"/>
                  </a:cubicBezTo>
                  <a:lnTo>
                    <a:pt x="4201951" y="642070"/>
                  </a:lnTo>
                  <a:cubicBezTo>
                    <a:pt x="4201951" y="655738"/>
                    <a:pt x="4190871" y="666818"/>
                    <a:pt x="4177203" y="666818"/>
                  </a:cubicBezTo>
                  <a:lnTo>
                    <a:pt x="24748" y="666818"/>
                  </a:lnTo>
                  <a:cubicBezTo>
                    <a:pt x="11080" y="666818"/>
                    <a:pt x="0" y="655738"/>
                    <a:pt x="0" y="642070"/>
                  </a:cubicBezTo>
                  <a:lnTo>
                    <a:pt x="0" y="24748"/>
                  </a:lnTo>
                  <a:cubicBezTo>
                    <a:pt x="0" y="11080"/>
                    <a:pt x="11080" y="0"/>
                    <a:pt x="24748" y="0"/>
                  </a:cubicBezTo>
                  <a:close/>
                </a:path>
              </a:pathLst>
            </a:custGeom>
            <a:solidFill>
              <a:srgbClr val="3A5A9A"/>
            </a:solidFill>
          </p:spPr>
        </p:sp>
        <p:sp>
          <p:nvSpPr>
            <p:cNvPr name="TextBox 15" id="15"/>
            <p:cNvSpPr txBox="true"/>
            <p:nvPr/>
          </p:nvSpPr>
          <p:spPr>
            <a:xfrm>
              <a:off x="0" y="-57150"/>
              <a:ext cx="4201951" cy="72396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6871401" y="0"/>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567091" y="8931134"/>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465210"/>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434891" y="-262518"/>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395665" y="3222503"/>
            <a:ext cx="3882413" cy="1348926"/>
          </a:xfrm>
          <a:custGeom>
            <a:avLst/>
            <a:gdLst/>
            <a:ahLst/>
            <a:cxnLst/>
            <a:rect r="r" b="b" t="t" l="l"/>
            <a:pathLst>
              <a:path h="1348926" w="3882413">
                <a:moveTo>
                  <a:pt x="0" y="0"/>
                </a:moveTo>
                <a:lnTo>
                  <a:pt x="3882413" y="0"/>
                </a:lnTo>
                <a:lnTo>
                  <a:pt x="3882413" y="1348925"/>
                </a:lnTo>
                <a:lnTo>
                  <a:pt x="0" y="1348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73533" y="6884809"/>
            <a:ext cx="14961359" cy="2609816"/>
            <a:chOff x="0" y="0"/>
            <a:chExt cx="3940440" cy="687359"/>
          </a:xfrm>
        </p:grpSpPr>
        <p:sp>
          <p:nvSpPr>
            <p:cNvPr name="Freeform 30" id="30"/>
            <p:cNvSpPr/>
            <p:nvPr/>
          </p:nvSpPr>
          <p:spPr>
            <a:xfrm flipH="false" flipV="false" rot="0">
              <a:off x="0" y="0"/>
              <a:ext cx="3940440" cy="687359"/>
            </a:xfrm>
            <a:custGeom>
              <a:avLst/>
              <a:gdLst/>
              <a:ahLst/>
              <a:cxnLst/>
              <a:rect r="r" b="b" t="t" l="l"/>
              <a:pathLst>
                <a:path h="687359" w="3940440">
                  <a:moveTo>
                    <a:pt x="26391" y="0"/>
                  </a:moveTo>
                  <a:lnTo>
                    <a:pt x="3914049" y="0"/>
                  </a:lnTo>
                  <a:cubicBezTo>
                    <a:pt x="3921049" y="0"/>
                    <a:pt x="3927761" y="2780"/>
                    <a:pt x="3932710" y="7730"/>
                  </a:cubicBezTo>
                  <a:cubicBezTo>
                    <a:pt x="3937660" y="12679"/>
                    <a:pt x="3940440" y="19391"/>
                    <a:pt x="3940440" y="26391"/>
                  </a:cubicBezTo>
                  <a:lnTo>
                    <a:pt x="3940440" y="660968"/>
                  </a:lnTo>
                  <a:cubicBezTo>
                    <a:pt x="3940440" y="667968"/>
                    <a:pt x="3937660" y="674680"/>
                    <a:pt x="3932710" y="679629"/>
                  </a:cubicBezTo>
                  <a:cubicBezTo>
                    <a:pt x="3927761" y="684578"/>
                    <a:pt x="3921049" y="687359"/>
                    <a:pt x="3914049" y="687359"/>
                  </a:cubicBezTo>
                  <a:lnTo>
                    <a:pt x="26391" y="687359"/>
                  </a:lnTo>
                  <a:cubicBezTo>
                    <a:pt x="19391" y="687359"/>
                    <a:pt x="12679" y="684578"/>
                    <a:pt x="7730" y="679629"/>
                  </a:cubicBezTo>
                  <a:cubicBezTo>
                    <a:pt x="2780" y="674680"/>
                    <a:pt x="0" y="667968"/>
                    <a:pt x="0" y="660968"/>
                  </a:cubicBezTo>
                  <a:lnTo>
                    <a:pt x="0" y="26391"/>
                  </a:lnTo>
                  <a:cubicBezTo>
                    <a:pt x="0" y="19391"/>
                    <a:pt x="2780" y="12679"/>
                    <a:pt x="7730" y="7730"/>
                  </a:cubicBezTo>
                  <a:cubicBezTo>
                    <a:pt x="12679" y="2780"/>
                    <a:pt x="19391" y="0"/>
                    <a:pt x="26391" y="0"/>
                  </a:cubicBezTo>
                  <a:close/>
                </a:path>
              </a:pathLst>
            </a:custGeom>
            <a:solidFill>
              <a:srgbClr val="3A5A9A"/>
            </a:solidFill>
          </p:spPr>
        </p:sp>
        <p:sp>
          <p:nvSpPr>
            <p:cNvPr name="TextBox 31" id="31"/>
            <p:cNvSpPr txBox="true"/>
            <p:nvPr/>
          </p:nvSpPr>
          <p:spPr>
            <a:xfrm>
              <a:off x="0" y="-57150"/>
              <a:ext cx="3940440" cy="744509"/>
            </a:xfrm>
            <a:prstGeom prst="rect">
              <a:avLst/>
            </a:prstGeom>
          </p:spPr>
          <p:txBody>
            <a:bodyPr anchor="ctr" rtlCol="false" tIns="50800" lIns="50800" bIns="50800" rIns="50800"/>
            <a:lstStyle/>
            <a:p>
              <a:pPr algn="ctr">
                <a:lnSpc>
                  <a:spcPts val="2940"/>
                </a:lnSpc>
              </a:pPr>
            </a:p>
          </p:txBody>
        </p:sp>
      </p:grpSp>
      <p:sp>
        <p:nvSpPr>
          <p:cNvPr name="Freeform 32" id="32"/>
          <p:cNvSpPr/>
          <p:nvPr/>
        </p:nvSpPr>
        <p:spPr>
          <a:xfrm flipH="false" flipV="false" rot="0">
            <a:off x="201076" y="6495478"/>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3555154" y="1126981"/>
            <a:ext cx="6678147" cy="2379894"/>
          </a:xfrm>
          <a:custGeom>
            <a:avLst/>
            <a:gdLst/>
            <a:ahLst/>
            <a:cxnLst/>
            <a:rect r="r" b="b" t="t" l="l"/>
            <a:pathLst>
              <a:path h="2379894" w="6678147">
                <a:moveTo>
                  <a:pt x="0" y="0"/>
                </a:moveTo>
                <a:lnTo>
                  <a:pt x="6678147" y="0"/>
                </a:lnTo>
                <a:lnTo>
                  <a:pt x="6678147" y="2379894"/>
                </a:lnTo>
                <a:lnTo>
                  <a:pt x="0" y="2379894"/>
                </a:lnTo>
                <a:lnTo>
                  <a:pt x="0" y="0"/>
                </a:lnTo>
                <a:close/>
              </a:path>
            </a:pathLst>
          </a:custGeom>
          <a:blipFill>
            <a:blip r:embed="rId12"/>
            <a:stretch>
              <a:fillRect l="0" t="-834" r="0" b="-834"/>
            </a:stretch>
          </a:blipFill>
        </p:spPr>
      </p:sp>
      <p:sp>
        <p:nvSpPr>
          <p:cNvPr name="Freeform 34" id="34"/>
          <p:cNvSpPr/>
          <p:nvPr/>
        </p:nvSpPr>
        <p:spPr>
          <a:xfrm flipH="false" flipV="false" rot="0">
            <a:off x="2724367" y="4253598"/>
            <a:ext cx="14397868" cy="2241881"/>
          </a:xfrm>
          <a:custGeom>
            <a:avLst/>
            <a:gdLst/>
            <a:ahLst/>
            <a:cxnLst/>
            <a:rect r="r" b="b" t="t" l="l"/>
            <a:pathLst>
              <a:path h="2241881" w="14397868">
                <a:moveTo>
                  <a:pt x="0" y="0"/>
                </a:moveTo>
                <a:lnTo>
                  <a:pt x="14397868" y="0"/>
                </a:lnTo>
                <a:lnTo>
                  <a:pt x="14397868" y="2241880"/>
                </a:lnTo>
                <a:lnTo>
                  <a:pt x="0" y="2241880"/>
                </a:lnTo>
                <a:lnTo>
                  <a:pt x="0" y="0"/>
                </a:lnTo>
                <a:close/>
              </a:path>
            </a:pathLst>
          </a:custGeom>
          <a:blipFill>
            <a:blip r:embed="rId13"/>
            <a:stretch>
              <a:fillRect l="0" t="-1779" r="0" b="-1779"/>
            </a:stretch>
          </a:blipFill>
        </p:spPr>
      </p:sp>
      <p:sp>
        <p:nvSpPr>
          <p:cNvPr name="Freeform 35" id="35"/>
          <p:cNvSpPr/>
          <p:nvPr/>
        </p:nvSpPr>
        <p:spPr>
          <a:xfrm flipH="false" flipV="false" rot="0">
            <a:off x="3086579" y="7127682"/>
            <a:ext cx="14035656" cy="1894814"/>
          </a:xfrm>
          <a:custGeom>
            <a:avLst/>
            <a:gdLst/>
            <a:ahLst/>
            <a:cxnLst/>
            <a:rect r="r" b="b" t="t" l="l"/>
            <a:pathLst>
              <a:path h="1894814" w="14035656">
                <a:moveTo>
                  <a:pt x="0" y="0"/>
                </a:moveTo>
                <a:lnTo>
                  <a:pt x="14035656" y="0"/>
                </a:lnTo>
                <a:lnTo>
                  <a:pt x="14035656" y="1894814"/>
                </a:lnTo>
                <a:lnTo>
                  <a:pt x="0" y="1894814"/>
                </a:lnTo>
                <a:lnTo>
                  <a:pt x="0" y="0"/>
                </a:lnTo>
                <a:close/>
              </a:path>
            </a:pathLst>
          </a:custGeom>
          <a:blipFill>
            <a:blip r:embed="rId14"/>
            <a:stretch>
              <a:fillRect l="0" t="0" r="0" b="0"/>
            </a:stretch>
          </a:blipFill>
        </p:spPr>
      </p:sp>
      <p:sp>
        <p:nvSpPr>
          <p:cNvPr name="TextBox 36" id="36"/>
          <p:cNvSpPr txBox="true"/>
          <p:nvPr/>
        </p:nvSpPr>
        <p:spPr>
          <a:xfrm rot="0">
            <a:off x="1538860" y="384061"/>
            <a:ext cx="5089257"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Guaranty table </a:t>
            </a:r>
          </a:p>
        </p:txBody>
      </p:sp>
      <p:sp>
        <p:nvSpPr>
          <p:cNvPr name="TextBox 37" id="37"/>
          <p:cNvSpPr txBox="true"/>
          <p:nvPr/>
        </p:nvSpPr>
        <p:spPr>
          <a:xfrm rot="0">
            <a:off x="1803882" y="3659275"/>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Collaterial table </a:t>
            </a:r>
          </a:p>
        </p:txBody>
      </p:sp>
      <p:sp>
        <p:nvSpPr>
          <p:cNvPr name="TextBox 38" id="38"/>
          <p:cNvSpPr txBox="true"/>
          <p:nvPr/>
        </p:nvSpPr>
        <p:spPr>
          <a:xfrm rot="0">
            <a:off x="1255965" y="6851457"/>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Audit table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6017" y="-52712"/>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48657" y="2221349"/>
            <a:ext cx="417651" cy="454268"/>
          </a:xfrm>
          <a:custGeom>
            <a:avLst/>
            <a:gdLst/>
            <a:ahLst/>
            <a:cxnLst/>
            <a:rect r="r" b="b" t="t" l="l"/>
            <a:pathLst>
              <a:path h="454268" w="417651">
                <a:moveTo>
                  <a:pt x="0" y="0"/>
                </a:moveTo>
                <a:lnTo>
                  <a:pt x="417651" y="0"/>
                </a:lnTo>
                <a:lnTo>
                  <a:pt x="417651" y="454268"/>
                </a:lnTo>
                <a:lnTo>
                  <a:pt x="0" y="454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8126" y="-346986"/>
            <a:ext cx="2904997" cy="1728925"/>
          </a:xfrm>
          <a:custGeom>
            <a:avLst/>
            <a:gdLst/>
            <a:ahLst/>
            <a:cxnLst/>
            <a:rect r="r" b="b" t="t" l="l"/>
            <a:pathLst>
              <a:path h="1728925" w="2904997">
                <a:moveTo>
                  <a:pt x="0" y="0"/>
                </a:moveTo>
                <a:lnTo>
                  <a:pt x="2904997" y="0"/>
                </a:lnTo>
                <a:lnTo>
                  <a:pt x="2904997" y="1728925"/>
                </a:lnTo>
                <a:lnTo>
                  <a:pt x="0" y="17289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41757" y="8543543"/>
            <a:ext cx="2846243" cy="1733621"/>
          </a:xfrm>
          <a:custGeom>
            <a:avLst/>
            <a:gdLst/>
            <a:ahLst/>
            <a:cxnLst/>
            <a:rect r="r" b="b" t="t" l="l"/>
            <a:pathLst>
              <a:path h="1733621" w="2846243">
                <a:moveTo>
                  <a:pt x="0" y="0"/>
                </a:moveTo>
                <a:lnTo>
                  <a:pt x="2846243" y="0"/>
                </a:lnTo>
                <a:lnTo>
                  <a:pt x="2846243" y="1733620"/>
                </a:lnTo>
                <a:lnTo>
                  <a:pt x="0" y="17336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535360" y="4110082"/>
            <a:ext cx="520995" cy="520995"/>
          </a:xfrm>
          <a:custGeom>
            <a:avLst/>
            <a:gdLst/>
            <a:ahLst/>
            <a:cxnLst/>
            <a:rect r="r" b="b" t="t" l="l"/>
            <a:pathLst>
              <a:path h="520995" w="520995">
                <a:moveTo>
                  <a:pt x="0" y="0"/>
                </a:moveTo>
                <a:lnTo>
                  <a:pt x="520994" y="0"/>
                </a:lnTo>
                <a:lnTo>
                  <a:pt x="520994" y="520995"/>
                </a:lnTo>
                <a:lnTo>
                  <a:pt x="0" y="520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395665" y="1420039"/>
            <a:ext cx="10574281" cy="136419"/>
            <a:chOff x="0" y="0"/>
            <a:chExt cx="2784996" cy="35929"/>
          </a:xfrm>
        </p:grpSpPr>
        <p:sp>
          <p:nvSpPr>
            <p:cNvPr name="Freeform 8" id="8"/>
            <p:cNvSpPr/>
            <p:nvPr/>
          </p:nvSpPr>
          <p:spPr>
            <a:xfrm flipH="false" flipV="false" rot="0">
              <a:off x="0" y="0"/>
              <a:ext cx="2784996" cy="35929"/>
            </a:xfrm>
            <a:custGeom>
              <a:avLst/>
              <a:gdLst/>
              <a:ahLst/>
              <a:cxnLst/>
              <a:rect r="r" b="b" t="t" l="l"/>
              <a:pathLst>
                <a:path h="35929" w="2784996">
                  <a:moveTo>
                    <a:pt x="17965" y="0"/>
                  </a:moveTo>
                  <a:lnTo>
                    <a:pt x="2767031" y="0"/>
                  </a:lnTo>
                  <a:cubicBezTo>
                    <a:pt x="2771796" y="0"/>
                    <a:pt x="2776365" y="1893"/>
                    <a:pt x="2779734" y="5262"/>
                  </a:cubicBezTo>
                  <a:cubicBezTo>
                    <a:pt x="2783103" y="8631"/>
                    <a:pt x="2784996" y="13200"/>
                    <a:pt x="2784996" y="17965"/>
                  </a:cubicBezTo>
                  <a:lnTo>
                    <a:pt x="2784996" y="17965"/>
                  </a:lnTo>
                  <a:cubicBezTo>
                    <a:pt x="2784996" y="27886"/>
                    <a:pt x="2776953" y="35929"/>
                    <a:pt x="2767031" y="35929"/>
                  </a:cubicBezTo>
                  <a:lnTo>
                    <a:pt x="17965" y="35929"/>
                  </a:lnTo>
                  <a:cubicBezTo>
                    <a:pt x="8043" y="35929"/>
                    <a:pt x="0" y="27886"/>
                    <a:pt x="0" y="17965"/>
                  </a:cubicBezTo>
                  <a:lnTo>
                    <a:pt x="0" y="17965"/>
                  </a:lnTo>
                  <a:cubicBezTo>
                    <a:pt x="0" y="8043"/>
                    <a:pt x="8043" y="0"/>
                    <a:pt x="17965" y="0"/>
                  </a:cubicBezTo>
                  <a:close/>
                </a:path>
              </a:pathLst>
            </a:custGeom>
            <a:solidFill>
              <a:srgbClr val="3A5A9A"/>
            </a:solidFill>
          </p:spPr>
        </p:sp>
        <p:sp>
          <p:nvSpPr>
            <p:cNvPr name="TextBox 9" id="9"/>
            <p:cNvSpPr txBox="true"/>
            <p:nvPr/>
          </p:nvSpPr>
          <p:spPr>
            <a:xfrm>
              <a:off x="0" y="-57150"/>
              <a:ext cx="2784996" cy="9307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2142283" y="1065616"/>
            <a:ext cx="14500760" cy="2557976"/>
            <a:chOff x="0" y="0"/>
            <a:chExt cx="3819130" cy="673706"/>
          </a:xfrm>
        </p:grpSpPr>
        <p:sp>
          <p:nvSpPr>
            <p:cNvPr name="Freeform 11" id="11"/>
            <p:cNvSpPr/>
            <p:nvPr/>
          </p:nvSpPr>
          <p:spPr>
            <a:xfrm flipH="false" flipV="false" rot="0">
              <a:off x="0" y="0"/>
              <a:ext cx="3819130" cy="673706"/>
            </a:xfrm>
            <a:custGeom>
              <a:avLst/>
              <a:gdLst/>
              <a:ahLst/>
              <a:cxnLst/>
              <a:rect r="r" b="b" t="t" l="l"/>
              <a:pathLst>
                <a:path h="673706" w="3819130">
                  <a:moveTo>
                    <a:pt x="27229" y="0"/>
                  </a:moveTo>
                  <a:lnTo>
                    <a:pt x="3791901" y="0"/>
                  </a:lnTo>
                  <a:cubicBezTo>
                    <a:pt x="3799123" y="0"/>
                    <a:pt x="3806049" y="2869"/>
                    <a:pt x="3811155" y="7975"/>
                  </a:cubicBezTo>
                  <a:cubicBezTo>
                    <a:pt x="3816261" y="13082"/>
                    <a:pt x="3819130" y="20007"/>
                    <a:pt x="3819130" y="27229"/>
                  </a:cubicBezTo>
                  <a:lnTo>
                    <a:pt x="3819130" y="646477"/>
                  </a:lnTo>
                  <a:cubicBezTo>
                    <a:pt x="3819130" y="661515"/>
                    <a:pt x="3806939" y="673706"/>
                    <a:pt x="3791901" y="673706"/>
                  </a:cubicBezTo>
                  <a:lnTo>
                    <a:pt x="27229" y="673706"/>
                  </a:lnTo>
                  <a:cubicBezTo>
                    <a:pt x="20007" y="673706"/>
                    <a:pt x="13082" y="670837"/>
                    <a:pt x="7975" y="665730"/>
                  </a:cubicBezTo>
                  <a:cubicBezTo>
                    <a:pt x="2869" y="660624"/>
                    <a:pt x="0" y="653698"/>
                    <a:pt x="0" y="646477"/>
                  </a:cubicBezTo>
                  <a:lnTo>
                    <a:pt x="0" y="27229"/>
                  </a:lnTo>
                  <a:cubicBezTo>
                    <a:pt x="0" y="12191"/>
                    <a:pt x="12191" y="0"/>
                    <a:pt x="27229" y="0"/>
                  </a:cubicBezTo>
                  <a:close/>
                </a:path>
              </a:pathLst>
            </a:custGeom>
            <a:solidFill>
              <a:srgbClr val="3A5A9A"/>
            </a:solidFill>
          </p:spPr>
        </p:sp>
        <p:sp>
          <p:nvSpPr>
            <p:cNvPr name="TextBox 12" id="12"/>
            <p:cNvSpPr txBox="true"/>
            <p:nvPr/>
          </p:nvSpPr>
          <p:spPr>
            <a:xfrm>
              <a:off x="0" y="-57150"/>
              <a:ext cx="3819130" cy="730856"/>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2044098" y="4110082"/>
            <a:ext cx="15954284" cy="2531825"/>
            <a:chOff x="0" y="0"/>
            <a:chExt cx="4201951" cy="666818"/>
          </a:xfrm>
        </p:grpSpPr>
        <p:sp>
          <p:nvSpPr>
            <p:cNvPr name="Freeform 14" id="14"/>
            <p:cNvSpPr/>
            <p:nvPr/>
          </p:nvSpPr>
          <p:spPr>
            <a:xfrm flipH="false" flipV="false" rot="0">
              <a:off x="0" y="0"/>
              <a:ext cx="4201951" cy="666818"/>
            </a:xfrm>
            <a:custGeom>
              <a:avLst/>
              <a:gdLst/>
              <a:ahLst/>
              <a:cxnLst/>
              <a:rect r="r" b="b" t="t" l="l"/>
              <a:pathLst>
                <a:path h="666818" w="4201951">
                  <a:moveTo>
                    <a:pt x="24748" y="0"/>
                  </a:moveTo>
                  <a:lnTo>
                    <a:pt x="4177203" y="0"/>
                  </a:lnTo>
                  <a:cubicBezTo>
                    <a:pt x="4190871" y="0"/>
                    <a:pt x="4201951" y="11080"/>
                    <a:pt x="4201951" y="24748"/>
                  </a:cubicBezTo>
                  <a:lnTo>
                    <a:pt x="4201951" y="642070"/>
                  </a:lnTo>
                  <a:cubicBezTo>
                    <a:pt x="4201951" y="655738"/>
                    <a:pt x="4190871" y="666818"/>
                    <a:pt x="4177203" y="666818"/>
                  </a:cubicBezTo>
                  <a:lnTo>
                    <a:pt x="24748" y="666818"/>
                  </a:lnTo>
                  <a:cubicBezTo>
                    <a:pt x="11080" y="666818"/>
                    <a:pt x="0" y="655738"/>
                    <a:pt x="0" y="642070"/>
                  </a:cubicBezTo>
                  <a:lnTo>
                    <a:pt x="0" y="24748"/>
                  </a:lnTo>
                  <a:cubicBezTo>
                    <a:pt x="0" y="11080"/>
                    <a:pt x="11080" y="0"/>
                    <a:pt x="24748" y="0"/>
                  </a:cubicBezTo>
                  <a:close/>
                </a:path>
              </a:pathLst>
            </a:custGeom>
            <a:solidFill>
              <a:srgbClr val="3A5A9A"/>
            </a:solidFill>
          </p:spPr>
        </p:sp>
        <p:sp>
          <p:nvSpPr>
            <p:cNvPr name="TextBox 15" id="15"/>
            <p:cNvSpPr txBox="true"/>
            <p:nvPr/>
          </p:nvSpPr>
          <p:spPr>
            <a:xfrm>
              <a:off x="0" y="-57150"/>
              <a:ext cx="4201951" cy="72396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6871401" y="0"/>
            <a:ext cx="1126981" cy="112698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567091" y="8931134"/>
            <a:ext cx="1126981" cy="11269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7434891" y="465210"/>
            <a:ext cx="1126981" cy="112698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7434891" y="-262518"/>
            <a:ext cx="1126981" cy="11269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395665" y="3222503"/>
            <a:ext cx="3882413" cy="1348926"/>
          </a:xfrm>
          <a:custGeom>
            <a:avLst/>
            <a:gdLst/>
            <a:ahLst/>
            <a:cxnLst/>
            <a:rect r="r" b="b" t="t" l="l"/>
            <a:pathLst>
              <a:path h="1348926" w="3882413">
                <a:moveTo>
                  <a:pt x="0" y="0"/>
                </a:moveTo>
                <a:lnTo>
                  <a:pt x="3882413" y="0"/>
                </a:lnTo>
                <a:lnTo>
                  <a:pt x="3882413" y="1348925"/>
                </a:lnTo>
                <a:lnTo>
                  <a:pt x="0" y="1348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2473533" y="6884809"/>
            <a:ext cx="14961359" cy="2609816"/>
            <a:chOff x="0" y="0"/>
            <a:chExt cx="3940440" cy="687359"/>
          </a:xfrm>
        </p:grpSpPr>
        <p:sp>
          <p:nvSpPr>
            <p:cNvPr name="Freeform 30" id="30"/>
            <p:cNvSpPr/>
            <p:nvPr/>
          </p:nvSpPr>
          <p:spPr>
            <a:xfrm flipH="false" flipV="false" rot="0">
              <a:off x="0" y="0"/>
              <a:ext cx="3940440" cy="687359"/>
            </a:xfrm>
            <a:custGeom>
              <a:avLst/>
              <a:gdLst/>
              <a:ahLst/>
              <a:cxnLst/>
              <a:rect r="r" b="b" t="t" l="l"/>
              <a:pathLst>
                <a:path h="687359" w="3940440">
                  <a:moveTo>
                    <a:pt x="26391" y="0"/>
                  </a:moveTo>
                  <a:lnTo>
                    <a:pt x="3914049" y="0"/>
                  </a:lnTo>
                  <a:cubicBezTo>
                    <a:pt x="3921049" y="0"/>
                    <a:pt x="3927761" y="2780"/>
                    <a:pt x="3932710" y="7730"/>
                  </a:cubicBezTo>
                  <a:cubicBezTo>
                    <a:pt x="3937660" y="12679"/>
                    <a:pt x="3940440" y="19391"/>
                    <a:pt x="3940440" y="26391"/>
                  </a:cubicBezTo>
                  <a:lnTo>
                    <a:pt x="3940440" y="660968"/>
                  </a:lnTo>
                  <a:cubicBezTo>
                    <a:pt x="3940440" y="667968"/>
                    <a:pt x="3937660" y="674680"/>
                    <a:pt x="3932710" y="679629"/>
                  </a:cubicBezTo>
                  <a:cubicBezTo>
                    <a:pt x="3927761" y="684578"/>
                    <a:pt x="3921049" y="687359"/>
                    <a:pt x="3914049" y="687359"/>
                  </a:cubicBezTo>
                  <a:lnTo>
                    <a:pt x="26391" y="687359"/>
                  </a:lnTo>
                  <a:cubicBezTo>
                    <a:pt x="19391" y="687359"/>
                    <a:pt x="12679" y="684578"/>
                    <a:pt x="7730" y="679629"/>
                  </a:cubicBezTo>
                  <a:cubicBezTo>
                    <a:pt x="2780" y="674680"/>
                    <a:pt x="0" y="667968"/>
                    <a:pt x="0" y="660968"/>
                  </a:cubicBezTo>
                  <a:lnTo>
                    <a:pt x="0" y="26391"/>
                  </a:lnTo>
                  <a:cubicBezTo>
                    <a:pt x="0" y="19391"/>
                    <a:pt x="2780" y="12679"/>
                    <a:pt x="7730" y="7730"/>
                  </a:cubicBezTo>
                  <a:cubicBezTo>
                    <a:pt x="12679" y="2780"/>
                    <a:pt x="19391" y="0"/>
                    <a:pt x="26391" y="0"/>
                  </a:cubicBezTo>
                  <a:close/>
                </a:path>
              </a:pathLst>
            </a:custGeom>
            <a:solidFill>
              <a:srgbClr val="3A5A9A"/>
            </a:solidFill>
          </p:spPr>
        </p:sp>
        <p:sp>
          <p:nvSpPr>
            <p:cNvPr name="TextBox 31" id="31"/>
            <p:cNvSpPr txBox="true"/>
            <p:nvPr/>
          </p:nvSpPr>
          <p:spPr>
            <a:xfrm>
              <a:off x="0" y="-57150"/>
              <a:ext cx="3940440" cy="744509"/>
            </a:xfrm>
            <a:prstGeom prst="rect">
              <a:avLst/>
            </a:prstGeom>
          </p:spPr>
          <p:txBody>
            <a:bodyPr anchor="ctr" rtlCol="false" tIns="50800" lIns="50800" bIns="50800" rIns="50800"/>
            <a:lstStyle/>
            <a:p>
              <a:pPr algn="ctr">
                <a:lnSpc>
                  <a:spcPts val="2940"/>
                </a:lnSpc>
              </a:pPr>
            </a:p>
          </p:txBody>
        </p:sp>
      </p:grpSp>
      <p:sp>
        <p:nvSpPr>
          <p:cNvPr name="Freeform 32" id="32"/>
          <p:cNvSpPr/>
          <p:nvPr/>
        </p:nvSpPr>
        <p:spPr>
          <a:xfrm flipH="false" flipV="false" rot="0">
            <a:off x="201076" y="6495478"/>
            <a:ext cx="3882413" cy="1348926"/>
          </a:xfrm>
          <a:custGeom>
            <a:avLst/>
            <a:gdLst/>
            <a:ahLst/>
            <a:cxnLst/>
            <a:rect r="r" b="b" t="t" l="l"/>
            <a:pathLst>
              <a:path h="1348926" w="3882413">
                <a:moveTo>
                  <a:pt x="0" y="0"/>
                </a:moveTo>
                <a:lnTo>
                  <a:pt x="3882413" y="0"/>
                </a:lnTo>
                <a:lnTo>
                  <a:pt x="3882413" y="1348926"/>
                </a:lnTo>
                <a:lnTo>
                  <a:pt x="0" y="1348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2767021" y="1304231"/>
            <a:ext cx="12410217" cy="2240744"/>
          </a:xfrm>
          <a:custGeom>
            <a:avLst/>
            <a:gdLst/>
            <a:ahLst/>
            <a:cxnLst/>
            <a:rect r="r" b="b" t="t" l="l"/>
            <a:pathLst>
              <a:path h="2240744" w="12410217">
                <a:moveTo>
                  <a:pt x="0" y="0"/>
                </a:moveTo>
                <a:lnTo>
                  <a:pt x="12410217" y="0"/>
                </a:lnTo>
                <a:lnTo>
                  <a:pt x="12410217" y="2240744"/>
                </a:lnTo>
                <a:lnTo>
                  <a:pt x="0" y="2240744"/>
                </a:lnTo>
                <a:lnTo>
                  <a:pt x="0" y="0"/>
                </a:lnTo>
                <a:close/>
              </a:path>
            </a:pathLst>
          </a:custGeom>
          <a:blipFill>
            <a:blip r:embed="rId12"/>
            <a:stretch>
              <a:fillRect l="0" t="-6076" r="0" b="-6076"/>
            </a:stretch>
          </a:blipFill>
        </p:spPr>
      </p:sp>
      <p:sp>
        <p:nvSpPr>
          <p:cNvPr name="Freeform 34" id="34"/>
          <p:cNvSpPr/>
          <p:nvPr/>
        </p:nvSpPr>
        <p:spPr>
          <a:xfrm flipH="false" flipV="false" rot="0">
            <a:off x="2767021" y="4248956"/>
            <a:ext cx="8975857" cy="2425195"/>
          </a:xfrm>
          <a:custGeom>
            <a:avLst/>
            <a:gdLst/>
            <a:ahLst/>
            <a:cxnLst/>
            <a:rect r="r" b="b" t="t" l="l"/>
            <a:pathLst>
              <a:path h="2425195" w="8975857">
                <a:moveTo>
                  <a:pt x="0" y="0"/>
                </a:moveTo>
                <a:lnTo>
                  <a:pt x="8975857" y="0"/>
                </a:lnTo>
                <a:lnTo>
                  <a:pt x="8975857" y="2425195"/>
                </a:lnTo>
                <a:lnTo>
                  <a:pt x="0" y="2425195"/>
                </a:lnTo>
                <a:lnTo>
                  <a:pt x="0" y="0"/>
                </a:lnTo>
                <a:close/>
              </a:path>
            </a:pathLst>
          </a:custGeom>
          <a:blipFill>
            <a:blip r:embed="rId13"/>
            <a:stretch>
              <a:fillRect l="0" t="0" r="0" b="0"/>
            </a:stretch>
          </a:blipFill>
        </p:spPr>
      </p:sp>
      <p:sp>
        <p:nvSpPr>
          <p:cNvPr name="Freeform 35" id="35"/>
          <p:cNvSpPr/>
          <p:nvPr/>
        </p:nvSpPr>
        <p:spPr>
          <a:xfrm flipH="false" flipV="false" rot="0">
            <a:off x="3699180" y="7070145"/>
            <a:ext cx="10889640" cy="2239142"/>
          </a:xfrm>
          <a:custGeom>
            <a:avLst/>
            <a:gdLst/>
            <a:ahLst/>
            <a:cxnLst/>
            <a:rect r="r" b="b" t="t" l="l"/>
            <a:pathLst>
              <a:path h="2239142" w="10889640">
                <a:moveTo>
                  <a:pt x="0" y="0"/>
                </a:moveTo>
                <a:lnTo>
                  <a:pt x="10889640" y="0"/>
                </a:lnTo>
                <a:lnTo>
                  <a:pt x="10889640" y="2239142"/>
                </a:lnTo>
                <a:lnTo>
                  <a:pt x="0" y="2239142"/>
                </a:lnTo>
                <a:lnTo>
                  <a:pt x="0" y="0"/>
                </a:lnTo>
                <a:close/>
              </a:path>
            </a:pathLst>
          </a:custGeom>
          <a:blipFill>
            <a:blip r:embed="rId14"/>
            <a:stretch>
              <a:fillRect l="0" t="0" r="0" b="0"/>
            </a:stretch>
          </a:blipFill>
        </p:spPr>
      </p:sp>
      <p:sp>
        <p:nvSpPr>
          <p:cNvPr name="TextBox 36" id="36"/>
          <p:cNvSpPr txBox="true"/>
          <p:nvPr/>
        </p:nvSpPr>
        <p:spPr>
          <a:xfrm rot="0">
            <a:off x="1538860" y="384061"/>
            <a:ext cx="5089257"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feetype table </a:t>
            </a:r>
          </a:p>
        </p:txBody>
      </p:sp>
      <p:sp>
        <p:nvSpPr>
          <p:cNvPr name="TextBox 37" id="37"/>
          <p:cNvSpPr txBox="true"/>
          <p:nvPr/>
        </p:nvSpPr>
        <p:spPr>
          <a:xfrm rot="0">
            <a:off x="1803882" y="3659275"/>
            <a:ext cx="3022112"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fee event  table</a:t>
            </a:r>
          </a:p>
        </p:txBody>
      </p:sp>
      <p:sp>
        <p:nvSpPr>
          <p:cNvPr name="TextBox 38" id="38"/>
          <p:cNvSpPr txBox="true"/>
          <p:nvPr/>
        </p:nvSpPr>
        <p:spPr>
          <a:xfrm rot="0">
            <a:off x="863309" y="6883701"/>
            <a:ext cx="3807424" cy="408706"/>
          </a:xfrm>
          <a:prstGeom prst="rect">
            <a:avLst/>
          </a:prstGeom>
        </p:spPr>
        <p:txBody>
          <a:bodyPr anchor="t" rtlCol="false" tIns="0" lIns="0" bIns="0" rIns="0">
            <a:spAutoFit/>
          </a:bodyPr>
          <a:lstStyle/>
          <a:p>
            <a:pPr algn="just">
              <a:lnSpc>
                <a:spcPts val="3197"/>
              </a:lnSpc>
              <a:spcBef>
                <a:spcPct val="0"/>
              </a:spcBef>
            </a:pPr>
            <a:r>
              <a:rPr lang="en-US" b="true" sz="2284">
                <a:solidFill>
                  <a:srgbClr val="FFFFFF"/>
                </a:solidFill>
                <a:latin typeface="Poppins Bold"/>
                <a:ea typeface="Poppins Bold"/>
                <a:cs typeface="Poppins Bold"/>
                <a:sym typeface="Poppins Bold"/>
              </a:rPr>
              <a:t>fee transaction table</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4675" y="426840"/>
            <a:ext cx="16978650" cy="10291997"/>
            <a:chOff x="0" y="0"/>
            <a:chExt cx="4471743" cy="2710650"/>
          </a:xfrm>
        </p:grpSpPr>
        <p:sp>
          <p:nvSpPr>
            <p:cNvPr name="Freeform 3" id="3"/>
            <p:cNvSpPr/>
            <p:nvPr/>
          </p:nvSpPr>
          <p:spPr>
            <a:xfrm flipH="false" flipV="false" rot="0">
              <a:off x="0" y="0"/>
              <a:ext cx="4471743" cy="2710649"/>
            </a:xfrm>
            <a:custGeom>
              <a:avLst/>
              <a:gdLst/>
              <a:ahLst/>
              <a:cxnLst/>
              <a:rect r="r" b="b" t="t" l="l"/>
              <a:pathLst>
                <a:path h="2710649" w="4471743">
                  <a:moveTo>
                    <a:pt x="23255" y="0"/>
                  </a:moveTo>
                  <a:lnTo>
                    <a:pt x="4448489" y="0"/>
                  </a:lnTo>
                  <a:cubicBezTo>
                    <a:pt x="4454656" y="0"/>
                    <a:pt x="4460571" y="2450"/>
                    <a:pt x="4464932" y="6811"/>
                  </a:cubicBezTo>
                  <a:cubicBezTo>
                    <a:pt x="4469293" y="11172"/>
                    <a:pt x="4471743" y="17087"/>
                    <a:pt x="4471743" y="23255"/>
                  </a:cubicBezTo>
                  <a:lnTo>
                    <a:pt x="4471743" y="2687394"/>
                  </a:lnTo>
                  <a:cubicBezTo>
                    <a:pt x="4471743" y="2693562"/>
                    <a:pt x="4469293" y="2699477"/>
                    <a:pt x="4464932" y="2703838"/>
                  </a:cubicBezTo>
                  <a:cubicBezTo>
                    <a:pt x="4460571" y="2708199"/>
                    <a:pt x="4454656" y="2710649"/>
                    <a:pt x="4448489" y="2710649"/>
                  </a:cubicBezTo>
                  <a:lnTo>
                    <a:pt x="23255" y="2710649"/>
                  </a:lnTo>
                  <a:cubicBezTo>
                    <a:pt x="17087" y="2710649"/>
                    <a:pt x="11172" y="2708199"/>
                    <a:pt x="6811" y="2703838"/>
                  </a:cubicBezTo>
                  <a:cubicBezTo>
                    <a:pt x="2450" y="2699477"/>
                    <a:pt x="0" y="2693562"/>
                    <a:pt x="0" y="2687394"/>
                  </a:cubicBezTo>
                  <a:lnTo>
                    <a:pt x="0" y="23255"/>
                  </a:lnTo>
                  <a:cubicBezTo>
                    <a:pt x="0" y="17087"/>
                    <a:pt x="2450" y="11172"/>
                    <a:pt x="6811" y="6811"/>
                  </a:cubicBezTo>
                  <a:cubicBezTo>
                    <a:pt x="11172" y="2450"/>
                    <a:pt x="17087" y="0"/>
                    <a:pt x="23255" y="0"/>
                  </a:cubicBezTo>
                  <a:close/>
                </a:path>
              </a:pathLst>
            </a:custGeom>
            <a:solidFill>
              <a:srgbClr val="3A5A9A"/>
            </a:solidFill>
          </p:spPr>
        </p:sp>
        <p:sp>
          <p:nvSpPr>
            <p:cNvPr name="TextBox 4" id="4"/>
            <p:cNvSpPr txBox="true"/>
            <p:nvPr/>
          </p:nvSpPr>
          <p:spPr>
            <a:xfrm>
              <a:off x="0" y="-57150"/>
              <a:ext cx="4471743" cy="2767800"/>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364091" y="193118"/>
            <a:ext cx="15059234" cy="11140440"/>
          </a:xfrm>
          <a:prstGeom prst="rect">
            <a:avLst/>
          </a:prstGeom>
        </p:spPr>
        <p:txBody>
          <a:bodyPr anchor="t" rtlCol="false" tIns="0" lIns="0" bIns="0" rIns="0">
            <a:spAutoFit/>
          </a:bodyPr>
          <a:lstStyle/>
          <a:p>
            <a:pPr algn="l">
              <a:lnSpc>
                <a:spcPts val="3639"/>
              </a:lnSpc>
            </a:pPr>
          </a:p>
          <a:p>
            <a:pPr algn="l">
              <a:lnSpc>
                <a:spcPts val="3639"/>
              </a:lnSpc>
            </a:pPr>
            <a:r>
              <a:rPr lang="en-US" sz="2599" b="true">
                <a:solidFill>
                  <a:srgbClr val="FFFFFF"/>
                </a:solidFill>
                <a:latin typeface="Canva Sans Bold"/>
                <a:ea typeface="Canva Sans Bold"/>
                <a:cs typeface="Canva Sans Bold"/>
                <a:sym typeface="Canva Sans Bold"/>
              </a:rPr>
              <a:t>MongoDB Implementation for Yisakal SACCO</a:t>
            </a:r>
          </a:p>
          <a:p>
            <a:pPr algn="l">
              <a:lnSpc>
                <a:spcPts val="3079"/>
              </a:lnSpc>
              <a:spcBef>
                <a:spcPct val="0"/>
              </a:spcBef>
            </a:pPr>
          </a:p>
          <a:p>
            <a:pPr algn="l">
              <a:lnSpc>
                <a:spcPts val="3079"/>
              </a:lnSpc>
              <a:spcBef>
                <a:spcPct val="0"/>
              </a:spcBef>
            </a:pP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MongoDB is used to store SACCO data in a flexible, document-based structure that allows easy handling of complex and evolving financial data.</a:t>
            </a:r>
          </a:p>
          <a:p>
            <a:pPr algn="l" marL="539746" indent="-269873" lvl="1">
              <a:lnSpc>
                <a:spcPts val="3499"/>
              </a:lnSpc>
              <a:spcBef>
                <a:spcPct val="0"/>
              </a:spcBef>
              <a:buFont typeface="Arial"/>
              <a:buChar char="•"/>
            </a:pP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Collections are used instead of tables to represent real-world SACCO entities such as members, loans, accounts, and transactions.</a:t>
            </a:r>
          </a:p>
          <a:p>
            <a:pPr algn="l">
              <a:lnSpc>
                <a:spcPts val="3499"/>
              </a:lnSpc>
              <a:spcBef>
                <a:spcPct val="0"/>
              </a:spcBef>
            </a:pP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Embedded documents are used to group related data (e.g., address, identity, and balance) within a single record to improve readability and reduce joins.</a:t>
            </a:r>
          </a:p>
          <a:p>
            <a:pPr algn="l">
              <a:lnSpc>
                <a:spcPts val="3499"/>
              </a:lnSpc>
              <a:spcBef>
                <a:spcPct val="0"/>
              </a:spcBef>
            </a:pP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References (using IDs) are used to connect related collections such as Member–Loan and Loan–Transaction relationships.</a:t>
            </a: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Schema validation is applied to ensure data integrity by enforcing rules on the structure and type of stored data.</a:t>
            </a: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Indexing is used to improve query performance and make data retrieval faster, especially for large datasets.</a:t>
            </a:r>
          </a:p>
          <a:p>
            <a:pPr algn="l" marL="539746" indent="-269873" lvl="1">
              <a:lnSpc>
                <a:spcPts val="3499"/>
              </a:lnSpc>
              <a:spcBef>
                <a:spcPct val="0"/>
              </a:spcBef>
              <a:buFont typeface="Arial"/>
              <a:buChar char="•"/>
            </a:pPr>
          </a:p>
          <a:p>
            <a:pPr algn="l" marL="539746" indent="-269873" lvl="1">
              <a:lnSpc>
                <a:spcPts val="3499"/>
              </a:lnSpc>
              <a:spcBef>
                <a:spcPct val="0"/>
              </a:spcBef>
              <a:buFont typeface="Arial"/>
              <a:buChar char="•"/>
            </a:pPr>
            <a:r>
              <a:rPr lang="en-US" sz="2499">
                <a:solidFill>
                  <a:srgbClr val="FFFFFF"/>
                </a:solidFill>
                <a:latin typeface="Canva Sans"/>
                <a:ea typeface="Canva Sans"/>
                <a:cs typeface="Canva Sans"/>
                <a:sym typeface="Canva Sans"/>
              </a:rPr>
              <a:t>Sample data (seed data) is inserted to simulate real SACCO operations like deposits, loans, repayments, and fee processing.</a:t>
            </a:r>
          </a:p>
          <a:p>
            <a:pPr algn="l">
              <a:lnSpc>
                <a:spcPts val="3079"/>
              </a:lnSpc>
              <a:spcBef>
                <a:spcPct val="0"/>
              </a:spcBef>
            </a:pPr>
          </a:p>
          <a:p>
            <a:pPr algn="l">
              <a:lnSpc>
                <a:spcPts val="3079"/>
              </a:lnSpc>
              <a:spcBef>
                <a:spcPct val="0"/>
              </a:spcBef>
            </a:pPr>
          </a:p>
          <a:p>
            <a:pPr algn="l">
              <a:lnSpc>
                <a:spcPts val="3079"/>
              </a:lnSpc>
              <a:spcBef>
                <a:spcPct val="0"/>
              </a:spcBef>
            </a:pPr>
          </a:p>
          <a:p>
            <a:pPr algn="l">
              <a:lnSpc>
                <a:spcPts val="3079"/>
              </a:lnSpc>
              <a:spcBef>
                <a:spcPct val="0"/>
              </a:spcBef>
            </a:pPr>
          </a:p>
        </p:txBody>
      </p:sp>
      <p:grpSp>
        <p:nvGrpSpPr>
          <p:cNvPr name="Group 6" id="6"/>
          <p:cNvGrpSpPr/>
          <p:nvPr/>
        </p:nvGrpSpPr>
        <p:grpSpPr>
          <a:xfrm rot="0">
            <a:off x="237110" y="9258300"/>
            <a:ext cx="1126981" cy="11269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1184" y="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6695810" y="250268"/>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847704" y="9160019"/>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4675" y="222740"/>
            <a:ext cx="16978650" cy="2357742"/>
            <a:chOff x="0" y="0"/>
            <a:chExt cx="4471743" cy="620969"/>
          </a:xfrm>
        </p:grpSpPr>
        <p:sp>
          <p:nvSpPr>
            <p:cNvPr name="Freeform 3" id="3"/>
            <p:cNvSpPr/>
            <p:nvPr/>
          </p:nvSpPr>
          <p:spPr>
            <a:xfrm flipH="false" flipV="false" rot="0">
              <a:off x="0" y="0"/>
              <a:ext cx="4471743" cy="620969"/>
            </a:xfrm>
            <a:custGeom>
              <a:avLst/>
              <a:gdLst/>
              <a:ahLst/>
              <a:cxnLst/>
              <a:rect r="r" b="b" t="t" l="l"/>
              <a:pathLst>
                <a:path h="620969" w="4471743">
                  <a:moveTo>
                    <a:pt x="23255" y="0"/>
                  </a:moveTo>
                  <a:lnTo>
                    <a:pt x="4448489" y="0"/>
                  </a:lnTo>
                  <a:cubicBezTo>
                    <a:pt x="4454656" y="0"/>
                    <a:pt x="4460571" y="2450"/>
                    <a:pt x="4464932" y="6811"/>
                  </a:cubicBezTo>
                  <a:cubicBezTo>
                    <a:pt x="4469293" y="11172"/>
                    <a:pt x="4471743" y="17087"/>
                    <a:pt x="4471743" y="23255"/>
                  </a:cubicBezTo>
                  <a:lnTo>
                    <a:pt x="4471743" y="597714"/>
                  </a:lnTo>
                  <a:cubicBezTo>
                    <a:pt x="4471743" y="603882"/>
                    <a:pt x="4469293" y="609797"/>
                    <a:pt x="4464932" y="614158"/>
                  </a:cubicBezTo>
                  <a:cubicBezTo>
                    <a:pt x="4460571" y="618519"/>
                    <a:pt x="4454656" y="620969"/>
                    <a:pt x="4448489" y="620969"/>
                  </a:cubicBezTo>
                  <a:lnTo>
                    <a:pt x="23255" y="620969"/>
                  </a:lnTo>
                  <a:cubicBezTo>
                    <a:pt x="17087" y="620969"/>
                    <a:pt x="11172" y="618519"/>
                    <a:pt x="6811" y="614158"/>
                  </a:cubicBezTo>
                  <a:cubicBezTo>
                    <a:pt x="2450" y="609797"/>
                    <a:pt x="0" y="603882"/>
                    <a:pt x="0" y="597714"/>
                  </a:cubicBezTo>
                  <a:lnTo>
                    <a:pt x="0" y="23255"/>
                  </a:lnTo>
                  <a:cubicBezTo>
                    <a:pt x="0" y="17087"/>
                    <a:pt x="2450" y="11172"/>
                    <a:pt x="6811" y="6811"/>
                  </a:cubicBezTo>
                  <a:cubicBezTo>
                    <a:pt x="11172" y="2450"/>
                    <a:pt x="17087" y="0"/>
                    <a:pt x="23255" y="0"/>
                  </a:cubicBezTo>
                  <a:close/>
                </a:path>
              </a:pathLst>
            </a:custGeom>
            <a:solidFill>
              <a:srgbClr val="3A5A9A"/>
            </a:solidFill>
          </p:spPr>
        </p:sp>
        <p:sp>
          <p:nvSpPr>
            <p:cNvPr name="TextBox 4" id="4"/>
            <p:cNvSpPr txBox="true"/>
            <p:nvPr/>
          </p:nvSpPr>
          <p:spPr>
            <a:xfrm>
              <a:off x="0" y="-57150"/>
              <a:ext cx="4471743" cy="678119"/>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1278992" y="850431"/>
            <a:ext cx="15059234" cy="1054736"/>
          </a:xfrm>
          <a:prstGeom prst="rect">
            <a:avLst/>
          </a:prstGeom>
        </p:spPr>
        <p:txBody>
          <a:bodyPr anchor="t" rtlCol="false" tIns="0" lIns="0" bIns="0" rIns="0">
            <a:spAutoFit/>
          </a:bodyPr>
          <a:lstStyle/>
          <a:p>
            <a:pPr algn="l">
              <a:lnSpc>
                <a:spcPts val="4339"/>
              </a:lnSpc>
              <a:spcBef>
                <a:spcPct val="0"/>
              </a:spcBef>
            </a:pPr>
            <a:r>
              <a:rPr lang="en-US" sz="3099">
                <a:solidFill>
                  <a:srgbClr val="FFFFFF"/>
                </a:solidFill>
                <a:latin typeface="Canva Sans"/>
                <a:ea typeface="Canva Sans"/>
                <a:cs typeface="Canva Sans"/>
                <a:sym typeface="Canva Sans"/>
              </a:rPr>
              <a:t>Th</a:t>
            </a:r>
            <a:r>
              <a:rPr lang="en-US" sz="3099">
                <a:solidFill>
                  <a:srgbClr val="FFFFFF"/>
                </a:solidFill>
                <a:latin typeface="Canva Sans"/>
                <a:ea typeface="Canva Sans"/>
                <a:cs typeface="Canva Sans"/>
                <a:sym typeface="Canva Sans"/>
              </a:rPr>
              <a:t>ese ex</a:t>
            </a:r>
            <a:r>
              <a:rPr lang="en-US" sz="3099">
                <a:solidFill>
                  <a:srgbClr val="FFFFFF"/>
                </a:solidFill>
                <a:latin typeface="Canva Sans"/>
                <a:ea typeface="Canva Sans"/>
                <a:cs typeface="Canva Sans"/>
                <a:sym typeface="Canva Sans"/>
              </a:rPr>
              <a:t>amp</a:t>
            </a:r>
            <a:r>
              <a:rPr lang="en-US" sz="3099">
                <a:solidFill>
                  <a:srgbClr val="FFFFFF"/>
                </a:solidFill>
                <a:latin typeface="Canva Sans"/>
                <a:ea typeface="Canva Sans"/>
                <a:cs typeface="Canva Sans"/>
                <a:sym typeface="Canva Sans"/>
              </a:rPr>
              <a:t>les show ho</a:t>
            </a:r>
            <a:r>
              <a:rPr lang="en-US" sz="3099">
                <a:solidFill>
                  <a:srgbClr val="FFFFFF"/>
                </a:solidFill>
                <a:latin typeface="Canva Sans"/>
                <a:ea typeface="Canva Sans"/>
                <a:cs typeface="Canva Sans"/>
                <a:sym typeface="Canva Sans"/>
              </a:rPr>
              <a:t>w</a:t>
            </a:r>
            <a:r>
              <a:rPr lang="en-US" sz="3099">
                <a:solidFill>
                  <a:srgbClr val="FFFFFF"/>
                </a:solidFill>
                <a:latin typeface="Canva Sans"/>
                <a:ea typeface="Canva Sans"/>
                <a:cs typeface="Canva Sans"/>
                <a:sym typeface="Canva Sans"/>
              </a:rPr>
              <a:t> </a:t>
            </a:r>
            <a:r>
              <a:rPr lang="en-US" sz="3099">
                <a:solidFill>
                  <a:srgbClr val="FFFFFF"/>
                </a:solidFill>
                <a:latin typeface="Canva Sans"/>
                <a:ea typeface="Canva Sans"/>
                <a:cs typeface="Canva Sans"/>
                <a:sym typeface="Canva Sans"/>
              </a:rPr>
              <a:t>M</a:t>
            </a:r>
            <a:r>
              <a:rPr lang="en-US" sz="3099">
                <a:solidFill>
                  <a:srgbClr val="FFFFFF"/>
                </a:solidFill>
                <a:latin typeface="Canva Sans"/>
                <a:ea typeface="Canva Sans"/>
                <a:cs typeface="Canva Sans"/>
                <a:sym typeface="Canva Sans"/>
              </a:rPr>
              <a:t>ongo</a:t>
            </a:r>
            <a:r>
              <a:rPr lang="en-US" sz="3099">
                <a:solidFill>
                  <a:srgbClr val="FFFFFF"/>
                </a:solidFill>
                <a:latin typeface="Canva Sans"/>
                <a:ea typeface="Canva Sans"/>
                <a:cs typeface="Canva Sans"/>
                <a:sym typeface="Canva Sans"/>
              </a:rPr>
              <a:t>DB</a:t>
            </a:r>
            <a:r>
              <a:rPr lang="en-US" sz="3099">
                <a:solidFill>
                  <a:srgbClr val="FFFFFF"/>
                </a:solidFill>
                <a:latin typeface="Canva Sans"/>
                <a:ea typeface="Canva Sans"/>
                <a:cs typeface="Canva Sans"/>
                <a:sym typeface="Canva Sans"/>
              </a:rPr>
              <a:t> </a:t>
            </a:r>
            <a:r>
              <a:rPr lang="en-US" sz="3099">
                <a:solidFill>
                  <a:srgbClr val="FFFFFF"/>
                </a:solidFill>
                <a:latin typeface="Canva Sans"/>
                <a:ea typeface="Canva Sans"/>
                <a:cs typeface="Canva Sans"/>
                <a:sym typeface="Canva Sans"/>
              </a:rPr>
              <a:t>q</a:t>
            </a:r>
            <a:r>
              <a:rPr lang="en-US" sz="3099">
                <a:solidFill>
                  <a:srgbClr val="FFFFFF"/>
                </a:solidFill>
                <a:latin typeface="Canva Sans"/>
                <a:ea typeface="Canva Sans"/>
                <a:cs typeface="Canva Sans"/>
                <a:sym typeface="Canva Sans"/>
              </a:rPr>
              <a:t>ueries are used to retrieve</a:t>
            </a:r>
            <a:r>
              <a:rPr lang="en-US" sz="3099">
                <a:solidFill>
                  <a:srgbClr val="FFFFFF"/>
                </a:solidFill>
                <a:latin typeface="Canva Sans"/>
                <a:ea typeface="Canva Sans"/>
                <a:cs typeface="Canva Sans"/>
                <a:sym typeface="Canva Sans"/>
              </a:rPr>
              <a:t>,</a:t>
            </a:r>
            <a:r>
              <a:rPr lang="en-US" sz="3099">
                <a:solidFill>
                  <a:srgbClr val="FFFFFF"/>
                </a:solidFill>
                <a:latin typeface="Canva Sans"/>
                <a:ea typeface="Canva Sans"/>
                <a:cs typeface="Canva Sans"/>
                <a:sym typeface="Canva Sans"/>
              </a:rPr>
              <a:t> filter</a:t>
            </a:r>
            <a:r>
              <a:rPr lang="en-US" sz="3099">
                <a:solidFill>
                  <a:srgbClr val="FFFFFF"/>
                </a:solidFill>
                <a:latin typeface="Canva Sans"/>
                <a:ea typeface="Canva Sans"/>
                <a:cs typeface="Canva Sans"/>
                <a:sym typeface="Canva Sans"/>
              </a:rPr>
              <a:t>,</a:t>
            </a:r>
            <a:r>
              <a:rPr lang="en-US" sz="3099">
                <a:solidFill>
                  <a:srgbClr val="FFFFFF"/>
                </a:solidFill>
                <a:latin typeface="Canva Sans"/>
                <a:ea typeface="Canva Sans"/>
                <a:cs typeface="Canva Sans"/>
                <a:sym typeface="Canva Sans"/>
              </a:rPr>
              <a:t> and anal</a:t>
            </a:r>
            <a:r>
              <a:rPr lang="en-US" sz="3099">
                <a:solidFill>
                  <a:srgbClr val="FFFFFF"/>
                </a:solidFill>
                <a:latin typeface="Canva Sans"/>
                <a:ea typeface="Canva Sans"/>
                <a:cs typeface="Canva Sans"/>
                <a:sym typeface="Canva Sans"/>
              </a:rPr>
              <a:t>yz</a:t>
            </a:r>
            <a:r>
              <a:rPr lang="en-US" sz="3099">
                <a:solidFill>
                  <a:srgbClr val="FFFFFF"/>
                </a:solidFill>
                <a:latin typeface="Canva Sans"/>
                <a:ea typeface="Canva Sans"/>
                <a:cs typeface="Canva Sans"/>
                <a:sym typeface="Canva Sans"/>
              </a:rPr>
              <a:t>e </a:t>
            </a:r>
            <a:r>
              <a:rPr lang="en-US" sz="3099">
                <a:solidFill>
                  <a:srgbClr val="FFFFFF"/>
                </a:solidFill>
                <a:latin typeface="Canva Sans"/>
                <a:ea typeface="Canva Sans"/>
                <a:cs typeface="Canva Sans"/>
                <a:sym typeface="Canva Sans"/>
              </a:rPr>
              <a:t>SACCO</a:t>
            </a:r>
            <a:r>
              <a:rPr lang="en-US" sz="3099">
                <a:solidFill>
                  <a:srgbClr val="FFFFFF"/>
                </a:solidFill>
                <a:latin typeface="Canva Sans"/>
                <a:ea typeface="Canva Sans"/>
                <a:cs typeface="Canva Sans"/>
                <a:sym typeface="Canva Sans"/>
              </a:rPr>
              <a:t> data for operational and re</a:t>
            </a:r>
            <a:r>
              <a:rPr lang="en-US" sz="3099">
                <a:solidFill>
                  <a:srgbClr val="FFFFFF"/>
                </a:solidFill>
                <a:latin typeface="Canva Sans"/>
                <a:ea typeface="Canva Sans"/>
                <a:cs typeface="Canva Sans"/>
                <a:sym typeface="Canva Sans"/>
              </a:rPr>
              <a:t>p</a:t>
            </a:r>
            <a:r>
              <a:rPr lang="en-US" sz="3099">
                <a:solidFill>
                  <a:srgbClr val="FFFFFF"/>
                </a:solidFill>
                <a:latin typeface="Canva Sans"/>
                <a:ea typeface="Canva Sans"/>
                <a:cs typeface="Canva Sans"/>
                <a:sym typeface="Canva Sans"/>
              </a:rPr>
              <a:t>ortin</a:t>
            </a:r>
            <a:r>
              <a:rPr lang="en-US" sz="3099">
                <a:solidFill>
                  <a:srgbClr val="FFFFFF"/>
                </a:solidFill>
                <a:latin typeface="Canva Sans"/>
                <a:ea typeface="Canva Sans"/>
                <a:cs typeface="Canva Sans"/>
                <a:sym typeface="Canva Sans"/>
              </a:rPr>
              <a:t>g</a:t>
            </a:r>
            <a:r>
              <a:rPr lang="en-US" sz="3099">
                <a:solidFill>
                  <a:srgbClr val="FFFFFF"/>
                </a:solidFill>
                <a:latin typeface="Canva Sans"/>
                <a:ea typeface="Canva Sans"/>
                <a:cs typeface="Canva Sans"/>
                <a:sym typeface="Canva Sans"/>
              </a:rPr>
              <a:t> p</a:t>
            </a:r>
            <a:r>
              <a:rPr lang="en-US" sz="3099">
                <a:solidFill>
                  <a:srgbClr val="FFFFFF"/>
                </a:solidFill>
                <a:latin typeface="Canva Sans"/>
                <a:ea typeface="Canva Sans"/>
                <a:cs typeface="Canva Sans"/>
                <a:sym typeface="Canva Sans"/>
              </a:rPr>
              <a:t>u</a:t>
            </a:r>
            <a:r>
              <a:rPr lang="en-US" sz="3099">
                <a:solidFill>
                  <a:srgbClr val="FFFFFF"/>
                </a:solidFill>
                <a:latin typeface="Canva Sans"/>
                <a:ea typeface="Canva Sans"/>
                <a:cs typeface="Canva Sans"/>
                <a:sym typeface="Canva Sans"/>
              </a:rPr>
              <a:t>rp</a:t>
            </a:r>
            <a:r>
              <a:rPr lang="en-US" sz="3099">
                <a:solidFill>
                  <a:srgbClr val="FFFFFF"/>
                </a:solidFill>
                <a:latin typeface="Canva Sans"/>
                <a:ea typeface="Canva Sans"/>
                <a:cs typeface="Canva Sans"/>
                <a:sym typeface="Canva Sans"/>
              </a:rPr>
              <a:t>o</a:t>
            </a:r>
            <a:r>
              <a:rPr lang="en-US" sz="3099">
                <a:solidFill>
                  <a:srgbClr val="FFFFFF"/>
                </a:solidFill>
                <a:latin typeface="Canva Sans"/>
                <a:ea typeface="Canva Sans"/>
                <a:cs typeface="Canva Sans"/>
                <a:sym typeface="Canva Sans"/>
              </a:rPr>
              <a:t>ses.</a:t>
            </a:r>
          </a:p>
        </p:txBody>
      </p:sp>
      <p:grpSp>
        <p:nvGrpSpPr>
          <p:cNvPr name="Group 6" id="6"/>
          <p:cNvGrpSpPr/>
          <p:nvPr/>
        </p:nvGrpSpPr>
        <p:grpSpPr>
          <a:xfrm rot="0">
            <a:off x="654675" y="2853031"/>
            <a:ext cx="8168373" cy="7063231"/>
            <a:chOff x="0" y="0"/>
            <a:chExt cx="2151341" cy="1860275"/>
          </a:xfrm>
        </p:grpSpPr>
        <p:sp>
          <p:nvSpPr>
            <p:cNvPr name="Freeform 7" id="7"/>
            <p:cNvSpPr/>
            <p:nvPr/>
          </p:nvSpPr>
          <p:spPr>
            <a:xfrm flipH="false" flipV="false" rot="0">
              <a:off x="0" y="0"/>
              <a:ext cx="2151341" cy="1860275"/>
            </a:xfrm>
            <a:custGeom>
              <a:avLst/>
              <a:gdLst/>
              <a:ahLst/>
              <a:cxnLst/>
              <a:rect r="r" b="b" t="t" l="l"/>
              <a:pathLst>
                <a:path h="1860275" w="2151341">
                  <a:moveTo>
                    <a:pt x="48337" y="0"/>
                  </a:moveTo>
                  <a:lnTo>
                    <a:pt x="2103004" y="0"/>
                  </a:lnTo>
                  <a:cubicBezTo>
                    <a:pt x="2115824" y="0"/>
                    <a:pt x="2128118" y="5093"/>
                    <a:pt x="2137184" y="14158"/>
                  </a:cubicBezTo>
                  <a:cubicBezTo>
                    <a:pt x="2146248" y="23223"/>
                    <a:pt x="2151341" y="35518"/>
                    <a:pt x="2151341" y="48337"/>
                  </a:cubicBezTo>
                  <a:lnTo>
                    <a:pt x="2151341" y="1811937"/>
                  </a:lnTo>
                  <a:cubicBezTo>
                    <a:pt x="2151341" y="1838634"/>
                    <a:pt x="2129700" y="1860275"/>
                    <a:pt x="2103004" y="1860275"/>
                  </a:cubicBezTo>
                  <a:lnTo>
                    <a:pt x="48337" y="1860275"/>
                  </a:lnTo>
                  <a:cubicBezTo>
                    <a:pt x="35518" y="1860275"/>
                    <a:pt x="23223" y="1855182"/>
                    <a:pt x="14158" y="1846117"/>
                  </a:cubicBezTo>
                  <a:cubicBezTo>
                    <a:pt x="5093" y="1837052"/>
                    <a:pt x="0" y="1824757"/>
                    <a:pt x="0" y="1811937"/>
                  </a:cubicBezTo>
                  <a:lnTo>
                    <a:pt x="0" y="48337"/>
                  </a:lnTo>
                  <a:cubicBezTo>
                    <a:pt x="0" y="35518"/>
                    <a:pt x="5093" y="23223"/>
                    <a:pt x="14158" y="14158"/>
                  </a:cubicBezTo>
                  <a:cubicBezTo>
                    <a:pt x="23223" y="5093"/>
                    <a:pt x="35518" y="0"/>
                    <a:pt x="48337" y="0"/>
                  </a:cubicBezTo>
                  <a:close/>
                </a:path>
              </a:pathLst>
            </a:custGeom>
            <a:gradFill rotWithShape="true">
              <a:gsLst>
                <a:gs pos="0">
                  <a:srgbClr val="CDFFD8">
                    <a:alpha val="100000"/>
                  </a:srgbClr>
                </a:gs>
                <a:gs pos="100000">
                  <a:srgbClr val="94B9FF">
                    <a:alpha val="100000"/>
                  </a:srgbClr>
                </a:gs>
              </a:gsLst>
              <a:lin ang="2700000"/>
            </a:gradFill>
          </p:spPr>
        </p:sp>
        <p:sp>
          <p:nvSpPr>
            <p:cNvPr name="TextBox 8" id="8"/>
            <p:cNvSpPr txBox="true"/>
            <p:nvPr/>
          </p:nvSpPr>
          <p:spPr>
            <a:xfrm>
              <a:off x="0" y="-57150"/>
              <a:ext cx="2151341" cy="1917425"/>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28700" y="3030238"/>
            <a:ext cx="7350241" cy="8353426"/>
          </a:xfrm>
          <a:prstGeom prst="rect">
            <a:avLst/>
          </a:prstGeom>
        </p:spPr>
        <p:txBody>
          <a:bodyPr anchor="t" rtlCol="false" tIns="0" lIns="0" bIns="0" rIns="0">
            <a:spAutoFit/>
          </a:bodyPr>
          <a:lstStyle/>
          <a:p>
            <a:pPr algn="l">
              <a:lnSpc>
                <a:spcPts val="4059"/>
              </a:lnSpc>
            </a:pPr>
            <a:r>
              <a:rPr lang="en-US" sz="2899" b="true">
                <a:solidFill>
                  <a:srgbClr val="FFFFFF"/>
                </a:solidFill>
                <a:latin typeface="Canva Sans Bold"/>
                <a:ea typeface="Canva Sans Bold"/>
                <a:cs typeface="Canva Sans Bold"/>
                <a:sym typeface="Canva Sans Bold"/>
              </a:rPr>
              <a:t>Retrieve all active members</a:t>
            </a:r>
          </a:p>
          <a:p>
            <a:pPr algn="l">
              <a:lnSpc>
                <a:spcPts val="3919"/>
              </a:lnSpc>
              <a:spcBef>
                <a:spcPct val="0"/>
              </a:spcBef>
            </a:pPr>
            <a:r>
              <a:rPr lang="en-US" b="true" sz="2799">
                <a:solidFill>
                  <a:srgbClr val="679E5C"/>
                </a:solidFill>
                <a:latin typeface="Canva Sans Bold"/>
                <a:ea typeface="Canva Sans Bold"/>
                <a:cs typeface="Canva Sans Bold"/>
                <a:sym typeface="Canva Sans Bold"/>
              </a:rPr>
              <a:t>db.</a:t>
            </a:r>
            <a:r>
              <a:rPr lang="en-US" b="true" sz="2799">
                <a:solidFill>
                  <a:srgbClr val="679E5C"/>
                </a:solidFill>
                <a:latin typeface="Canva Sans Bold"/>
                <a:ea typeface="Canva Sans Bold"/>
                <a:cs typeface="Canva Sans Bold"/>
                <a:sym typeface="Canva Sans Bold"/>
              </a:rPr>
              <a:t>M</a:t>
            </a:r>
            <a:r>
              <a:rPr lang="en-US" b="true" sz="2799">
                <a:solidFill>
                  <a:srgbClr val="679E5C"/>
                </a:solidFill>
                <a:latin typeface="Canva Sans Bold"/>
                <a:ea typeface="Canva Sans Bold"/>
                <a:cs typeface="Canva Sans Bold"/>
                <a:sym typeface="Canva Sans Bold"/>
              </a:rPr>
              <a:t>ember.find({ status: "Active" })</a:t>
            </a:r>
          </a:p>
          <a:p>
            <a:pPr algn="l">
              <a:lnSpc>
                <a:spcPts val="4339"/>
              </a:lnSpc>
              <a:spcBef>
                <a:spcPct val="0"/>
              </a:spcBef>
            </a:pPr>
            <a:r>
              <a:rPr lang="en-US" b="true" sz="3099">
                <a:solidFill>
                  <a:srgbClr val="FFFFFF"/>
                </a:solidFill>
                <a:latin typeface="Canva Sans Bold"/>
                <a:ea typeface="Canva Sans Bold"/>
                <a:cs typeface="Canva Sans Bold"/>
                <a:sym typeface="Canva Sans Bold"/>
              </a:rPr>
              <a:t>Find loans for a specific member</a:t>
            </a:r>
          </a:p>
          <a:p>
            <a:pPr algn="l">
              <a:lnSpc>
                <a:spcPts val="3639"/>
              </a:lnSpc>
              <a:spcBef>
                <a:spcPct val="0"/>
              </a:spcBef>
            </a:pPr>
            <a:r>
              <a:rPr lang="en-US" sz="2599">
                <a:solidFill>
                  <a:srgbClr val="679E5C"/>
                </a:solidFill>
                <a:latin typeface="Canva Sans"/>
                <a:ea typeface="Canva Sans"/>
                <a:cs typeface="Canva Sans"/>
                <a:sym typeface="Canva Sans"/>
              </a:rPr>
              <a:t>d</a:t>
            </a:r>
            <a:r>
              <a:rPr lang="en-US" b="true" sz="2599">
                <a:solidFill>
                  <a:srgbClr val="679E5C"/>
                </a:solidFill>
                <a:latin typeface="Canva Sans Bold"/>
                <a:ea typeface="Canva Sans Bold"/>
                <a:cs typeface="Canva Sans Bold"/>
                <a:sym typeface="Canva Sans Bold"/>
              </a:rPr>
              <a:t>b.Loan.find({ member_id: "Member-201" })</a:t>
            </a:r>
          </a:p>
          <a:p>
            <a:pPr algn="l">
              <a:lnSpc>
                <a:spcPts val="4199"/>
              </a:lnSpc>
              <a:spcBef>
                <a:spcPct val="0"/>
              </a:spcBef>
            </a:pPr>
            <a:r>
              <a:rPr lang="en-US" b="true" sz="2999">
                <a:solidFill>
                  <a:srgbClr val="FFFFFF"/>
                </a:solidFill>
                <a:latin typeface="Canva Sans Bold"/>
                <a:ea typeface="Canva Sans Bold"/>
                <a:cs typeface="Canva Sans Bold"/>
                <a:sym typeface="Canva Sans Bold"/>
              </a:rPr>
              <a:t>Get saving account balance</a:t>
            </a:r>
          </a:p>
          <a:p>
            <a:pPr algn="l">
              <a:lnSpc>
                <a:spcPts val="3639"/>
              </a:lnSpc>
              <a:spcBef>
                <a:spcPct val="0"/>
              </a:spcBef>
            </a:pPr>
            <a:r>
              <a:rPr lang="en-US" b="true" sz="2599">
                <a:solidFill>
                  <a:srgbClr val="679E5C"/>
                </a:solidFill>
                <a:latin typeface="Canva Sans Bold"/>
                <a:ea typeface="Canva Sans Bold"/>
                <a:cs typeface="Canva Sans Bold"/>
                <a:sym typeface="Canva Sans Bold"/>
              </a:rPr>
              <a:t>db.SavingAccount.find(</a:t>
            </a:r>
          </a:p>
          <a:p>
            <a:pPr algn="l">
              <a:lnSpc>
                <a:spcPts val="3639"/>
              </a:lnSpc>
              <a:spcBef>
                <a:spcPct val="0"/>
              </a:spcBef>
            </a:pPr>
            <a:r>
              <a:rPr lang="en-US" b="true" sz="2599">
                <a:solidFill>
                  <a:srgbClr val="679E5C"/>
                </a:solidFill>
                <a:latin typeface="Canva Sans Bold"/>
                <a:ea typeface="Canva Sans Bold"/>
                <a:cs typeface="Canva Sans Bold"/>
                <a:sym typeface="Canva Sans Bold"/>
              </a:rPr>
              <a:t>  { account_number: "SAV-2021-0001" },</a:t>
            </a:r>
          </a:p>
          <a:p>
            <a:pPr algn="l">
              <a:lnSpc>
                <a:spcPts val="3639"/>
              </a:lnSpc>
              <a:spcBef>
                <a:spcPct val="0"/>
              </a:spcBef>
            </a:pPr>
            <a:r>
              <a:rPr lang="en-US" b="true" sz="2599">
                <a:solidFill>
                  <a:srgbClr val="679E5C"/>
                </a:solidFill>
                <a:latin typeface="Canva Sans Bold"/>
                <a:ea typeface="Canva Sans Bold"/>
                <a:cs typeface="Canva Sans Bold"/>
                <a:sym typeface="Canva Sans Bold"/>
              </a:rPr>
              <a:t>  { current_balance: 1, _id: 0 }</a:t>
            </a:r>
          </a:p>
          <a:p>
            <a:pPr algn="l">
              <a:lnSpc>
                <a:spcPts val="3639"/>
              </a:lnSpc>
              <a:spcBef>
                <a:spcPct val="0"/>
              </a:spcBef>
            </a:pPr>
          </a:p>
          <a:p>
            <a:pPr algn="l">
              <a:lnSpc>
                <a:spcPts val="3639"/>
              </a:lnSpc>
              <a:spcBef>
                <a:spcPct val="0"/>
              </a:spcBef>
            </a:pPr>
            <a:r>
              <a:rPr lang="en-US" b="true" sz="2599">
                <a:solidFill>
                  <a:srgbClr val="679E5C"/>
                </a:solidFill>
                <a:latin typeface="Canva Sans Bold"/>
                <a:ea typeface="Canva Sans Bold"/>
                <a:cs typeface="Canva Sans Bold"/>
                <a:sym typeface="Canva Sans Bold"/>
              </a:rPr>
              <a:t>)</a:t>
            </a:r>
          </a:p>
          <a:p>
            <a:pPr algn="l">
              <a:lnSpc>
                <a:spcPts val="3919"/>
              </a:lnSpc>
              <a:spcBef>
                <a:spcPct val="0"/>
              </a:spcBef>
            </a:pPr>
            <a:r>
              <a:rPr lang="en-US" b="true" sz="2799">
                <a:solidFill>
                  <a:srgbClr val="FFFFFF"/>
                </a:solidFill>
                <a:latin typeface="Canva Sans Bold"/>
                <a:ea typeface="Canva Sans Bold"/>
                <a:cs typeface="Canva Sans Bold"/>
                <a:sym typeface="Canva Sans Bold"/>
              </a:rPr>
              <a:t>Check overdue loan schedules</a:t>
            </a:r>
          </a:p>
          <a:p>
            <a:pPr algn="l">
              <a:lnSpc>
                <a:spcPts val="3779"/>
              </a:lnSpc>
              <a:spcBef>
                <a:spcPct val="0"/>
              </a:spcBef>
            </a:pPr>
            <a:r>
              <a:rPr lang="en-US" b="true" sz="2699">
                <a:solidFill>
                  <a:srgbClr val="679E5C"/>
                </a:solidFill>
                <a:latin typeface="Canva Sans Bold"/>
                <a:ea typeface="Canva Sans Bold"/>
                <a:cs typeface="Canva Sans Bold"/>
                <a:sym typeface="Canva Sans Bold"/>
              </a:rPr>
              <a:t>db.LoanSchedule.find({ status: "Overdue" })</a:t>
            </a:r>
          </a:p>
          <a:p>
            <a:pPr algn="l">
              <a:lnSpc>
                <a:spcPts val="3919"/>
              </a:lnSpc>
              <a:spcBef>
                <a:spcPct val="0"/>
              </a:spcBef>
            </a:pPr>
          </a:p>
          <a:p>
            <a:pPr algn="l">
              <a:lnSpc>
                <a:spcPts val="3639"/>
              </a:lnSpc>
              <a:spcBef>
                <a:spcPct val="0"/>
              </a:spcBef>
            </a:pPr>
          </a:p>
          <a:p>
            <a:pPr algn="l">
              <a:lnSpc>
                <a:spcPts val="4339"/>
              </a:lnSpc>
              <a:spcBef>
                <a:spcPct val="0"/>
              </a:spcBef>
            </a:pPr>
          </a:p>
          <a:p>
            <a:pPr algn="l">
              <a:lnSpc>
                <a:spcPts val="4339"/>
              </a:lnSpc>
              <a:spcBef>
                <a:spcPct val="0"/>
              </a:spcBef>
            </a:pPr>
          </a:p>
          <a:p>
            <a:pPr algn="l">
              <a:lnSpc>
                <a:spcPts val="4339"/>
              </a:lnSpc>
              <a:spcBef>
                <a:spcPct val="0"/>
              </a:spcBef>
            </a:pPr>
          </a:p>
        </p:txBody>
      </p:sp>
      <p:grpSp>
        <p:nvGrpSpPr>
          <p:cNvPr name="Group 10" id="10"/>
          <p:cNvGrpSpPr/>
          <p:nvPr/>
        </p:nvGrpSpPr>
        <p:grpSpPr>
          <a:xfrm rot="0">
            <a:off x="9464952" y="2853031"/>
            <a:ext cx="8168373" cy="7063231"/>
            <a:chOff x="0" y="0"/>
            <a:chExt cx="2151341" cy="1860275"/>
          </a:xfrm>
        </p:grpSpPr>
        <p:sp>
          <p:nvSpPr>
            <p:cNvPr name="Freeform 11" id="11"/>
            <p:cNvSpPr/>
            <p:nvPr/>
          </p:nvSpPr>
          <p:spPr>
            <a:xfrm flipH="false" flipV="false" rot="0">
              <a:off x="0" y="0"/>
              <a:ext cx="2151341" cy="1860275"/>
            </a:xfrm>
            <a:custGeom>
              <a:avLst/>
              <a:gdLst/>
              <a:ahLst/>
              <a:cxnLst/>
              <a:rect r="r" b="b" t="t" l="l"/>
              <a:pathLst>
                <a:path h="1860275" w="2151341">
                  <a:moveTo>
                    <a:pt x="48337" y="0"/>
                  </a:moveTo>
                  <a:lnTo>
                    <a:pt x="2103004" y="0"/>
                  </a:lnTo>
                  <a:cubicBezTo>
                    <a:pt x="2115824" y="0"/>
                    <a:pt x="2128118" y="5093"/>
                    <a:pt x="2137184" y="14158"/>
                  </a:cubicBezTo>
                  <a:cubicBezTo>
                    <a:pt x="2146248" y="23223"/>
                    <a:pt x="2151341" y="35518"/>
                    <a:pt x="2151341" y="48337"/>
                  </a:cubicBezTo>
                  <a:lnTo>
                    <a:pt x="2151341" y="1811937"/>
                  </a:lnTo>
                  <a:cubicBezTo>
                    <a:pt x="2151341" y="1838634"/>
                    <a:pt x="2129700" y="1860275"/>
                    <a:pt x="2103004" y="1860275"/>
                  </a:cubicBezTo>
                  <a:lnTo>
                    <a:pt x="48337" y="1860275"/>
                  </a:lnTo>
                  <a:cubicBezTo>
                    <a:pt x="35518" y="1860275"/>
                    <a:pt x="23223" y="1855182"/>
                    <a:pt x="14158" y="1846117"/>
                  </a:cubicBezTo>
                  <a:cubicBezTo>
                    <a:pt x="5093" y="1837052"/>
                    <a:pt x="0" y="1824757"/>
                    <a:pt x="0" y="1811937"/>
                  </a:cubicBezTo>
                  <a:lnTo>
                    <a:pt x="0" y="48337"/>
                  </a:lnTo>
                  <a:cubicBezTo>
                    <a:pt x="0" y="35518"/>
                    <a:pt x="5093" y="23223"/>
                    <a:pt x="14158" y="14158"/>
                  </a:cubicBezTo>
                  <a:cubicBezTo>
                    <a:pt x="23223" y="5093"/>
                    <a:pt x="35518" y="0"/>
                    <a:pt x="48337" y="0"/>
                  </a:cubicBezTo>
                  <a:close/>
                </a:path>
              </a:pathLst>
            </a:custGeom>
            <a:gradFill rotWithShape="true">
              <a:gsLst>
                <a:gs pos="0">
                  <a:srgbClr val="CDFFD8">
                    <a:alpha val="100000"/>
                  </a:srgbClr>
                </a:gs>
                <a:gs pos="100000">
                  <a:srgbClr val="94B9FF">
                    <a:alpha val="100000"/>
                  </a:srgbClr>
                </a:gs>
              </a:gsLst>
              <a:lin ang="2700000"/>
            </a:gradFill>
          </p:spPr>
        </p:sp>
        <p:sp>
          <p:nvSpPr>
            <p:cNvPr name="TextBox 12" id="12"/>
            <p:cNvSpPr txBox="true"/>
            <p:nvPr/>
          </p:nvSpPr>
          <p:spPr>
            <a:xfrm>
              <a:off x="0" y="-57150"/>
              <a:ext cx="2151341" cy="1917425"/>
            </a:xfrm>
            <a:prstGeom prst="rect">
              <a:avLst/>
            </a:prstGeom>
          </p:spPr>
          <p:txBody>
            <a:bodyPr anchor="ctr" rtlCol="false" tIns="50800" lIns="50800" bIns="50800" rIns="50800"/>
            <a:lstStyle/>
            <a:p>
              <a:pPr algn="ctr">
                <a:lnSpc>
                  <a:spcPts val="2940"/>
                </a:lnSpc>
              </a:pPr>
            </a:p>
          </p:txBody>
        </p:sp>
      </p:grpSp>
      <p:sp>
        <p:nvSpPr>
          <p:cNvPr name="TextBox 13" id="13"/>
          <p:cNvSpPr txBox="true"/>
          <p:nvPr/>
        </p:nvSpPr>
        <p:spPr>
          <a:xfrm rot="0">
            <a:off x="9874018" y="3030238"/>
            <a:ext cx="7350241" cy="6225541"/>
          </a:xfrm>
          <a:prstGeom prst="rect">
            <a:avLst/>
          </a:prstGeom>
        </p:spPr>
        <p:txBody>
          <a:bodyPr anchor="t" rtlCol="false" tIns="0" lIns="0" bIns="0" rIns="0">
            <a:spAutoFit/>
          </a:bodyPr>
          <a:lstStyle/>
          <a:p>
            <a:pPr algn="l">
              <a:lnSpc>
                <a:spcPts val="4479"/>
              </a:lnSpc>
            </a:pPr>
            <a:r>
              <a:rPr lang="en-US" sz="3199" b="true">
                <a:solidFill>
                  <a:srgbClr val="FFFFFF"/>
                </a:solidFill>
                <a:latin typeface="Canva Sans Bold"/>
                <a:ea typeface="Canva Sans Bold"/>
                <a:cs typeface="Canva Sans Bold"/>
                <a:sym typeface="Canva Sans Bold"/>
              </a:rPr>
              <a:t>Calculate total deposits per account</a:t>
            </a:r>
          </a:p>
          <a:p>
            <a:pPr algn="l">
              <a:lnSpc>
                <a:spcPts val="4059"/>
              </a:lnSpc>
            </a:pPr>
          </a:p>
          <a:p>
            <a:pPr algn="l">
              <a:lnSpc>
                <a:spcPts val="4059"/>
              </a:lnSpc>
              <a:spcBef>
                <a:spcPct val="0"/>
              </a:spcBef>
            </a:pPr>
            <a:r>
              <a:rPr lang="en-US" b="true" sz="2899">
                <a:solidFill>
                  <a:srgbClr val="679E5C"/>
                </a:solidFill>
                <a:latin typeface="Canva Sans Bold"/>
                <a:ea typeface="Canva Sans Bold"/>
                <a:cs typeface="Canva Sans Bold"/>
                <a:sym typeface="Canva Sans Bold"/>
              </a:rPr>
              <a:t>db.SavingsTransaction</a:t>
            </a:r>
            <a:r>
              <a:rPr lang="en-US" b="true" sz="2899">
                <a:solidFill>
                  <a:srgbClr val="679E5C"/>
                </a:solidFill>
                <a:latin typeface="Canva Sans Bold"/>
                <a:ea typeface="Canva Sans Bold"/>
                <a:cs typeface="Canva Sans Bold"/>
                <a:sym typeface="Canva Sans Bold"/>
              </a:rPr>
              <a:t>.aggr</a:t>
            </a:r>
            <a:r>
              <a:rPr lang="en-US" b="true" sz="2899">
                <a:solidFill>
                  <a:srgbClr val="679E5C"/>
                </a:solidFill>
                <a:latin typeface="Canva Sans Bold"/>
                <a:ea typeface="Canva Sans Bold"/>
                <a:cs typeface="Canva Sans Bold"/>
                <a:sym typeface="Canva Sans Bold"/>
              </a:rPr>
              <a:t>egate([</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 $match: { transacti</a:t>
            </a:r>
            <a:r>
              <a:rPr lang="en-US" b="true" sz="2899">
                <a:solidFill>
                  <a:srgbClr val="679E5C"/>
                </a:solidFill>
                <a:latin typeface="Canva Sans Bold"/>
                <a:ea typeface="Canva Sans Bold"/>
                <a:cs typeface="Canva Sans Bold"/>
                <a:sym typeface="Canva Sans Bold"/>
              </a:rPr>
              <a:t>on_type: "Deposit" } },</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 </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a:t>
            </a:r>
            <a:r>
              <a:rPr lang="en-US" b="true" sz="2899">
                <a:solidFill>
                  <a:srgbClr val="679E5C"/>
                </a:solidFill>
                <a:latin typeface="Canva Sans Bold"/>
                <a:ea typeface="Canva Sans Bold"/>
                <a:cs typeface="Canva Sans Bold"/>
                <a:sym typeface="Canva Sans Bold"/>
              </a:rPr>
              <a:t>group: {</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_id: "$account_id",</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total_d</a:t>
            </a:r>
            <a:r>
              <a:rPr lang="en-US" b="true" sz="2899">
                <a:solidFill>
                  <a:srgbClr val="679E5C"/>
                </a:solidFill>
                <a:latin typeface="Canva Sans Bold"/>
                <a:ea typeface="Canva Sans Bold"/>
                <a:cs typeface="Canva Sans Bold"/>
                <a:sym typeface="Canva Sans Bold"/>
              </a:rPr>
              <a:t>eposits: </a:t>
            </a:r>
            <a:r>
              <a:rPr lang="en-US" b="true" sz="2899">
                <a:solidFill>
                  <a:srgbClr val="679E5C"/>
                </a:solidFill>
                <a:latin typeface="Canva Sans Bold"/>
                <a:ea typeface="Canva Sans Bold"/>
                <a:cs typeface="Canva Sans Bold"/>
                <a:sym typeface="Canva Sans Bold"/>
              </a:rPr>
              <a:t>{ $sum: "$amount" }</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a:t>
            </a:r>
          </a:p>
          <a:p>
            <a:pPr algn="l">
              <a:lnSpc>
                <a:spcPts val="4059"/>
              </a:lnSpc>
              <a:spcBef>
                <a:spcPct val="0"/>
              </a:spcBef>
            </a:pPr>
            <a:r>
              <a:rPr lang="en-US" b="true" sz="2899">
                <a:solidFill>
                  <a:srgbClr val="679E5C"/>
                </a:solidFill>
                <a:latin typeface="Canva Sans Bold"/>
                <a:ea typeface="Canva Sans Bold"/>
                <a:cs typeface="Canva Sans Bold"/>
                <a:sym typeface="Canva Sans Bold"/>
              </a:rPr>
              <a:t>  }</a:t>
            </a:r>
          </a:p>
          <a:p>
            <a:pPr algn="l">
              <a:lnSpc>
                <a:spcPts val="4339"/>
              </a:lnSpc>
              <a:spcBef>
                <a:spcPct val="0"/>
              </a:spcBef>
            </a:pPr>
            <a:r>
              <a:rPr lang="en-US" b="true" sz="3099">
                <a:solidFill>
                  <a:srgbClr val="679E5C"/>
                </a:solidFill>
                <a:latin typeface="Canva Sans Bold"/>
                <a:ea typeface="Canva Sans Bold"/>
                <a:cs typeface="Canva Sans Bold"/>
                <a:sym typeface="Canva Sans Bold"/>
              </a:rPr>
              <a:t>])</a:t>
            </a:r>
          </a:p>
        </p:txBody>
      </p:sp>
      <p:grpSp>
        <p:nvGrpSpPr>
          <p:cNvPr name="Group 14" id="14"/>
          <p:cNvGrpSpPr/>
          <p:nvPr/>
        </p:nvGrpSpPr>
        <p:grpSpPr>
          <a:xfrm rot="0">
            <a:off x="-98281" y="9352771"/>
            <a:ext cx="1126981" cy="11269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660769" y="8964569"/>
            <a:ext cx="1126981" cy="112698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161019" y="9528059"/>
            <a:ext cx="1126981" cy="112698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7429383" y="8789281"/>
            <a:ext cx="1126981" cy="112698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1184" y="8692288"/>
            <a:ext cx="1126981" cy="112698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715502" y="9258300"/>
            <a:ext cx="1126981" cy="112698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32097" y="1523721"/>
            <a:ext cx="15727203" cy="7239558"/>
            <a:chOff x="0" y="0"/>
            <a:chExt cx="4142144" cy="1906715"/>
          </a:xfrm>
        </p:grpSpPr>
        <p:sp>
          <p:nvSpPr>
            <p:cNvPr name="Freeform 3" id="3"/>
            <p:cNvSpPr/>
            <p:nvPr/>
          </p:nvSpPr>
          <p:spPr>
            <a:xfrm flipH="false" flipV="false" rot="0">
              <a:off x="0" y="0"/>
              <a:ext cx="4142144" cy="1906715"/>
            </a:xfrm>
            <a:custGeom>
              <a:avLst/>
              <a:gdLst/>
              <a:ahLst/>
              <a:cxnLst/>
              <a:rect r="r" b="b" t="t" l="l"/>
              <a:pathLst>
                <a:path h="1906715" w="4142144">
                  <a:moveTo>
                    <a:pt x="25105" y="0"/>
                  </a:moveTo>
                  <a:lnTo>
                    <a:pt x="4117039" y="0"/>
                  </a:lnTo>
                  <a:cubicBezTo>
                    <a:pt x="4130904" y="0"/>
                    <a:pt x="4142144" y="11240"/>
                    <a:pt x="4142144" y="25105"/>
                  </a:cubicBezTo>
                  <a:lnTo>
                    <a:pt x="4142144" y="1881610"/>
                  </a:lnTo>
                  <a:cubicBezTo>
                    <a:pt x="4142144" y="1895475"/>
                    <a:pt x="4130904" y="1906715"/>
                    <a:pt x="4117039" y="1906715"/>
                  </a:cubicBezTo>
                  <a:lnTo>
                    <a:pt x="25105" y="1906715"/>
                  </a:lnTo>
                  <a:cubicBezTo>
                    <a:pt x="18447" y="1906715"/>
                    <a:pt x="12061" y="1904070"/>
                    <a:pt x="7353" y="1899362"/>
                  </a:cubicBezTo>
                  <a:cubicBezTo>
                    <a:pt x="2645" y="1894654"/>
                    <a:pt x="0" y="1888268"/>
                    <a:pt x="0" y="1881610"/>
                  </a:cubicBezTo>
                  <a:lnTo>
                    <a:pt x="0" y="25105"/>
                  </a:lnTo>
                  <a:cubicBezTo>
                    <a:pt x="0" y="11240"/>
                    <a:pt x="11240" y="0"/>
                    <a:pt x="25105" y="0"/>
                  </a:cubicBezTo>
                  <a:close/>
                </a:path>
              </a:pathLst>
            </a:custGeom>
            <a:solidFill>
              <a:srgbClr val="3A5A9A"/>
            </a:solidFill>
          </p:spPr>
        </p:sp>
        <p:sp>
          <p:nvSpPr>
            <p:cNvPr name="TextBox 4" id="4"/>
            <p:cNvSpPr txBox="true"/>
            <p:nvPr/>
          </p:nvSpPr>
          <p:spPr>
            <a:xfrm>
              <a:off x="0" y="-57150"/>
              <a:ext cx="4142144" cy="196386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2200066" y="2987444"/>
            <a:ext cx="14427635" cy="3622793"/>
          </a:xfrm>
          <a:prstGeom prst="rect">
            <a:avLst/>
          </a:prstGeom>
        </p:spPr>
        <p:txBody>
          <a:bodyPr anchor="t" rtlCol="false" tIns="0" lIns="0" bIns="0" rIns="0">
            <a:spAutoFit/>
          </a:bodyPr>
          <a:lstStyle/>
          <a:p>
            <a:pPr algn="l">
              <a:lnSpc>
                <a:spcPts val="4157"/>
              </a:lnSpc>
              <a:spcBef>
                <a:spcPct val="0"/>
              </a:spcBef>
            </a:pPr>
            <a:r>
              <a:rPr lang="en-US" sz="2969">
                <a:solidFill>
                  <a:srgbClr val="FFFFFF"/>
                </a:solidFill>
                <a:latin typeface="Canva Sans"/>
                <a:ea typeface="Canva Sans"/>
                <a:cs typeface="Canva Sans"/>
                <a:sym typeface="Canva Sans"/>
              </a:rPr>
              <a:t>In conclusion, th</a:t>
            </a:r>
            <a:r>
              <a:rPr lang="en-US" sz="2969">
                <a:solidFill>
                  <a:srgbClr val="FFFFFF"/>
                </a:solidFill>
                <a:latin typeface="Canva Sans"/>
                <a:ea typeface="Canva Sans"/>
                <a:cs typeface="Canva Sans"/>
                <a:sym typeface="Canva Sans"/>
              </a:rPr>
              <a:t>e Yisakal SACCO system was successfully designed </a:t>
            </a:r>
            <a:r>
              <a:rPr lang="en-US" sz="2969">
                <a:solidFill>
                  <a:srgbClr val="FFFFFF"/>
                </a:solidFill>
                <a:latin typeface="Canva Sans"/>
                <a:ea typeface="Canva Sans"/>
                <a:cs typeface="Canva Sans"/>
                <a:sym typeface="Canva Sans"/>
              </a:rPr>
              <a:t>and imp</a:t>
            </a:r>
            <a:r>
              <a:rPr lang="en-US" sz="2969">
                <a:solidFill>
                  <a:srgbClr val="FFFFFF"/>
                </a:solidFill>
                <a:latin typeface="Canva Sans"/>
                <a:ea typeface="Canva Sans"/>
                <a:cs typeface="Canva Sans"/>
                <a:sym typeface="Canva Sans"/>
              </a:rPr>
              <a:t>lemented using both MySQL and </a:t>
            </a:r>
            <a:r>
              <a:rPr lang="en-US" sz="2969">
                <a:solidFill>
                  <a:srgbClr val="FFFFFF"/>
                </a:solidFill>
                <a:latin typeface="Canva Sans"/>
                <a:ea typeface="Canva Sans"/>
                <a:cs typeface="Canva Sans"/>
                <a:sym typeface="Canva Sans"/>
              </a:rPr>
              <a:t>M</a:t>
            </a:r>
            <a:r>
              <a:rPr lang="en-US" sz="2969">
                <a:solidFill>
                  <a:srgbClr val="FFFFFF"/>
                </a:solidFill>
                <a:latin typeface="Canva Sans"/>
                <a:ea typeface="Canva Sans"/>
                <a:cs typeface="Canva Sans"/>
                <a:sym typeface="Canva Sans"/>
              </a:rPr>
              <a:t>ongo</a:t>
            </a:r>
            <a:r>
              <a:rPr lang="en-US" sz="2969">
                <a:solidFill>
                  <a:srgbClr val="FFFFFF"/>
                </a:solidFill>
                <a:latin typeface="Canva Sans"/>
                <a:ea typeface="Canva Sans"/>
                <a:cs typeface="Canva Sans"/>
                <a:sym typeface="Canva Sans"/>
              </a:rPr>
              <a:t>DB.</a:t>
            </a:r>
            <a:r>
              <a:rPr lang="en-US" sz="2969">
                <a:solidFill>
                  <a:srgbClr val="FFFFFF"/>
                </a:solidFill>
                <a:latin typeface="Canva Sans"/>
                <a:ea typeface="Canva Sans"/>
                <a:cs typeface="Canva Sans"/>
                <a:sym typeface="Canva Sans"/>
              </a:rPr>
              <a:t> The system effectively manages key SACCO operations such as member registration, savings, loans, transactions, fees, and reporting. MySQL ensures structured data with strong relationships and integrity, while MongoDB provides flexibility for handling complex and dynamic data. Overall, the project delivers an efficient, reliable, and practical database solution for SACCO management.</a:t>
            </a:r>
          </a:p>
        </p:txBody>
      </p:sp>
      <p:grpSp>
        <p:nvGrpSpPr>
          <p:cNvPr name="Group 6" id="6"/>
          <p:cNvGrpSpPr/>
          <p:nvPr/>
        </p:nvGrpSpPr>
        <p:grpSpPr>
          <a:xfrm rot="0">
            <a:off x="16695810" y="8972967"/>
            <a:ext cx="1126981" cy="11269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963785" y="972351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527275" y="925830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161019" y="-98560"/>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8375" y="9160019"/>
            <a:ext cx="1126981" cy="11269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05116" y="9258300"/>
            <a:ext cx="1126981" cy="11269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38416" y="8409477"/>
            <a:ext cx="1126981" cy="11269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25075" y="-262806"/>
            <a:ext cx="1126981" cy="112698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32097" y="1523721"/>
            <a:ext cx="15727203" cy="7239558"/>
            <a:chOff x="0" y="0"/>
            <a:chExt cx="4142144" cy="1906715"/>
          </a:xfrm>
        </p:grpSpPr>
        <p:sp>
          <p:nvSpPr>
            <p:cNvPr name="Freeform 3" id="3"/>
            <p:cNvSpPr/>
            <p:nvPr/>
          </p:nvSpPr>
          <p:spPr>
            <a:xfrm flipH="false" flipV="false" rot="0">
              <a:off x="0" y="0"/>
              <a:ext cx="4142144" cy="1906715"/>
            </a:xfrm>
            <a:custGeom>
              <a:avLst/>
              <a:gdLst/>
              <a:ahLst/>
              <a:cxnLst/>
              <a:rect r="r" b="b" t="t" l="l"/>
              <a:pathLst>
                <a:path h="1906715" w="4142144">
                  <a:moveTo>
                    <a:pt x="25105" y="0"/>
                  </a:moveTo>
                  <a:lnTo>
                    <a:pt x="4117039" y="0"/>
                  </a:lnTo>
                  <a:cubicBezTo>
                    <a:pt x="4130904" y="0"/>
                    <a:pt x="4142144" y="11240"/>
                    <a:pt x="4142144" y="25105"/>
                  </a:cubicBezTo>
                  <a:lnTo>
                    <a:pt x="4142144" y="1881610"/>
                  </a:lnTo>
                  <a:cubicBezTo>
                    <a:pt x="4142144" y="1895475"/>
                    <a:pt x="4130904" y="1906715"/>
                    <a:pt x="4117039" y="1906715"/>
                  </a:cubicBezTo>
                  <a:lnTo>
                    <a:pt x="25105" y="1906715"/>
                  </a:lnTo>
                  <a:cubicBezTo>
                    <a:pt x="18447" y="1906715"/>
                    <a:pt x="12061" y="1904070"/>
                    <a:pt x="7353" y="1899362"/>
                  </a:cubicBezTo>
                  <a:cubicBezTo>
                    <a:pt x="2645" y="1894654"/>
                    <a:pt x="0" y="1888268"/>
                    <a:pt x="0" y="1881610"/>
                  </a:cubicBezTo>
                  <a:lnTo>
                    <a:pt x="0" y="25105"/>
                  </a:lnTo>
                  <a:cubicBezTo>
                    <a:pt x="0" y="11240"/>
                    <a:pt x="11240" y="0"/>
                    <a:pt x="25105" y="0"/>
                  </a:cubicBezTo>
                  <a:close/>
                </a:path>
              </a:pathLst>
            </a:custGeom>
            <a:solidFill>
              <a:srgbClr val="3A5A9A"/>
            </a:solidFill>
          </p:spPr>
        </p:sp>
        <p:sp>
          <p:nvSpPr>
            <p:cNvPr name="TextBox 4" id="4"/>
            <p:cNvSpPr txBox="true"/>
            <p:nvPr/>
          </p:nvSpPr>
          <p:spPr>
            <a:xfrm>
              <a:off x="0" y="-57150"/>
              <a:ext cx="4142144" cy="1963865"/>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2200066" y="2987444"/>
            <a:ext cx="14427635" cy="4696588"/>
          </a:xfrm>
          <a:prstGeom prst="rect">
            <a:avLst/>
          </a:prstGeom>
        </p:spPr>
        <p:txBody>
          <a:bodyPr anchor="t" rtlCol="false" tIns="0" lIns="0" bIns="0" rIns="0">
            <a:spAutoFit/>
          </a:bodyPr>
          <a:lstStyle/>
          <a:p>
            <a:pPr algn="ctr">
              <a:lnSpc>
                <a:spcPts val="4157"/>
              </a:lnSpc>
            </a:pPr>
            <a:r>
              <a:rPr lang="en-US" sz="2969">
                <a:solidFill>
                  <a:srgbClr val="FFFFFF"/>
                </a:solidFill>
                <a:latin typeface="Canva Sans"/>
                <a:ea typeface="Canva Sans"/>
                <a:cs typeface="Canva Sans"/>
                <a:sym typeface="Canva Sans"/>
              </a:rPr>
              <a:t>5.REFERENCES </a:t>
            </a:r>
          </a:p>
          <a:p>
            <a:pPr algn="l">
              <a:lnSpc>
                <a:spcPts val="4157"/>
              </a:lnSpc>
              <a:spcBef>
                <a:spcPct val="0"/>
              </a:spcBef>
            </a:pPr>
            <a:r>
              <a:rPr lang="en-US" sz="2969">
                <a:solidFill>
                  <a:srgbClr val="FFFFFF"/>
                </a:solidFill>
                <a:latin typeface="Canva Sans"/>
                <a:ea typeface="Canva Sans"/>
                <a:cs typeface="Canva Sans"/>
                <a:sym typeface="Canva Sans"/>
              </a:rPr>
              <a:t>[1] MySQL Workbench,</a:t>
            </a:r>
            <a:r>
              <a:rPr lang="en-US" sz="2969">
                <a:solidFill>
                  <a:srgbClr val="FFFFFF"/>
                </a:solidFill>
                <a:latin typeface="Canva Sans"/>
                <a:ea typeface="Canva Sans"/>
                <a:cs typeface="Canva Sans"/>
                <a:sym typeface="Canva Sans"/>
              </a:rPr>
              <a:t> Oracle Corpor</a:t>
            </a:r>
            <a:r>
              <a:rPr lang="en-US" sz="2969">
                <a:solidFill>
                  <a:srgbClr val="FFFFFF"/>
                </a:solidFill>
                <a:latin typeface="Canva Sans"/>
                <a:ea typeface="Canva Sans"/>
                <a:cs typeface="Canva Sans"/>
                <a:sym typeface="Canva Sans"/>
              </a:rPr>
              <a:t>atio</a:t>
            </a:r>
            <a:r>
              <a:rPr lang="en-US" sz="2969">
                <a:solidFill>
                  <a:srgbClr val="FFFFFF"/>
                </a:solidFill>
                <a:latin typeface="Canva Sans"/>
                <a:ea typeface="Canva Sans"/>
                <a:cs typeface="Canva Sans"/>
                <a:sym typeface="Canva Sans"/>
              </a:rPr>
              <a:t>n, Austin, TX, USA, 2026. </a:t>
            </a:r>
          </a:p>
          <a:p>
            <a:pPr algn="l">
              <a:lnSpc>
                <a:spcPts val="4157"/>
              </a:lnSpc>
              <a:spcBef>
                <a:spcPct val="0"/>
              </a:spcBef>
            </a:pPr>
            <a:r>
              <a:rPr lang="en-US" sz="2969">
                <a:solidFill>
                  <a:srgbClr val="FFFFFF"/>
                </a:solidFill>
                <a:latin typeface="Canva Sans"/>
                <a:ea typeface="Canva Sans"/>
                <a:cs typeface="Canva Sans"/>
                <a:sym typeface="Canva Sans"/>
              </a:rPr>
              <a:t>[2] </a:t>
            </a:r>
            <a:r>
              <a:rPr lang="en-US" sz="2969">
                <a:solidFill>
                  <a:srgbClr val="FFFFFF"/>
                </a:solidFill>
                <a:latin typeface="Canva Sans"/>
                <a:ea typeface="Canva Sans"/>
                <a:cs typeface="Canva Sans"/>
                <a:sym typeface="Canva Sans"/>
              </a:rPr>
              <a:t>M</a:t>
            </a:r>
            <a:r>
              <a:rPr lang="en-US" sz="2969">
                <a:solidFill>
                  <a:srgbClr val="FFFFFF"/>
                </a:solidFill>
                <a:latin typeface="Canva Sans"/>
                <a:ea typeface="Canva Sans"/>
                <a:cs typeface="Canva Sans"/>
                <a:sym typeface="Canva Sans"/>
              </a:rPr>
              <a:t>ongo</a:t>
            </a:r>
            <a:r>
              <a:rPr lang="en-US" sz="2969">
                <a:solidFill>
                  <a:srgbClr val="FFFFFF"/>
                </a:solidFill>
                <a:latin typeface="Canva Sans"/>
                <a:ea typeface="Canva Sans"/>
                <a:cs typeface="Canva Sans"/>
                <a:sym typeface="Canva Sans"/>
              </a:rPr>
              <a:t>DB</a:t>
            </a:r>
            <a:r>
              <a:rPr lang="en-US" sz="2969">
                <a:solidFill>
                  <a:srgbClr val="FFFFFF"/>
                </a:solidFill>
                <a:latin typeface="Canva Sans"/>
                <a:ea typeface="Canva Sans"/>
                <a:cs typeface="Canva Sans"/>
                <a:sym typeface="Canva Sans"/>
              </a:rPr>
              <a:t> Compass, MongoDB, Inc., New York, NY, USA, 2026.</a:t>
            </a:r>
          </a:p>
          <a:p>
            <a:pPr algn="l">
              <a:lnSpc>
                <a:spcPts val="4157"/>
              </a:lnSpc>
              <a:spcBef>
                <a:spcPct val="0"/>
              </a:spcBef>
            </a:pPr>
            <a:r>
              <a:rPr lang="en-US" sz="2969">
                <a:solidFill>
                  <a:srgbClr val="FFFFFF"/>
                </a:solidFill>
                <a:latin typeface="Canva Sans"/>
                <a:ea typeface="Canva Sans"/>
                <a:cs typeface="Canva Sans"/>
                <a:sym typeface="Canva Sans"/>
              </a:rPr>
              <a:t> [3] Lucidchart, Lucid Software Inc., South Jordan, UT, USA, 2026.</a:t>
            </a:r>
          </a:p>
          <a:p>
            <a:pPr algn="l">
              <a:lnSpc>
                <a:spcPts val="4157"/>
              </a:lnSpc>
              <a:spcBef>
                <a:spcPct val="0"/>
              </a:spcBef>
            </a:pPr>
            <a:r>
              <a:rPr lang="en-US" sz="2969">
                <a:solidFill>
                  <a:srgbClr val="FFFFFF"/>
                </a:solidFill>
                <a:latin typeface="Canva Sans"/>
                <a:ea typeface="Canva Sans"/>
                <a:cs typeface="Canva Sans"/>
                <a:sym typeface="Canva Sans"/>
              </a:rPr>
              <a:t> [4] draw.io, JGraph Ltd., Northampton, UK, 2026. </a:t>
            </a:r>
          </a:p>
          <a:p>
            <a:pPr algn="l">
              <a:lnSpc>
                <a:spcPts val="4157"/>
              </a:lnSpc>
              <a:spcBef>
                <a:spcPct val="0"/>
              </a:spcBef>
            </a:pPr>
            <a:r>
              <a:rPr lang="en-US" sz="2969">
                <a:solidFill>
                  <a:srgbClr val="FFFFFF"/>
                </a:solidFill>
                <a:latin typeface="Canva Sans"/>
                <a:ea typeface="Canva Sans"/>
                <a:cs typeface="Canva Sans"/>
                <a:sym typeface="Canva Sans"/>
              </a:rPr>
              <a:t>[5] A. Silberschatz, H. F. Korth, and S. Sudarshan, Database System Concepts, 7th ed. New York, NY, USA: McGrawHill, 2019.</a:t>
            </a:r>
          </a:p>
          <a:p>
            <a:pPr algn="l">
              <a:lnSpc>
                <a:spcPts val="4157"/>
              </a:lnSpc>
              <a:spcBef>
                <a:spcPct val="0"/>
              </a:spcBef>
            </a:pPr>
            <a:r>
              <a:rPr lang="en-US" sz="2969">
                <a:solidFill>
                  <a:srgbClr val="FFFFFF"/>
                </a:solidFill>
                <a:latin typeface="Canva Sans"/>
                <a:ea typeface="Canva Sans"/>
                <a:cs typeface="Canva Sans"/>
                <a:sym typeface="Canva Sans"/>
              </a:rPr>
              <a:t> [6] R. Elmasri and S. B. Navathe, Fundamentals of Database Systems, 7th ed. Boston, MA, USA: Pearson, 2016.</a:t>
            </a:r>
          </a:p>
        </p:txBody>
      </p:sp>
      <p:grpSp>
        <p:nvGrpSpPr>
          <p:cNvPr name="Group 6" id="6"/>
          <p:cNvGrpSpPr/>
          <p:nvPr/>
        </p:nvGrpSpPr>
        <p:grpSpPr>
          <a:xfrm rot="0">
            <a:off x="16695810" y="8972967"/>
            <a:ext cx="1126981" cy="11269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963785" y="9723510"/>
            <a:ext cx="1126981" cy="112698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527275" y="9258300"/>
            <a:ext cx="1126981" cy="11269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7161019" y="-98560"/>
            <a:ext cx="1126981" cy="11269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8375" y="9160019"/>
            <a:ext cx="1126981" cy="11269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405116" y="9258300"/>
            <a:ext cx="1126981" cy="11269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38416" y="8409477"/>
            <a:ext cx="1126981" cy="112698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425075" y="-262806"/>
            <a:ext cx="1126981" cy="112698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32097" y="1523721"/>
            <a:ext cx="15727203" cy="7239558"/>
            <a:chOff x="0" y="0"/>
            <a:chExt cx="4142144" cy="1906715"/>
          </a:xfrm>
        </p:grpSpPr>
        <p:sp>
          <p:nvSpPr>
            <p:cNvPr name="Freeform 3" id="3"/>
            <p:cNvSpPr/>
            <p:nvPr/>
          </p:nvSpPr>
          <p:spPr>
            <a:xfrm flipH="false" flipV="false" rot="0">
              <a:off x="0" y="0"/>
              <a:ext cx="4142144" cy="1906715"/>
            </a:xfrm>
            <a:custGeom>
              <a:avLst/>
              <a:gdLst/>
              <a:ahLst/>
              <a:cxnLst/>
              <a:rect r="r" b="b" t="t" l="l"/>
              <a:pathLst>
                <a:path h="1906715" w="4142144">
                  <a:moveTo>
                    <a:pt x="25105" y="0"/>
                  </a:moveTo>
                  <a:lnTo>
                    <a:pt x="4117039" y="0"/>
                  </a:lnTo>
                  <a:cubicBezTo>
                    <a:pt x="4130904" y="0"/>
                    <a:pt x="4142144" y="11240"/>
                    <a:pt x="4142144" y="25105"/>
                  </a:cubicBezTo>
                  <a:lnTo>
                    <a:pt x="4142144" y="1881610"/>
                  </a:lnTo>
                  <a:cubicBezTo>
                    <a:pt x="4142144" y="1895475"/>
                    <a:pt x="4130904" y="1906715"/>
                    <a:pt x="4117039" y="1906715"/>
                  </a:cubicBezTo>
                  <a:lnTo>
                    <a:pt x="25105" y="1906715"/>
                  </a:lnTo>
                  <a:cubicBezTo>
                    <a:pt x="18447" y="1906715"/>
                    <a:pt x="12061" y="1904070"/>
                    <a:pt x="7353" y="1899362"/>
                  </a:cubicBezTo>
                  <a:cubicBezTo>
                    <a:pt x="2645" y="1894654"/>
                    <a:pt x="0" y="1888268"/>
                    <a:pt x="0" y="1881610"/>
                  </a:cubicBezTo>
                  <a:lnTo>
                    <a:pt x="0" y="25105"/>
                  </a:lnTo>
                  <a:cubicBezTo>
                    <a:pt x="0" y="11240"/>
                    <a:pt x="11240" y="0"/>
                    <a:pt x="25105" y="0"/>
                  </a:cubicBezTo>
                  <a:close/>
                </a:path>
              </a:pathLst>
            </a:custGeom>
            <a:solidFill>
              <a:srgbClr val="3A5A9A"/>
            </a:solidFill>
          </p:spPr>
        </p:sp>
        <p:sp>
          <p:nvSpPr>
            <p:cNvPr name="TextBox 4" id="4"/>
            <p:cNvSpPr txBox="true"/>
            <p:nvPr/>
          </p:nvSpPr>
          <p:spPr>
            <a:xfrm>
              <a:off x="0" y="-57150"/>
              <a:ext cx="4142144" cy="1963865"/>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6695810" y="8972967"/>
            <a:ext cx="1126981" cy="112698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6963785" y="9723510"/>
            <a:ext cx="1126981" cy="112698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527275" y="9258300"/>
            <a:ext cx="1126981" cy="112698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7161019" y="-98560"/>
            <a:ext cx="1126981" cy="11269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8375" y="9160019"/>
            <a:ext cx="1126981" cy="112698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405116" y="9258300"/>
            <a:ext cx="1126981" cy="112698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38416" y="8409477"/>
            <a:ext cx="1126981" cy="112698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425075" y="-262806"/>
            <a:ext cx="1126981" cy="112698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E2C6"/>
            </a:solidFill>
            <a:ln w="38100" cap="sq">
              <a:solidFill>
                <a:srgbClr val="000000"/>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2200066" y="2768369"/>
            <a:ext cx="14427635" cy="2480485"/>
          </a:xfrm>
          <a:prstGeom prst="rect">
            <a:avLst/>
          </a:prstGeom>
        </p:spPr>
        <p:txBody>
          <a:bodyPr anchor="t" rtlCol="false" tIns="0" lIns="0" bIns="0" rIns="0">
            <a:spAutoFit/>
          </a:bodyPr>
          <a:lstStyle/>
          <a:p>
            <a:pPr algn="ctr">
              <a:lnSpc>
                <a:spcPts val="20255"/>
              </a:lnSpc>
              <a:spcBef>
                <a:spcPct val="0"/>
              </a:spcBef>
            </a:pPr>
            <a:r>
              <a:rPr lang="en-US" b="true" sz="14468">
                <a:solidFill>
                  <a:srgbClr val="FFFFFF"/>
                </a:solidFill>
                <a:latin typeface="Canva Sans Bold"/>
                <a:ea typeface="Canva Sans Bold"/>
                <a:cs typeface="Canva Sans Bold"/>
                <a:sym typeface="Canva Sans Bold"/>
              </a:rPr>
              <a:t>Thank You!</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DAHKTg9kBg4</dc:identifier>
  <dcterms:modified xsi:type="dcterms:W3CDTF">2011-08-01T06:04:30Z</dcterms:modified>
  <cp:revision>1</cp:revision>
  <dc:title>Loan Managment</dc:title>
</cp:coreProperties>
</file>